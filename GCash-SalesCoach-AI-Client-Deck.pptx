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Replace [AI SQUAD] and [DATE] before sending. One line: this is the solution review for Sales Coach AI — what was asked for, what we built, how it is architected, and where it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Scope.
Open with the problem in one sentence: reps visit merchants without prioritisation and managers cannot see coaching impact. Then walk the three columns: what we delivered, the engineering mandate we held ourselves to (agentic, explainable, secure, auditable), and what we deliberately left out of this phase. Confirm the phase-2 scope box with the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What we built.
Lead with the six numbers; they are counted from the repo, not estimated. Then the agent engine: nine agents, with a Master supervisor routing between them — this is the part that makes it agentic rather than a prompt wrapper. Right panel is what a user can actually type today. Bottom row: the AI, the data and the controls. If asked 'is this real or a demo?', the honest answer is that the full engine and API are real, running against a seeded synthetic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Architecture.
Read top to bottom: users and channels on the left, then the FastAPI application layer, the LangGraph agent orchestration layer (the heart of it), AI and ML services, and the data and knowledge layer. Right rail is cross-cutting — security, observability and deployment. The bottom strip is the runtime path: the application is containerised, the image is versioned in Amazon ECR, and it runs as an ECS Fargate service behind an Application Load Balancer that terminates HTTPS and serves the endpoint.
A full-detail version of this diagram ships alongside the deck as an editable PPTX and SVG for architecture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Deployment.
The path is settled: the application is containerised, the image is versioned in ECR by git SHA, and it runs as an ECS Fargate service across two Availability Zones behind an Application Load Balancer that terminates HTTPS and health-checks the tasks. That ALB DNS name — or a friendly domain in front of it — is the endpoint the client uses.
Two points worth making aloud. First, Fargate means no servers to patch, and one immutable image tagged by git SHA is promoted through the environments, so what was tested is exactly what runs. Second, the managed-services box is tiered on purpose and the tiers were verified against the repository: IN USE means the service is called on the live request path today (RDS, Bedrock, Cognito, CloudWatch, X-Ray); READY means the boto3 client is written and unit-testable but not yet called from a route or agent (S3, DynamoDB, SageMaker, SNS, KMS, Secrets Manager, EventBridge); PLANNED means it is configured but not yet implemented (ElastiCache, OpenSearch). The task role is scoped to the IN USE set today and widened as each phase-2 service is switched on. If the client asks 'is everything on this slide live?', the answer is the tiering — say it before they ask.
What is still open is deliberately small: the account and region, the domain and certificate, and sizing. Agree those on the call and the deployment can proceed.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Repository.
Amber boxes at the top are for the client to fill: repo URL, access route, branch model. Structure panel is factual, taken from the repo. Right panel proves the onboarding story — four commands and it runs with no AWS account, which is what makes review easy. Close on the handover checklist and agree owners for each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Squad contribution.
Every amber field is a placeholder — fill names, effort and dates before sending. The three lower panels are safe as written. Close on the four next steps and try to leave the call with owners and dates against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5C"/>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476D2"/>
          </a:solidFill>
          <a:ln/>
        </p:spPr>
      </p:sp>
      <p:sp>
        <p:nvSpPr>
          <p:cNvPr id="3" name="Text 1"/>
          <p:cNvSpPr txBox="1"/>
          <p:nvPr/>
        </p:nvSpPr>
        <p:spPr>
          <a:xfrm>
            <a:off x="1005840" y="2148840"/>
            <a:ext cx="10058400" cy="822960"/>
          </a:xfrm>
          <a:prstGeom prst="rect">
            <a:avLst/>
          </a:prstGeom>
          <a:noFill/>
          <a:ln/>
        </p:spPr>
        <p:txBody>
          <a:bodyPr wrap="square" lIns="0" tIns="0" rIns="0" bIns="0" rtlCol="0" anchor="ctr"/>
          <a:lstStyle/>
          <a:p>
            <a:pPr indent="0" marL="0">
              <a:buNone/>
            </a:pPr>
            <a:r>
              <a:rPr lang="en-US" sz="4200" b="1" dirty="0">
                <a:solidFill>
                  <a:srgbClr val="FFFFFF"/>
                </a:solidFill>
                <a:latin typeface="Segoe UI" pitchFamily="34" charset="0"/>
                <a:ea typeface="Segoe UI" pitchFamily="34" charset="-122"/>
                <a:cs typeface="Segoe UI" pitchFamily="34" charset="-120"/>
              </a:rPr>
              <a:t>GCash Sales Coach AI</a:t>
            </a:r>
            <a:endParaRPr lang="en-US" sz="4200" dirty="0"/>
          </a:p>
        </p:txBody>
      </p:sp>
      <p:sp>
        <p:nvSpPr>
          <p:cNvPr id="4" name="Text 2"/>
          <p:cNvSpPr txBox="1"/>
          <p:nvPr/>
        </p:nvSpPr>
        <p:spPr>
          <a:xfrm>
            <a:off x="1005840" y="2999232"/>
            <a:ext cx="10058400" cy="365760"/>
          </a:xfrm>
          <a:prstGeom prst="rect">
            <a:avLst/>
          </a:prstGeom>
          <a:noFill/>
          <a:ln/>
        </p:spPr>
        <p:txBody>
          <a:bodyPr wrap="square" lIns="0" tIns="0" rIns="0" bIns="0" rtlCol="0" anchor="ctr"/>
          <a:lstStyle/>
          <a:p>
            <a:pPr indent="0" marL="0">
              <a:buNone/>
            </a:pPr>
            <a:r>
              <a:rPr lang="en-US" sz="1500" dirty="0">
                <a:solidFill>
                  <a:srgbClr val="9FC0E4"/>
                </a:solidFill>
                <a:latin typeface="Segoe UI" pitchFamily="34" charset="0"/>
                <a:ea typeface="Segoe UI" pitchFamily="34" charset="-122"/>
                <a:cs typeface="Segoe UI" pitchFamily="34" charset="-120"/>
              </a:rPr>
              <a:t>AI-powered field-sales coaching for the GCash merchant ecosystem</a:t>
            </a:r>
            <a:endParaRPr lang="en-US" sz="1500" dirty="0"/>
          </a:p>
        </p:txBody>
      </p:sp>
      <p:sp>
        <p:nvSpPr>
          <p:cNvPr id="5" name="Shape 3"/>
          <p:cNvSpPr/>
          <p:nvPr/>
        </p:nvSpPr>
        <p:spPr>
          <a:xfrm>
            <a:off x="1024128" y="3584448"/>
            <a:ext cx="2011680" cy="32004"/>
          </a:xfrm>
          <a:prstGeom prst="rect">
            <a:avLst/>
          </a:prstGeom>
          <a:solidFill>
            <a:srgbClr val="1476D2"/>
          </a:solidFill>
          <a:ln/>
        </p:spPr>
      </p:sp>
      <p:sp>
        <p:nvSpPr>
          <p:cNvPr id="6" name="Text 4"/>
          <p:cNvSpPr txBox="1"/>
          <p:nvPr/>
        </p:nvSpPr>
        <p:spPr>
          <a:xfrm>
            <a:off x="1005840" y="3840480"/>
            <a:ext cx="10058400" cy="310896"/>
          </a:xfrm>
          <a:prstGeom prst="rect">
            <a:avLst/>
          </a:prstGeom>
          <a:noFill/>
          <a:ln/>
        </p:spPr>
        <p:txBody>
          <a:bodyPr wrap="square" lIns="0" tIns="0" rIns="0" bIns="0" rtlCol="0" anchor="ctr"/>
          <a:lstStyle/>
          <a:p>
            <a:pPr indent="0" marL="0">
              <a:buNone/>
            </a:pPr>
            <a:r>
              <a:rPr lang="en-US" sz="1200" dirty="0">
                <a:solidFill>
                  <a:srgbClr val="7FA3CC"/>
                </a:solidFill>
                <a:latin typeface="Segoe UI" pitchFamily="34" charset="0"/>
                <a:ea typeface="Segoe UI" pitchFamily="34" charset="-122"/>
                <a:cs typeface="Segoe UI" pitchFamily="34" charset="-120"/>
              </a:rPr>
              <a:t>Solution Review  ·  Scope, build, architecture and deployment</a:t>
            </a:r>
            <a:endParaRPr lang="en-US" sz="1200" dirty="0"/>
          </a:p>
        </p:txBody>
      </p:sp>
      <p:sp>
        <p:nvSpPr>
          <p:cNvPr id="7" name="Text 5"/>
          <p:cNvSpPr txBox="1"/>
          <p:nvPr/>
        </p:nvSpPr>
        <p:spPr>
          <a:xfrm>
            <a:off x="1005840" y="5852160"/>
            <a:ext cx="10058400" cy="274320"/>
          </a:xfrm>
          <a:prstGeom prst="rect">
            <a:avLst/>
          </a:prstGeom>
          <a:noFill/>
          <a:ln/>
        </p:spPr>
        <p:txBody>
          <a:bodyPr wrap="square" lIns="0" tIns="0" rIns="0" bIns="0" rtlCol="0" anchor="ctr"/>
          <a:lstStyle/>
          <a:p>
            <a:pPr indent="0" marL="0">
              <a:buNone/>
            </a:pPr>
            <a:r>
              <a:rPr lang="en-US" sz="1000" dirty="0">
                <a:solidFill>
                  <a:srgbClr val="6E90BC"/>
                </a:solidFill>
                <a:latin typeface="Segoe UI" pitchFamily="34" charset="0"/>
                <a:ea typeface="Segoe UI" pitchFamily="34" charset="-122"/>
                <a:cs typeface="Segoe UI" pitchFamily="34" charset="-120"/>
              </a:rPr>
              <a:t>Prepared by  [ AI SQUAD ]        |        [ DATE ]        |        Confidential — GCash (Mynt)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B2E5C"/>
          </a:solidFill>
          <a:ln/>
        </p:spPr>
      </p:sp>
      <p:sp>
        <p:nvSpPr>
          <p:cNvPr id="3" name="Text 1"/>
          <p:cNvSpPr txBox="1"/>
          <p:nvPr/>
        </p:nvSpPr>
        <p:spPr>
          <a:xfrm>
            <a:off x="411480" y="128016"/>
            <a:ext cx="640080" cy="530352"/>
          </a:xfrm>
          <a:prstGeom prst="rect">
            <a:avLst/>
          </a:prstGeom>
          <a:noFill/>
          <a:ln/>
        </p:spPr>
        <p:txBody>
          <a:bodyPr wrap="square" lIns="0" tIns="0" rIns="0" bIns="0" rtlCol="0" anchor="ctr"/>
          <a:lstStyle/>
          <a:p>
            <a:pPr algn="l" indent="0" marL="0">
              <a:buNone/>
            </a:pPr>
            <a:r>
              <a:rPr lang="en-US" sz="2600" b="1" dirty="0">
                <a:solidFill>
                  <a:srgbClr val="3D6FA8"/>
                </a:solidFill>
                <a:latin typeface="Segoe UI" pitchFamily="34" charset="0"/>
                <a:ea typeface="Segoe UI" pitchFamily="34" charset="-122"/>
                <a:cs typeface="Segoe UI" pitchFamily="34" charset="-120"/>
              </a:rPr>
              <a:t>01</a:t>
            </a:r>
            <a:endParaRPr lang="en-US" sz="2600" dirty="0"/>
          </a:p>
        </p:txBody>
      </p:sp>
      <p:sp>
        <p:nvSpPr>
          <p:cNvPr id="4" name="Text 2"/>
          <p:cNvSpPr txBox="1"/>
          <p:nvPr/>
        </p:nvSpPr>
        <p:spPr>
          <a:xfrm>
            <a:off x="1051560" y="109728"/>
            <a:ext cx="8412480" cy="329184"/>
          </a:xfrm>
          <a:prstGeom prst="rect">
            <a:avLst/>
          </a:prstGeom>
          <a:noFill/>
          <a:ln/>
        </p:spPr>
        <p:txBody>
          <a:bodyPr wrap="square" lIns="0" tIns="0" rIns="0" bIns="0" rtlCol="0" anchor="ctr"/>
          <a:lstStyle/>
          <a:p>
            <a:pPr indent="0" marL="0">
              <a:buNone/>
            </a:pPr>
            <a:r>
              <a:rPr lang="en-US" sz="2100" b="1" dirty="0">
                <a:solidFill>
                  <a:srgbClr val="FFFFFF"/>
                </a:solidFill>
                <a:latin typeface="Segoe UI" pitchFamily="34" charset="0"/>
                <a:ea typeface="Segoe UI" pitchFamily="34" charset="-122"/>
                <a:cs typeface="Segoe UI" pitchFamily="34" charset="-120"/>
              </a:rPr>
              <a:t>Scope of Assignment</a:t>
            </a:r>
            <a:endParaRPr lang="en-US" sz="2100" dirty="0"/>
          </a:p>
        </p:txBody>
      </p:sp>
      <p:sp>
        <p:nvSpPr>
          <p:cNvPr id="5" name="Text 3"/>
          <p:cNvSpPr txBox="1"/>
          <p:nvPr/>
        </p:nvSpPr>
        <p:spPr>
          <a:xfrm>
            <a:off x="1051560" y="429768"/>
            <a:ext cx="9601200" cy="256032"/>
          </a:xfrm>
          <a:prstGeom prst="rect">
            <a:avLst/>
          </a:prstGeom>
          <a:noFill/>
          <a:ln/>
        </p:spPr>
        <p:txBody>
          <a:bodyPr wrap="square" lIns="0" tIns="0" rIns="0" bIns="0" rtlCol="0" anchor="ctr"/>
          <a:lstStyle/>
          <a:p>
            <a:pPr indent="0" marL="0">
              <a:buNone/>
            </a:pPr>
            <a:r>
              <a:rPr lang="en-US" sz="1050" dirty="0">
                <a:solidFill>
                  <a:srgbClr val="A9C0DE"/>
                </a:solidFill>
                <a:latin typeface="Segoe UI" pitchFamily="34" charset="0"/>
                <a:ea typeface="Segoe UI" pitchFamily="34" charset="-122"/>
                <a:cs typeface="Segoe UI" pitchFamily="34" charset="-120"/>
              </a:rPr>
              <a:t>The problem we were asked to solve, and the boundaries we agreed</a:t>
            </a:r>
            <a:endParaRPr lang="en-US" sz="1050" dirty="0"/>
          </a:p>
        </p:txBody>
      </p:sp>
      <p:sp>
        <p:nvSpPr>
          <p:cNvPr id="6" name="Text 4"/>
          <p:cNvSpPr txBox="1"/>
          <p:nvPr/>
        </p:nvSpPr>
        <p:spPr>
          <a:xfrm>
            <a:off x="9357055" y="256032"/>
            <a:ext cx="2423160" cy="274320"/>
          </a:xfrm>
          <a:prstGeom prst="rect">
            <a:avLst/>
          </a:prstGeom>
          <a:noFill/>
          <a:ln/>
        </p:spPr>
        <p:txBody>
          <a:bodyPr wrap="square" lIns="0" tIns="0" rIns="0" bIns="0" rtlCol="0" anchor="ctr"/>
          <a:lstStyle/>
          <a:p>
            <a:pPr algn="r" indent="0" marL="0">
              <a:buNone/>
            </a:pPr>
            <a:r>
              <a:rPr lang="en-US" sz="1000" dirty="0">
                <a:solidFill>
                  <a:srgbClr val="7FA3CC"/>
                </a:solidFill>
                <a:latin typeface="Segoe UI" pitchFamily="34" charset="0"/>
                <a:ea typeface="Segoe UI" pitchFamily="34" charset="-122"/>
                <a:cs typeface="Segoe UI" pitchFamily="34" charset="-120"/>
              </a:rPr>
              <a:t>GCash Sales Coach AI</a:t>
            </a:r>
            <a:endParaRPr lang="en-US" sz="1000" dirty="0"/>
          </a:p>
        </p:txBody>
      </p:sp>
      <p:sp>
        <p:nvSpPr>
          <p:cNvPr id="7" name="Text 5"/>
          <p:cNvSpPr txBox="1"/>
          <p:nvPr/>
        </p:nvSpPr>
        <p:spPr>
          <a:xfrm>
            <a:off x="11140135" y="6473952"/>
            <a:ext cx="640080" cy="237744"/>
          </a:xfrm>
          <a:prstGeom prst="rect">
            <a:avLst/>
          </a:prstGeom>
          <a:noFill/>
          <a:ln/>
        </p:spPr>
        <p:txBody>
          <a:bodyPr wrap="square" lIns="0" tIns="0" rIns="0" bIns="0" rtlCol="0" anchor="ctr"/>
          <a:lstStyle/>
          <a:p>
            <a:pPr algn="r" indent="0" marL="0">
              <a:buNone/>
            </a:pPr>
            <a:r>
              <a:rPr lang="en-US" sz="900" dirty="0">
                <a:solidFill>
                  <a:srgbClr val="8A94A6"/>
                </a:solidFill>
                <a:latin typeface="Segoe UI" pitchFamily="34" charset="0"/>
                <a:ea typeface="Segoe UI" pitchFamily="34" charset="-122"/>
                <a:cs typeface="Segoe UI" pitchFamily="34" charset="-120"/>
              </a:rPr>
              <a:t>1 / 6</a:t>
            </a:r>
            <a:endParaRPr lang="en-US" sz="900" dirty="0"/>
          </a:p>
        </p:txBody>
      </p:sp>
      <p:sp>
        <p:nvSpPr>
          <p:cNvPr id="8" name="Shape 6"/>
          <p:cNvSpPr/>
          <p:nvPr/>
        </p:nvSpPr>
        <p:spPr>
          <a:xfrm>
            <a:off x="411480" y="1024128"/>
            <a:ext cx="11384280" cy="841248"/>
          </a:xfrm>
          <a:prstGeom prst="roundRect">
            <a:avLst>
              <a:gd name="adj" fmla="val 4348"/>
            </a:avLst>
          </a:prstGeom>
          <a:solidFill>
            <a:srgbClr val="EDF3FB"/>
          </a:solidFill>
          <a:ln w="12700">
            <a:solidFill>
              <a:srgbClr val="C3D6EE"/>
            </a:solidFill>
            <a:prstDash val="solid"/>
          </a:ln>
        </p:spPr>
      </p:sp>
      <p:sp>
        <p:nvSpPr>
          <p:cNvPr id="9" name="Text 7"/>
          <p:cNvSpPr txBox="1"/>
          <p:nvPr/>
        </p:nvSpPr>
        <p:spPr>
          <a:xfrm>
            <a:off x="640080" y="1133856"/>
            <a:ext cx="2743200" cy="219456"/>
          </a:xfrm>
          <a:prstGeom prst="rect">
            <a:avLst/>
          </a:prstGeom>
          <a:noFill/>
          <a:ln/>
        </p:spPr>
        <p:txBody>
          <a:bodyPr wrap="square" lIns="0" tIns="0" rIns="0" bIns="0" rtlCol="0" anchor="ctr"/>
          <a:lstStyle/>
          <a:p>
            <a:pPr algn="l" indent="0" marL="0">
              <a:buNone/>
            </a:pPr>
            <a:r>
              <a:rPr lang="en-US" sz="1000" b="1" dirty="0">
                <a:solidFill>
                  <a:srgbClr val="0A5CB8"/>
                </a:solidFill>
                <a:latin typeface="Segoe UI" pitchFamily="34" charset="0"/>
                <a:ea typeface="Segoe UI" pitchFamily="34" charset="-122"/>
                <a:cs typeface="Segoe UI" pitchFamily="34" charset="-120"/>
              </a:rPr>
              <a:t>The problem</a:t>
            </a:r>
            <a:endParaRPr lang="en-US" sz="1000" dirty="0"/>
          </a:p>
        </p:txBody>
      </p:sp>
      <p:sp>
        <p:nvSpPr>
          <p:cNvPr id="10" name="Text 8"/>
          <p:cNvSpPr txBox="1"/>
          <p:nvPr/>
        </p:nvSpPr>
        <p:spPr>
          <a:xfrm>
            <a:off x="640080" y="1353312"/>
            <a:ext cx="10927080" cy="457200"/>
          </a:xfrm>
          <a:prstGeom prst="rect">
            <a:avLst/>
          </a:prstGeom>
          <a:noFill/>
          <a:ln/>
        </p:spPr>
        <p:txBody>
          <a:bodyPr wrap="square" lIns="0" tIns="0" rIns="0" bIns="0" rtlCol="0" anchor="t"/>
          <a:lstStyle/>
          <a:p>
            <a:pPr algn="l" indent="0" marL="0">
              <a:lnSpc>
                <a:spcPct val="115000"/>
              </a:lnSpc>
              <a:buNone/>
            </a:pPr>
            <a:r>
              <a:rPr lang="en-US" sz="1000" dirty="0">
                <a:solidFill>
                  <a:srgbClr val="354052"/>
                </a:solidFill>
                <a:latin typeface="Segoe UI" pitchFamily="34" charset="0"/>
                <a:ea typeface="Segoe UI" pitchFamily="34" charset="-122"/>
                <a:cs typeface="Segoe UI" pitchFamily="34" charset="-120"/>
              </a:rPr>
              <a:t>Distributor Sales Personnel visit merchants without data-driven prioritisation, managers cannot see whether coaching changes behaviour, and merchant signals sit unused across transactions, visits and product holdings. Sales Coach AI turns those signals into a ranked visit list, a recommended next action, and an explainable brief — delivered where the rep already works.</a:t>
            </a:r>
            <a:endParaRPr lang="en-US" sz="1000" dirty="0"/>
          </a:p>
        </p:txBody>
      </p:sp>
      <p:sp>
        <p:nvSpPr>
          <p:cNvPr id="11" name="Shape 9"/>
          <p:cNvSpPr/>
          <p:nvPr/>
        </p:nvSpPr>
        <p:spPr>
          <a:xfrm>
            <a:off x="411480" y="2103120"/>
            <a:ext cx="3703320" cy="3127248"/>
          </a:xfrm>
          <a:prstGeom prst="roundRect">
            <a:avLst>
              <a:gd name="adj" fmla="val 1170"/>
            </a:avLst>
          </a:prstGeom>
          <a:solidFill>
            <a:srgbClr val="FFFFFF"/>
          </a:solidFill>
          <a:ln w="12700">
            <a:solidFill>
              <a:srgbClr val="CBD4E1"/>
            </a:solidFill>
            <a:prstDash val="solid"/>
          </a:ln>
        </p:spPr>
      </p:sp>
      <p:sp>
        <p:nvSpPr>
          <p:cNvPr id="12" name="Shape 10"/>
          <p:cNvSpPr/>
          <p:nvPr/>
        </p:nvSpPr>
        <p:spPr>
          <a:xfrm>
            <a:off x="411480" y="2103120"/>
            <a:ext cx="3703320" cy="310896"/>
          </a:xfrm>
          <a:prstGeom prst="rect">
            <a:avLst/>
          </a:prstGeom>
          <a:solidFill>
            <a:srgbClr val="0A5CB8"/>
          </a:solidFill>
          <a:ln/>
        </p:spPr>
      </p:sp>
      <p:sp>
        <p:nvSpPr>
          <p:cNvPr id="13" name="Text 11"/>
          <p:cNvSpPr txBox="1"/>
          <p:nvPr/>
        </p:nvSpPr>
        <p:spPr>
          <a:xfrm>
            <a:off x="594360" y="2148840"/>
            <a:ext cx="3383280" cy="219456"/>
          </a:xfrm>
          <a:prstGeom prst="rect">
            <a:avLst/>
          </a:prstGeom>
          <a:noFill/>
          <a:ln/>
        </p:spPr>
        <p:txBody>
          <a:bodyPr wrap="square" lIns="0" tIns="0" rIns="0" bIns="0" rtlCol="0" anchor="ctr"/>
          <a:lstStyle/>
          <a:p>
            <a:pPr algn="l" indent="0" marL="0">
              <a:buNone/>
            </a:pPr>
            <a:r>
              <a:rPr lang="en-US" sz="950" b="1" dirty="0">
                <a:solidFill>
                  <a:srgbClr val="FFFFFF"/>
                </a:solidFill>
                <a:latin typeface="Segoe UI" pitchFamily="34" charset="0"/>
                <a:ea typeface="Segoe UI" pitchFamily="34" charset="-122"/>
                <a:cs typeface="Segoe UI" pitchFamily="34" charset="-120"/>
              </a:rPr>
              <a:t>IN SCOPE — DELIVERED</a:t>
            </a:r>
            <a:endParaRPr lang="en-US" sz="950" dirty="0"/>
          </a:p>
        </p:txBody>
      </p:sp>
      <p:sp>
        <p:nvSpPr>
          <p:cNvPr id="14" name="Text 12"/>
          <p:cNvSpPr txBox="1"/>
          <p:nvPr/>
        </p:nvSpPr>
        <p:spPr>
          <a:xfrm>
            <a:off x="621792" y="2560320"/>
            <a:ext cx="3310128" cy="2560320"/>
          </a:xfrm>
          <a:prstGeom prst="rect">
            <a:avLst/>
          </a:prstGeom>
          <a:noFill/>
          <a:ln/>
        </p:spPr>
        <p:txBody>
          <a:bodyPr wrap="square" lIns="0" tIns="0" rIns="0" bIns="0" rtlCol="0" anchor="t"/>
          <a:lstStyle/>
          <a:p>
            <a:pPr marL="342900" indent="-342900">
              <a:spcAft>
                <a:spcPts val="700"/>
              </a:spcAft>
              <a:buSzPct val="100000"/>
              <a:buChar char="•"/>
            </a:pPr>
            <a:r>
              <a:rPr lang="en-US" sz="900" dirty="0">
                <a:solidFill>
                  <a:srgbClr val="354052"/>
                </a:solidFill>
                <a:latin typeface="Segoe UI" pitchFamily="34" charset="0"/>
                <a:ea typeface="Segoe UI" pitchFamily="34" charset="-122"/>
                <a:cs typeface="Segoe UI" pitchFamily="34" charset="-120"/>
              </a:rPr>
              <a:t>Prioritised daily merchant visit list per DSP</a:t>
            </a:r>
            <a:endParaRPr lang="en-US" sz="900" dirty="0"/>
          </a:p>
          <a:p>
            <a:pPr marL="342900" indent="-342900">
              <a:spcAft>
                <a:spcPts val="700"/>
              </a:spcAft>
              <a:buSzPct val="100000"/>
              <a:buChar char="•"/>
            </a:pPr>
            <a:r>
              <a:rPr lang="en-US" sz="900" dirty="0">
                <a:solidFill>
                  <a:srgbClr val="354052"/>
                </a:solidFill>
                <a:latin typeface="Segoe UI" pitchFamily="34" charset="0"/>
                <a:ea typeface="Segoe UI" pitchFamily="34" charset="-122"/>
                <a:cs typeface="Segoe UI" pitchFamily="34" charset="-120"/>
              </a:rPr>
              <a:t>Next-best-action recommendations with reasoning</a:t>
            </a:r>
            <a:endParaRPr lang="en-US" sz="900" dirty="0"/>
          </a:p>
          <a:p>
            <a:pPr marL="342900" indent="-342900">
              <a:spcAft>
                <a:spcPts val="700"/>
              </a:spcAft>
              <a:buSzPct val="100000"/>
              <a:buChar char="•"/>
            </a:pPr>
            <a:r>
              <a:rPr lang="en-US" sz="900" dirty="0">
                <a:solidFill>
                  <a:srgbClr val="354052"/>
                </a:solidFill>
                <a:latin typeface="Segoe UI" pitchFamily="34" charset="0"/>
                <a:ea typeface="Segoe UI" pitchFamily="34" charset="-122"/>
                <a:cs typeface="Segoe UI" pitchFamily="34" charset="-120"/>
              </a:rPr>
              <a:t>On-demand pre-visit sales briefs</a:t>
            </a:r>
            <a:endParaRPr lang="en-US" sz="900" dirty="0"/>
          </a:p>
          <a:p>
            <a:pPr marL="342900" indent="-342900">
              <a:spcAft>
                <a:spcPts val="700"/>
              </a:spcAft>
              <a:buSzPct val="100000"/>
              <a:buChar char="•"/>
            </a:pPr>
            <a:r>
              <a:rPr lang="en-US" sz="900" dirty="0">
                <a:solidFill>
                  <a:srgbClr val="354052"/>
                </a:solidFill>
                <a:latin typeface="Segoe UI" pitchFamily="34" charset="0"/>
                <a:ea typeface="Segoe UI" pitchFamily="34" charset="-122"/>
                <a:cs typeface="Segoe UI" pitchFamily="34" charset="-120"/>
              </a:rPr>
              <a:t>Natural-language Ask interface over merchant data</a:t>
            </a:r>
            <a:endParaRPr lang="en-US" sz="900" dirty="0"/>
          </a:p>
          <a:p>
            <a:pPr marL="342900" indent="-342900">
              <a:spcAft>
                <a:spcPts val="700"/>
              </a:spcAft>
              <a:buSzPct val="100000"/>
              <a:buChar char="•"/>
            </a:pPr>
            <a:r>
              <a:rPr lang="en-US" sz="900" dirty="0">
                <a:solidFill>
                  <a:srgbClr val="354052"/>
                </a:solidFill>
                <a:latin typeface="Segoe UI" pitchFamily="34" charset="0"/>
                <a:ea typeface="Segoe UI" pitchFamily="34" charset="-122"/>
                <a:cs typeface="Segoe UI" pitchFamily="34" charset="-120"/>
              </a:rPr>
              <a:t>Coaching nudges for field reps</a:t>
            </a:r>
            <a:endParaRPr lang="en-US" sz="900" dirty="0"/>
          </a:p>
          <a:p>
            <a:pPr marL="342900" indent="-342900">
              <a:spcAft>
                <a:spcPts val="700"/>
              </a:spcAft>
              <a:buSzPct val="100000"/>
              <a:buChar char="•"/>
            </a:pPr>
            <a:r>
              <a:rPr lang="en-US" sz="900" dirty="0">
                <a:solidFill>
                  <a:srgbClr val="354052"/>
                </a:solidFill>
                <a:latin typeface="Segoe UI" pitchFamily="34" charset="0"/>
                <a:ea typeface="Segoe UI" pitchFamily="34" charset="-122"/>
                <a:cs typeface="Segoe UI" pitchFamily="34" charset="-120"/>
              </a:rPr>
              <a:t>Manager dashboards — team, portfolio and churn view</a:t>
            </a:r>
            <a:endParaRPr lang="en-US" sz="900" dirty="0"/>
          </a:p>
          <a:p>
            <a:pPr marL="342900" indent="-342900">
              <a:spcAft>
                <a:spcPts val="700"/>
              </a:spcAft>
              <a:buSzPct val="100000"/>
              <a:buChar char="•"/>
            </a:pPr>
            <a:r>
              <a:rPr lang="en-US" sz="900" dirty="0">
                <a:solidFill>
                  <a:srgbClr val="354052"/>
                </a:solidFill>
                <a:latin typeface="Segoe UI" pitchFamily="34" charset="0"/>
                <a:ea typeface="Segoe UI" pitchFamily="34" charset="-122"/>
                <a:cs typeface="Segoe UI" pitchFamily="34" charset="-120"/>
              </a:rPr>
              <a:t>Admin controls — thresholds, guardrails, RBAC, territories</a:t>
            </a:r>
            <a:endParaRPr lang="en-US" sz="900" dirty="0"/>
          </a:p>
        </p:txBody>
      </p:sp>
      <p:sp>
        <p:nvSpPr>
          <p:cNvPr id="15" name="Shape 13"/>
          <p:cNvSpPr/>
          <p:nvPr/>
        </p:nvSpPr>
        <p:spPr>
          <a:xfrm>
            <a:off x="4251960" y="2103120"/>
            <a:ext cx="3703320" cy="3127248"/>
          </a:xfrm>
          <a:prstGeom prst="roundRect">
            <a:avLst>
              <a:gd name="adj" fmla="val 1170"/>
            </a:avLst>
          </a:prstGeom>
          <a:solidFill>
            <a:srgbClr val="FFFFFF"/>
          </a:solidFill>
          <a:ln w="12700">
            <a:solidFill>
              <a:srgbClr val="CBD4E1"/>
            </a:solidFill>
            <a:prstDash val="solid"/>
          </a:ln>
        </p:spPr>
      </p:sp>
      <p:sp>
        <p:nvSpPr>
          <p:cNvPr id="16" name="Shape 14"/>
          <p:cNvSpPr/>
          <p:nvPr/>
        </p:nvSpPr>
        <p:spPr>
          <a:xfrm>
            <a:off x="4251960" y="2103120"/>
            <a:ext cx="3703320" cy="310896"/>
          </a:xfrm>
          <a:prstGeom prst="rect">
            <a:avLst/>
          </a:prstGeom>
          <a:solidFill>
            <a:srgbClr val="5B3FBF"/>
          </a:solidFill>
          <a:ln/>
        </p:spPr>
      </p:sp>
      <p:sp>
        <p:nvSpPr>
          <p:cNvPr id="17" name="Text 15"/>
          <p:cNvSpPr txBox="1"/>
          <p:nvPr/>
        </p:nvSpPr>
        <p:spPr>
          <a:xfrm>
            <a:off x="4434840" y="2148840"/>
            <a:ext cx="3383280" cy="219456"/>
          </a:xfrm>
          <a:prstGeom prst="rect">
            <a:avLst/>
          </a:prstGeom>
          <a:noFill/>
          <a:ln/>
        </p:spPr>
        <p:txBody>
          <a:bodyPr wrap="square" lIns="0" tIns="0" rIns="0" bIns="0" rtlCol="0" anchor="ctr"/>
          <a:lstStyle/>
          <a:p>
            <a:pPr algn="l" indent="0" marL="0">
              <a:buNone/>
            </a:pPr>
            <a:r>
              <a:rPr lang="en-US" sz="950" b="1" dirty="0">
                <a:solidFill>
                  <a:srgbClr val="FFFFFF"/>
                </a:solidFill>
                <a:latin typeface="Segoe UI" pitchFamily="34" charset="0"/>
                <a:ea typeface="Segoe UI" pitchFamily="34" charset="-122"/>
                <a:cs typeface="Segoe UI" pitchFamily="34" charset="-120"/>
              </a:rPr>
              <a:t>ENGINEERING MANDATE</a:t>
            </a:r>
            <a:endParaRPr lang="en-US" sz="950" dirty="0"/>
          </a:p>
        </p:txBody>
      </p:sp>
      <p:sp>
        <p:nvSpPr>
          <p:cNvPr id="18" name="Text 16"/>
          <p:cNvSpPr txBox="1"/>
          <p:nvPr/>
        </p:nvSpPr>
        <p:spPr>
          <a:xfrm>
            <a:off x="4462272" y="2560320"/>
            <a:ext cx="3310128" cy="2560320"/>
          </a:xfrm>
          <a:prstGeom prst="rect">
            <a:avLst/>
          </a:prstGeom>
          <a:noFill/>
          <a:ln/>
        </p:spPr>
        <p:txBody>
          <a:bodyPr wrap="square" lIns="0" tIns="0" rIns="0" bIns="0" rtlCol="0" anchor="t"/>
          <a:lstStyle/>
          <a:p>
            <a:pPr marL="342900" indent="-342900">
              <a:spcAft>
                <a:spcPts val="700"/>
              </a:spcAft>
              <a:buSzPct val="100000"/>
              <a:buChar char="•"/>
            </a:pPr>
            <a:r>
              <a:rPr lang="en-US" sz="900" dirty="0">
                <a:solidFill>
                  <a:srgbClr val="354052"/>
                </a:solidFill>
                <a:latin typeface="Segoe UI" pitchFamily="34" charset="0"/>
                <a:ea typeface="Segoe UI" pitchFamily="34" charset="-122"/>
                <a:cs typeface="Segoe UI" pitchFamily="34" charset="-120"/>
              </a:rPr>
              <a:t>Agentic architecture — not a single prompt call</a:t>
            </a:r>
            <a:endParaRPr lang="en-US" sz="900" dirty="0"/>
          </a:p>
          <a:p>
            <a:pPr marL="342900" indent="-342900">
              <a:spcAft>
                <a:spcPts val="700"/>
              </a:spcAft>
              <a:buSzPct val="100000"/>
              <a:buChar char="•"/>
            </a:pPr>
            <a:r>
              <a:rPr lang="en-US" sz="900" dirty="0">
                <a:solidFill>
                  <a:srgbClr val="354052"/>
                </a:solidFill>
                <a:latin typeface="Segoe UI" pitchFamily="34" charset="0"/>
                <a:ea typeface="Segoe UI" pitchFamily="34" charset="-122"/>
                <a:cs typeface="Segoe UI" pitchFamily="34" charset="-120"/>
              </a:rPr>
              <a:t>Every recommendation must be explainable</a:t>
            </a:r>
            <a:endParaRPr lang="en-US" sz="900" dirty="0"/>
          </a:p>
          <a:p>
            <a:pPr marL="342900" indent="-342900">
              <a:spcAft>
                <a:spcPts val="700"/>
              </a:spcAft>
              <a:buSzPct val="100000"/>
              <a:buChar char="•"/>
            </a:pPr>
            <a:r>
              <a:rPr lang="en-US" sz="900" dirty="0">
                <a:solidFill>
                  <a:srgbClr val="354052"/>
                </a:solidFill>
                <a:latin typeface="Segoe UI" pitchFamily="34" charset="0"/>
                <a:ea typeface="Segoe UI" pitchFamily="34" charset="-122"/>
                <a:cs typeface="Segoe UI" pitchFamily="34" charset="-120"/>
              </a:rPr>
              <a:t>AWS-native services, enterprise security posture</a:t>
            </a:r>
            <a:endParaRPr lang="en-US" sz="900" dirty="0"/>
          </a:p>
          <a:p>
            <a:pPr marL="342900" indent="-342900">
              <a:spcAft>
                <a:spcPts val="700"/>
              </a:spcAft>
              <a:buSzPct val="100000"/>
              <a:buChar char="•"/>
            </a:pPr>
            <a:r>
              <a:rPr lang="en-US" sz="900" dirty="0">
                <a:solidFill>
                  <a:srgbClr val="354052"/>
                </a:solidFill>
                <a:latin typeface="Segoe UI" pitchFamily="34" charset="0"/>
                <a:ea typeface="Segoe UI" pitchFamily="34" charset="-122"/>
                <a:cs typeface="Segoe UI" pitchFamily="34" charset="-120"/>
              </a:rPr>
              <a:t>Multi-tenant isolation by area and DSP</a:t>
            </a:r>
            <a:endParaRPr lang="en-US" sz="900" dirty="0"/>
          </a:p>
          <a:p>
            <a:pPr marL="342900" indent="-342900">
              <a:spcAft>
                <a:spcPts val="700"/>
              </a:spcAft>
              <a:buSzPct val="100000"/>
              <a:buChar char="•"/>
            </a:pPr>
            <a:r>
              <a:rPr lang="en-US" sz="900" dirty="0">
                <a:solidFill>
                  <a:srgbClr val="354052"/>
                </a:solidFill>
                <a:latin typeface="Segoe UI" pitchFamily="34" charset="0"/>
                <a:ea typeface="Segoe UI" pitchFamily="34" charset="-122"/>
                <a:cs typeface="Segoe UI" pitchFamily="34" charset="-120"/>
              </a:rPr>
              <a:t>Full audit trail on every request and answer</a:t>
            </a:r>
            <a:endParaRPr lang="en-US" sz="900" dirty="0"/>
          </a:p>
          <a:p>
            <a:pPr marL="342900" indent="-342900">
              <a:spcAft>
                <a:spcPts val="700"/>
              </a:spcAft>
              <a:buSzPct val="100000"/>
              <a:buChar char="•"/>
            </a:pPr>
            <a:r>
              <a:rPr lang="en-US" sz="900" dirty="0">
                <a:solidFill>
                  <a:srgbClr val="354052"/>
                </a:solidFill>
                <a:latin typeface="Segoe UI" pitchFamily="34" charset="0"/>
                <a:ea typeface="Segoe UI" pitchFamily="34" charset="-122"/>
                <a:cs typeface="Segoe UI" pitchFamily="34" charset="-120"/>
              </a:rPr>
              <a:t>Containerised and deployed on AWS ECS Fargate</a:t>
            </a:r>
            <a:endParaRPr lang="en-US" sz="900" dirty="0"/>
          </a:p>
          <a:p>
            <a:pPr marL="342900" indent="-342900">
              <a:spcAft>
                <a:spcPts val="700"/>
              </a:spcAft>
              <a:buSzPct val="100000"/>
              <a:buChar char="•"/>
            </a:pPr>
            <a:r>
              <a:rPr lang="en-US" sz="900" dirty="0">
                <a:solidFill>
                  <a:srgbClr val="354052"/>
                </a:solidFill>
                <a:latin typeface="Segoe UI" pitchFamily="34" charset="0"/>
                <a:ea typeface="Segoe UI" pitchFamily="34" charset="-122"/>
                <a:cs typeface="Segoe UI" pitchFamily="34" charset="-120"/>
              </a:rPr>
              <a:t>Container-ready with a CI build pipeline</a:t>
            </a:r>
            <a:endParaRPr lang="en-US" sz="900" dirty="0"/>
          </a:p>
        </p:txBody>
      </p:sp>
      <p:sp>
        <p:nvSpPr>
          <p:cNvPr id="19" name="Shape 17"/>
          <p:cNvSpPr/>
          <p:nvPr/>
        </p:nvSpPr>
        <p:spPr>
          <a:xfrm>
            <a:off x="8092440" y="2103120"/>
            <a:ext cx="3703320" cy="3127248"/>
          </a:xfrm>
          <a:prstGeom prst="roundRect">
            <a:avLst>
              <a:gd name="adj" fmla="val 1170"/>
            </a:avLst>
          </a:prstGeom>
          <a:solidFill>
            <a:srgbClr val="FFFFFF"/>
          </a:solidFill>
          <a:ln w="12700">
            <a:solidFill>
              <a:srgbClr val="CBD4E1"/>
            </a:solidFill>
            <a:prstDash val="solid"/>
          </a:ln>
        </p:spPr>
      </p:sp>
      <p:sp>
        <p:nvSpPr>
          <p:cNvPr id="20" name="Shape 18"/>
          <p:cNvSpPr/>
          <p:nvPr/>
        </p:nvSpPr>
        <p:spPr>
          <a:xfrm>
            <a:off x="8092440" y="2103120"/>
            <a:ext cx="3703320" cy="310896"/>
          </a:xfrm>
          <a:prstGeom prst="rect">
            <a:avLst/>
          </a:prstGeom>
          <a:solidFill>
            <a:srgbClr val="5B6577"/>
          </a:solidFill>
          <a:ln/>
        </p:spPr>
      </p:sp>
      <p:sp>
        <p:nvSpPr>
          <p:cNvPr id="21" name="Text 19"/>
          <p:cNvSpPr txBox="1"/>
          <p:nvPr/>
        </p:nvSpPr>
        <p:spPr>
          <a:xfrm>
            <a:off x="8275320" y="2148840"/>
            <a:ext cx="3383280" cy="219456"/>
          </a:xfrm>
          <a:prstGeom prst="rect">
            <a:avLst/>
          </a:prstGeom>
          <a:noFill/>
          <a:ln/>
        </p:spPr>
        <p:txBody>
          <a:bodyPr wrap="square" lIns="0" tIns="0" rIns="0" bIns="0" rtlCol="0" anchor="ctr"/>
          <a:lstStyle/>
          <a:p>
            <a:pPr algn="l" indent="0" marL="0">
              <a:buNone/>
            </a:pPr>
            <a:r>
              <a:rPr lang="en-US" sz="950" b="1" dirty="0">
                <a:solidFill>
                  <a:srgbClr val="FFFFFF"/>
                </a:solidFill>
                <a:latin typeface="Segoe UI" pitchFamily="34" charset="0"/>
                <a:ea typeface="Segoe UI" pitchFamily="34" charset="-122"/>
                <a:cs typeface="Segoe UI" pitchFamily="34" charset="-120"/>
              </a:rPr>
              <a:t>OUT OF SCOPE — THIS PHASE</a:t>
            </a:r>
            <a:endParaRPr lang="en-US" sz="950" dirty="0"/>
          </a:p>
        </p:txBody>
      </p:sp>
      <p:sp>
        <p:nvSpPr>
          <p:cNvPr id="22" name="Text 20"/>
          <p:cNvSpPr txBox="1"/>
          <p:nvPr/>
        </p:nvSpPr>
        <p:spPr>
          <a:xfrm>
            <a:off x="8302752" y="2560320"/>
            <a:ext cx="3310128" cy="1600200"/>
          </a:xfrm>
          <a:prstGeom prst="rect">
            <a:avLst/>
          </a:prstGeom>
          <a:noFill/>
          <a:ln/>
        </p:spPr>
        <p:txBody>
          <a:bodyPr wrap="square" lIns="0" tIns="0" rIns="0" bIns="0" rtlCol="0" anchor="t"/>
          <a:lstStyle/>
          <a:p>
            <a:pPr marL="342900" indent="-342900">
              <a:spcAft>
                <a:spcPts val="700"/>
              </a:spcAft>
              <a:buSzPct val="100000"/>
              <a:buChar char="•"/>
            </a:pPr>
            <a:r>
              <a:rPr lang="en-US" sz="900" dirty="0">
                <a:solidFill>
                  <a:srgbClr val="354052"/>
                </a:solidFill>
                <a:latin typeface="Segoe UI" pitchFamily="34" charset="0"/>
                <a:ea typeface="Segoe UI" pitchFamily="34" charset="-122"/>
                <a:cs typeface="Segoe UI" pitchFamily="34" charset="-120"/>
              </a:rPr>
              <a:t>Production merchant data migration</a:t>
            </a:r>
            <a:endParaRPr lang="en-US" sz="900" dirty="0"/>
          </a:p>
          <a:p>
            <a:pPr marL="342900" indent="-342900">
              <a:spcAft>
                <a:spcPts val="700"/>
              </a:spcAft>
              <a:buSzPct val="100000"/>
              <a:buChar char="•"/>
            </a:pPr>
            <a:r>
              <a:rPr lang="en-US" sz="900" dirty="0">
                <a:solidFill>
                  <a:srgbClr val="354052"/>
                </a:solidFill>
                <a:latin typeface="Segoe UI" pitchFamily="34" charset="0"/>
                <a:ea typeface="Segoe UI" pitchFamily="34" charset="-122"/>
                <a:cs typeface="Segoe UI" pitchFamily="34" charset="-120"/>
              </a:rPr>
              <a:t>Native mobile application</a:t>
            </a:r>
            <a:endParaRPr lang="en-US" sz="900" dirty="0"/>
          </a:p>
          <a:p>
            <a:pPr marL="342900" indent="-342900">
              <a:spcAft>
                <a:spcPts val="700"/>
              </a:spcAft>
              <a:buSzPct val="100000"/>
              <a:buChar char="•"/>
            </a:pPr>
            <a:r>
              <a:rPr lang="en-US" sz="900" dirty="0">
                <a:solidFill>
                  <a:srgbClr val="354052"/>
                </a:solidFill>
                <a:latin typeface="Segoe UI" pitchFamily="34" charset="0"/>
                <a:ea typeface="Segoe UI" pitchFamily="34" charset="-122"/>
                <a:cs typeface="Segoe UI" pitchFamily="34" charset="-120"/>
              </a:rPr>
              <a:t>Write-back into source CRM / ERP</a:t>
            </a:r>
            <a:endParaRPr lang="en-US" sz="900" dirty="0"/>
          </a:p>
          <a:p>
            <a:pPr marL="342900" indent="-342900">
              <a:spcAft>
                <a:spcPts val="700"/>
              </a:spcAft>
              <a:buSzPct val="100000"/>
              <a:buChar char="•"/>
            </a:pPr>
            <a:r>
              <a:rPr lang="en-US" sz="900" dirty="0">
                <a:solidFill>
                  <a:srgbClr val="354052"/>
                </a:solidFill>
                <a:latin typeface="Segoe UI" pitchFamily="34" charset="0"/>
                <a:ea typeface="Segoe UI" pitchFamily="34" charset="-122"/>
                <a:cs typeface="Segoe UI" pitchFamily="34" charset="-120"/>
              </a:rPr>
              <a:t>Live model retraining pipeline</a:t>
            </a:r>
            <a:endParaRPr lang="en-US" sz="900" dirty="0"/>
          </a:p>
          <a:p>
            <a:pPr marL="342900" indent="-342900">
              <a:spcAft>
                <a:spcPts val="700"/>
              </a:spcAft>
              <a:buSzPct val="100000"/>
              <a:buChar char="•"/>
            </a:pPr>
            <a:r>
              <a:rPr lang="en-US" sz="900" dirty="0">
                <a:solidFill>
                  <a:srgbClr val="354052"/>
                </a:solidFill>
                <a:latin typeface="Segoe UI" pitchFamily="34" charset="0"/>
                <a:ea typeface="Segoe UI" pitchFamily="34" charset="-122"/>
                <a:cs typeface="Segoe UI" pitchFamily="34" charset="-120"/>
              </a:rPr>
              <a:t>Production support and SLA operations</a:t>
            </a:r>
            <a:endParaRPr lang="en-US" sz="900" dirty="0"/>
          </a:p>
        </p:txBody>
      </p:sp>
      <p:sp>
        <p:nvSpPr>
          <p:cNvPr id="23" name="Shape 21"/>
          <p:cNvSpPr/>
          <p:nvPr/>
        </p:nvSpPr>
        <p:spPr>
          <a:xfrm>
            <a:off x="8302752" y="4315968"/>
            <a:ext cx="3310128" cy="310896"/>
          </a:xfrm>
          <a:prstGeom prst="roundRect">
            <a:avLst>
              <a:gd name="adj" fmla="val 8824"/>
            </a:avLst>
          </a:prstGeom>
          <a:solidFill>
            <a:srgbClr val="FFF4E0"/>
          </a:solidFill>
          <a:ln w="12700">
            <a:solidFill>
              <a:srgbClr val="B4690E"/>
            </a:solidFill>
            <a:prstDash val="dash"/>
          </a:ln>
        </p:spPr>
      </p:sp>
      <p:sp>
        <p:nvSpPr>
          <p:cNvPr id="24" name="Text 22"/>
          <p:cNvSpPr txBox="1"/>
          <p:nvPr/>
        </p:nvSpPr>
        <p:spPr>
          <a:xfrm>
            <a:off x="8412480" y="4315968"/>
            <a:ext cx="3090672" cy="310896"/>
          </a:xfrm>
          <a:prstGeom prst="rect">
            <a:avLst/>
          </a:prstGeom>
          <a:noFill/>
          <a:ln/>
        </p:spPr>
        <p:txBody>
          <a:bodyPr wrap="square" lIns="0" tIns="0" rIns="0" bIns="0" rtlCol="0" anchor="ctr"/>
          <a:lstStyle/>
          <a:p>
            <a:pPr indent="0" marL="0">
              <a:buNone/>
            </a:pPr>
            <a:r>
              <a:rPr lang="en-US" sz="900" b="1" dirty="0">
                <a:solidFill>
                  <a:srgbClr val="B4690E"/>
                </a:solidFill>
                <a:latin typeface="Segoe UI" pitchFamily="34" charset="0"/>
                <a:ea typeface="Segoe UI" pitchFamily="34" charset="-122"/>
                <a:cs typeface="Segoe UI" pitchFamily="34" charset="-120"/>
              </a:rPr>
              <a:t>  [ CONFIRM PHASE-2 SCOPE ]</a:t>
            </a:r>
            <a:endParaRPr lang="en-US" sz="900" dirty="0"/>
          </a:p>
        </p:txBody>
      </p:sp>
      <p:sp>
        <p:nvSpPr>
          <p:cNvPr id="25" name="Text 23"/>
          <p:cNvSpPr txBox="1"/>
          <p:nvPr/>
        </p:nvSpPr>
        <p:spPr>
          <a:xfrm>
            <a:off x="8302752" y="4718304"/>
            <a:ext cx="3310128" cy="384048"/>
          </a:xfrm>
          <a:prstGeom prst="rect">
            <a:avLst/>
          </a:prstGeom>
          <a:noFill/>
          <a:ln/>
        </p:spPr>
        <p:txBody>
          <a:bodyPr wrap="square" lIns="0" tIns="0" rIns="0" bIns="0" rtlCol="0" anchor="t"/>
          <a:lstStyle/>
          <a:p>
            <a:pPr algn="l" indent="0" marL="0">
              <a:lnSpc>
                <a:spcPct val="115000"/>
              </a:lnSpc>
              <a:buNone/>
            </a:pPr>
            <a:r>
              <a:rPr lang="en-US" sz="860" dirty="0">
                <a:solidFill>
                  <a:srgbClr val="5B6577"/>
                </a:solidFill>
                <a:latin typeface="Segoe UI" pitchFamily="34" charset="0"/>
                <a:ea typeface="Segoe UI" pitchFamily="34" charset="-122"/>
                <a:cs typeface="Segoe UI" pitchFamily="34" charset="-120"/>
              </a:rPr>
              <a:t>Personas served: DSP · Sales Manager · Admin / Operations</a:t>
            </a:r>
            <a:endParaRPr lang="en-US" sz="8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B2E5C"/>
          </a:solidFill>
          <a:ln/>
        </p:spPr>
      </p:sp>
      <p:sp>
        <p:nvSpPr>
          <p:cNvPr id="3" name="Text 1"/>
          <p:cNvSpPr txBox="1"/>
          <p:nvPr/>
        </p:nvSpPr>
        <p:spPr>
          <a:xfrm>
            <a:off x="411480" y="128016"/>
            <a:ext cx="640080" cy="530352"/>
          </a:xfrm>
          <a:prstGeom prst="rect">
            <a:avLst/>
          </a:prstGeom>
          <a:noFill/>
          <a:ln/>
        </p:spPr>
        <p:txBody>
          <a:bodyPr wrap="square" lIns="0" tIns="0" rIns="0" bIns="0" rtlCol="0" anchor="ctr"/>
          <a:lstStyle/>
          <a:p>
            <a:pPr algn="l" indent="0" marL="0">
              <a:buNone/>
            </a:pPr>
            <a:r>
              <a:rPr lang="en-US" sz="2600" b="1" dirty="0">
                <a:solidFill>
                  <a:srgbClr val="3D6FA8"/>
                </a:solidFill>
                <a:latin typeface="Segoe UI" pitchFamily="34" charset="0"/>
                <a:ea typeface="Segoe UI" pitchFamily="34" charset="-122"/>
                <a:cs typeface="Segoe UI" pitchFamily="34" charset="-120"/>
              </a:rPr>
              <a:t>02</a:t>
            </a:r>
            <a:endParaRPr lang="en-US" sz="2600" dirty="0"/>
          </a:p>
        </p:txBody>
      </p:sp>
      <p:sp>
        <p:nvSpPr>
          <p:cNvPr id="4" name="Text 2"/>
          <p:cNvSpPr txBox="1"/>
          <p:nvPr/>
        </p:nvSpPr>
        <p:spPr>
          <a:xfrm>
            <a:off x="1051560" y="109728"/>
            <a:ext cx="8412480" cy="329184"/>
          </a:xfrm>
          <a:prstGeom prst="rect">
            <a:avLst/>
          </a:prstGeom>
          <a:noFill/>
          <a:ln/>
        </p:spPr>
        <p:txBody>
          <a:bodyPr wrap="square" lIns="0" tIns="0" rIns="0" bIns="0" rtlCol="0" anchor="ctr"/>
          <a:lstStyle/>
          <a:p>
            <a:pPr indent="0" marL="0">
              <a:buNone/>
            </a:pPr>
            <a:r>
              <a:rPr lang="en-US" sz="2100" b="1" dirty="0">
                <a:solidFill>
                  <a:srgbClr val="FFFFFF"/>
                </a:solidFill>
                <a:latin typeface="Segoe UI" pitchFamily="34" charset="0"/>
                <a:ea typeface="Segoe UI" pitchFamily="34" charset="-122"/>
                <a:cs typeface="Segoe UI" pitchFamily="34" charset="-120"/>
              </a:rPr>
              <a:t>What We Have Built</a:t>
            </a:r>
            <a:endParaRPr lang="en-US" sz="2100" dirty="0"/>
          </a:p>
        </p:txBody>
      </p:sp>
      <p:sp>
        <p:nvSpPr>
          <p:cNvPr id="5" name="Text 3"/>
          <p:cNvSpPr txBox="1"/>
          <p:nvPr/>
        </p:nvSpPr>
        <p:spPr>
          <a:xfrm>
            <a:off x="1051560" y="429768"/>
            <a:ext cx="9601200" cy="256032"/>
          </a:xfrm>
          <a:prstGeom prst="rect">
            <a:avLst/>
          </a:prstGeom>
          <a:noFill/>
          <a:ln/>
        </p:spPr>
        <p:txBody>
          <a:bodyPr wrap="square" lIns="0" tIns="0" rIns="0" bIns="0" rtlCol="0" anchor="ctr"/>
          <a:lstStyle/>
          <a:p>
            <a:pPr indent="0" marL="0">
              <a:buNone/>
            </a:pPr>
            <a:r>
              <a:rPr lang="en-US" sz="1050" dirty="0">
                <a:solidFill>
                  <a:srgbClr val="A9C0DE"/>
                </a:solidFill>
                <a:latin typeface="Segoe UI" pitchFamily="34" charset="0"/>
                <a:ea typeface="Segoe UI" pitchFamily="34" charset="-122"/>
                <a:cs typeface="Segoe UI" pitchFamily="34" charset="-120"/>
              </a:rPr>
              <a:t>A working, end-to-end agentic platform — counted from the repository</a:t>
            </a:r>
            <a:endParaRPr lang="en-US" sz="1050" dirty="0"/>
          </a:p>
        </p:txBody>
      </p:sp>
      <p:sp>
        <p:nvSpPr>
          <p:cNvPr id="6" name="Text 4"/>
          <p:cNvSpPr txBox="1"/>
          <p:nvPr/>
        </p:nvSpPr>
        <p:spPr>
          <a:xfrm>
            <a:off x="9357055" y="256032"/>
            <a:ext cx="2423160" cy="274320"/>
          </a:xfrm>
          <a:prstGeom prst="rect">
            <a:avLst/>
          </a:prstGeom>
          <a:noFill/>
          <a:ln/>
        </p:spPr>
        <p:txBody>
          <a:bodyPr wrap="square" lIns="0" tIns="0" rIns="0" bIns="0" rtlCol="0" anchor="ctr"/>
          <a:lstStyle/>
          <a:p>
            <a:pPr algn="r" indent="0" marL="0">
              <a:buNone/>
            </a:pPr>
            <a:r>
              <a:rPr lang="en-US" sz="1000" dirty="0">
                <a:solidFill>
                  <a:srgbClr val="7FA3CC"/>
                </a:solidFill>
                <a:latin typeface="Segoe UI" pitchFamily="34" charset="0"/>
                <a:ea typeface="Segoe UI" pitchFamily="34" charset="-122"/>
                <a:cs typeface="Segoe UI" pitchFamily="34" charset="-120"/>
              </a:rPr>
              <a:t>GCash Sales Coach AI</a:t>
            </a:r>
            <a:endParaRPr lang="en-US" sz="1000" dirty="0"/>
          </a:p>
        </p:txBody>
      </p:sp>
      <p:sp>
        <p:nvSpPr>
          <p:cNvPr id="7" name="Text 5"/>
          <p:cNvSpPr txBox="1"/>
          <p:nvPr/>
        </p:nvSpPr>
        <p:spPr>
          <a:xfrm>
            <a:off x="11140135" y="6473952"/>
            <a:ext cx="640080" cy="237744"/>
          </a:xfrm>
          <a:prstGeom prst="rect">
            <a:avLst/>
          </a:prstGeom>
          <a:noFill/>
          <a:ln/>
        </p:spPr>
        <p:txBody>
          <a:bodyPr wrap="square" lIns="0" tIns="0" rIns="0" bIns="0" rtlCol="0" anchor="ctr"/>
          <a:lstStyle/>
          <a:p>
            <a:pPr algn="r" indent="0" marL="0">
              <a:buNone/>
            </a:pPr>
            <a:r>
              <a:rPr lang="en-US" sz="900" dirty="0">
                <a:solidFill>
                  <a:srgbClr val="8A94A6"/>
                </a:solidFill>
                <a:latin typeface="Segoe UI" pitchFamily="34" charset="0"/>
                <a:ea typeface="Segoe UI" pitchFamily="34" charset="-122"/>
                <a:cs typeface="Segoe UI" pitchFamily="34" charset="-120"/>
              </a:rPr>
              <a:t>2 / 6</a:t>
            </a:r>
            <a:endParaRPr lang="en-US" sz="900" dirty="0"/>
          </a:p>
        </p:txBody>
      </p:sp>
      <p:sp>
        <p:nvSpPr>
          <p:cNvPr id="8" name="Shape 6"/>
          <p:cNvSpPr/>
          <p:nvPr/>
        </p:nvSpPr>
        <p:spPr>
          <a:xfrm>
            <a:off x="411480" y="1005840"/>
            <a:ext cx="1783080" cy="914400"/>
          </a:xfrm>
          <a:prstGeom prst="roundRect">
            <a:avLst>
              <a:gd name="adj" fmla="val 4000"/>
            </a:avLst>
          </a:prstGeom>
          <a:solidFill>
            <a:srgbClr val="F4F7FB"/>
          </a:solidFill>
          <a:ln w="12700">
            <a:solidFill>
              <a:srgbClr val="CBD4E1"/>
            </a:solidFill>
            <a:prstDash val="solid"/>
          </a:ln>
        </p:spPr>
      </p:sp>
      <p:sp>
        <p:nvSpPr>
          <p:cNvPr id="9" name="Text 7"/>
          <p:cNvSpPr txBox="1"/>
          <p:nvPr/>
        </p:nvSpPr>
        <p:spPr>
          <a:xfrm>
            <a:off x="411480" y="1097280"/>
            <a:ext cx="1783080" cy="457200"/>
          </a:xfrm>
          <a:prstGeom prst="rect">
            <a:avLst/>
          </a:prstGeom>
          <a:noFill/>
          <a:ln/>
        </p:spPr>
        <p:txBody>
          <a:bodyPr wrap="square" lIns="0" tIns="0" rIns="0" bIns="0" rtlCol="0" anchor="ctr"/>
          <a:lstStyle/>
          <a:p>
            <a:pPr algn="ctr" indent="0" marL="0">
              <a:buNone/>
            </a:pPr>
            <a:r>
              <a:rPr lang="en-US" sz="3000" b="1" dirty="0">
                <a:solidFill>
                  <a:srgbClr val="0A5CB8"/>
                </a:solidFill>
                <a:latin typeface="Segoe UI" pitchFamily="34" charset="0"/>
                <a:ea typeface="Segoe UI" pitchFamily="34" charset="-122"/>
                <a:cs typeface="Segoe UI" pitchFamily="34" charset="-120"/>
              </a:rPr>
              <a:t>9</a:t>
            </a:r>
            <a:endParaRPr lang="en-US" sz="3000" dirty="0"/>
          </a:p>
        </p:txBody>
      </p:sp>
      <p:sp>
        <p:nvSpPr>
          <p:cNvPr id="10" name="Text 8"/>
          <p:cNvSpPr txBox="1"/>
          <p:nvPr/>
        </p:nvSpPr>
        <p:spPr>
          <a:xfrm>
            <a:off x="411480" y="1536192"/>
            <a:ext cx="1783080" cy="402336"/>
          </a:xfrm>
          <a:prstGeom prst="rect">
            <a:avLst/>
          </a:prstGeom>
          <a:noFill/>
          <a:ln/>
        </p:spPr>
        <p:txBody>
          <a:bodyPr wrap="square" lIns="0" tIns="0" rIns="0" bIns="0" rtlCol="0" anchor="t"/>
          <a:lstStyle/>
          <a:p>
            <a:pPr algn="ctr" indent="0" marL="0">
              <a:buNone/>
            </a:pPr>
            <a:r>
              <a:rPr lang="en-US" sz="860" dirty="0">
                <a:solidFill>
                  <a:srgbClr val="5B6577"/>
                </a:solidFill>
                <a:latin typeface="Segoe UI" pitchFamily="34" charset="0"/>
                <a:ea typeface="Segoe UI" pitchFamily="34" charset="-122"/>
                <a:cs typeface="Segoe UI" pitchFamily="34" charset="-120"/>
              </a:rPr>
              <a:t>LangGraph</a:t>
            </a:r>
            <a:endParaRPr lang="en-US" sz="860" dirty="0"/>
          </a:p>
          <a:p>
            <a:pPr algn="ctr" indent="0" marL="0">
              <a:buNone/>
            </a:pPr>
            <a:r>
              <a:rPr lang="en-US" sz="860" dirty="0">
                <a:solidFill>
                  <a:srgbClr val="5B6577"/>
                </a:solidFill>
                <a:latin typeface="Segoe UI" pitchFamily="34" charset="0"/>
                <a:ea typeface="Segoe UI" pitchFamily="34" charset="-122"/>
                <a:cs typeface="Segoe UI" pitchFamily="34" charset="-120"/>
              </a:rPr>
              <a:t>agents</a:t>
            </a:r>
            <a:endParaRPr lang="en-US" sz="860" dirty="0"/>
          </a:p>
        </p:txBody>
      </p:sp>
      <p:sp>
        <p:nvSpPr>
          <p:cNvPr id="11" name="Shape 9"/>
          <p:cNvSpPr/>
          <p:nvPr/>
        </p:nvSpPr>
        <p:spPr>
          <a:xfrm>
            <a:off x="2340864" y="1005840"/>
            <a:ext cx="1783080" cy="914400"/>
          </a:xfrm>
          <a:prstGeom prst="roundRect">
            <a:avLst>
              <a:gd name="adj" fmla="val 4000"/>
            </a:avLst>
          </a:prstGeom>
          <a:solidFill>
            <a:srgbClr val="F4F7FB"/>
          </a:solidFill>
          <a:ln w="12700">
            <a:solidFill>
              <a:srgbClr val="CBD4E1"/>
            </a:solidFill>
            <a:prstDash val="solid"/>
          </a:ln>
        </p:spPr>
      </p:sp>
      <p:sp>
        <p:nvSpPr>
          <p:cNvPr id="12" name="Text 10"/>
          <p:cNvSpPr txBox="1"/>
          <p:nvPr/>
        </p:nvSpPr>
        <p:spPr>
          <a:xfrm>
            <a:off x="2340864" y="1097280"/>
            <a:ext cx="1783080" cy="457200"/>
          </a:xfrm>
          <a:prstGeom prst="rect">
            <a:avLst/>
          </a:prstGeom>
          <a:noFill/>
          <a:ln/>
        </p:spPr>
        <p:txBody>
          <a:bodyPr wrap="square" lIns="0" tIns="0" rIns="0" bIns="0" rtlCol="0" anchor="ctr"/>
          <a:lstStyle/>
          <a:p>
            <a:pPr algn="ctr" indent="0" marL="0">
              <a:buNone/>
            </a:pPr>
            <a:r>
              <a:rPr lang="en-US" sz="3000" b="1" dirty="0">
                <a:solidFill>
                  <a:srgbClr val="0A5CB8"/>
                </a:solidFill>
                <a:latin typeface="Segoe UI" pitchFamily="34" charset="0"/>
                <a:ea typeface="Segoe UI" pitchFamily="34" charset="-122"/>
                <a:cs typeface="Segoe UI" pitchFamily="34" charset="-120"/>
              </a:rPr>
              <a:t>8</a:t>
            </a:r>
            <a:endParaRPr lang="en-US" sz="3000" dirty="0"/>
          </a:p>
        </p:txBody>
      </p:sp>
      <p:sp>
        <p:nvSpPr>
          <p:cNvPr id="13" name="Text 11"/>
          <p:cNvSpPr txBox="1"/>
          <p:nvPr/>
        </p:nvSpPr>
        <p:spPr>
          <a:xfrm>
            <a:off x="2340864" y="1536192"/>
            <a:ext cx="1783080" cy="402336"/>
          </a:xfrm>
          <a:prstGeom prst="rect">
            <a:avLst/>
          </a:prstGeom>
          <a:noFill/>
          <a:ln/>
        </p:spPr>
        <p:txBody>
          <a:bodyPr wrap="square" lIns="0" tIns="0" rIns="0" bIns="0" rtlCol="0" anchor="t"/>
          <a:lstStyle/>
          <a:p>
            <a:pPr algn="ctr" indent="0" marL="0">
              <a:buNone/>
            </a:pPr>
            <a:r>
              <a:rPr lang="en-US" sz="860" dirty="0">
                <a:solidFill>
                  <a:srgbClr val="5B6577"/>
                </a:solidFill>
                <a:latin typeface="Segoe UI" pitchFamily="34" charset="0"/>
                <a:ea typeface="Segoe UI" pitchFamily="34" charset="-122"/>
                <a:cs typeface="Segoe UI" pitchFamily="34" charset="-120"/>
              </a:rPr>
              <a:t>API route</a:t>
            </a:r>
            <a:endParaRPr lang="en-US" sz="860" dirty="0"/>
          </a:p>
          <a:p>
            <a:pPr algn="ctr" indent="0" marL="0">
              <a:buNone/>
            </a:pPr>
            <a:r>
              <a:rPr lang="en-US" sz="860" dirty="0">
                <a:solidFill>
                  <a:srgbClr val="5B6577"/>
                </a:solidFill>
                <a:latin typeface="Segoe UI" pitchFamily="34" charset="0"/>
                <a:ea typeface="Segoe UI" pitchFamily="34" charset="-122"/>
                <a:cs typeface="Segoe UI" pitchFamily="34" charset="-120"/>
              </a:rPr>
              <a:t>modules</a:t>
            </a:r>
            <a:endParaRPr lang="en-US" sz="860" dirty="0"/>
          </a:p>
        </p:txBody>
      </p:sp>
      <p:sp>
        <p:nvSpPr>
          <p:cNvPr id="14" name="Shape 12"/>
          <p:cNvSpPr/>
          <p:nvPr/>
        </p:nvSpPr>
        <p:spPr>
          <a:xfrm>
            <a:off x="4270248" y="1005840"/>
            <a:ext cx="1783080" cy="914400"/>
          </a:xfrm>
          <a:prstGeom prst="roundRect">
            <a:avLst>
              <a:gd name="adj" fmla="val 4000"/>
            </a:avLst>
          </a:prstGeom>
          <a:solidFill>
            <a:srgbClr val="F4F7FB"/>
          </a:solidFill>
          <a:ln w="12700">
            <a:solidFill>
              <a:srgbClr val="CBD4E1"/>
            </a:solidFill>
            <a:prstDash val="solid"/>
          </a:ln>
        </p:spPr>
      </p:sp>
      <p:sp>
        <p:nvSpPr>
          <p:cNvPr id="15" name="Text 13"/>
          <p:cNvSpPr txBox="1"/>
          <p:nvPr/>
        </p:nvSpPr>
        <p:spPr>
          <a:xfrm>
            <a:off x="4270248" y="1097280"/>
            <a:ext cx="1783080" cy="457200"/>
          </a:xfrm>
          <a:prstGeom prst="rect">
            <a:avLst/>
          </a:prstGeom>
          <a:noFill/>
          <a:ln/>
        </p:spPr>
        <p:txBody>
          <a:bodyPr wrap="square" lIns="0" tIns="0" rIns="0" bIns="0" rtlCol="0" anchor="ctr"/>
          <a:lstStyle/>
          <a:p>
            <a:pPr algn="ctr" indent="0" marL="0">
              <a:buNone/>
            </a:pPr>
            <a:r>
              <a:rPr lang="en-US" sz="3000" b="1" dirty="0">
                <a:solidFill>
                  <a:srgbClr val="0A5CB8"/>
                </a:solidFill>
                <a:latin typeface="Segoe UI" pitchFamily="34" charset="0"/>
                <a:ea typeface="Segoe UI" pitchFamily="34" charset="-122"/>
                <a:cs typeface="Segoe UI" pitchFamily="34" charset="-120"/>
              </a:rPr>
              <a:t>13</a:t>
            </a:r>
            <a:endParaRPr lang="en-US" sz="3000" dirty="0"/>
          </a:p>
        </p:txBody>
      </p:sp>
      <p:sp>
        <p:nvSpPr>
          <p:cNvPr id="16" name="Text 14"/>
          <p:cNvSpPr txBox="1"/>
          <p:nvPr/>
        </p:nvSpPr>
        <p:spPr>
          <a:xfrm>
            <a:off x="4270248" y="1536192"/>
            <a:ext cx="1783080" cy="402336"/>
          </a:xfrm>
          <a:prstGeom prst="rect">
            <a:avLst/>
          </a:prstGeom>
          <a:noFill/>
          <a:ln/>
        </p:spPr>
        <p:txBody>
          <a:bodyPr wrap="square" lIns="0" tIns="0" rIns="0" bIns="0" rtlCol="0" anchor="t"/>
          <a:lstStyle/>
          <a:p>
            <a:pPr algn="ctr" indent="0" marL="0">
              <a:buNone/>
            </a:pPr>
            <a:r>
              <a:rPr lang="en-US" sz="860" dirty="0">
                <a:solidFill>
                  <a:srgbClr val="5B6577"/>
                </a:solidFill>
                <a:latin typeface="Segoe UI" pitchFamily="34" charset="0"/>
                <a:ea typeface="Segoe UI" pitchFamily="34" charset="-122"/>
                <a:cs typeface="Segoe UI" pitchFamily="34" charset="-120"/>
              </a:rPr>
              <a:t>domain tables</a:t>
            </a:r>
            <a:endParaRPr lang="en-US" sz="860" dirty="0"/>
          </a:p>
          <a:p>
            <a:pPr algn="ctr" indent="0" marL="0">
              <a:buNone/>
            </a:pPr>
            <a:r>
              <a:rPr lang="en-US" sz="860" dirty="0">
                <a:solidFill>
                  <a:srgbClr val="5B6577"/>
                </a:solidFill>
                <a:latin typeface="Segoe UI" pitchFamily="34" charset="0"/>
                <a:ea typeface="Segoe UI" pitchFamily="34" charset="-122"/>
                <a:cs typeface="Segoe UI" pitchFamily="34" charset="-120"/>
              </a:rPr>
              <a:t>(PostgreSQL)</a:t>
            </a:r>
            <a:endParaRPr lang="en-US" sz="860" dirty="0"/>
          </a:p>
        </p:txBody>
      </p:sp>
      <p:sp>
        <p:nvSpPr>
          <p:cNvPr id="17" name="Shape 15"/>
          <p:cNvSpPr/>
          <p:nvPr/>
        </p:nvSpPr>
        <p:spPr>
          <a:xfrm>
            <a:off x="6199632" y="1005840"/>
            <a:ext cx="1783080" cy="914400"/>
          </a:xfrm>
          <a:prstGeom prst="roundRect">
            <a:avLst>
              <a:gd name="adj" fmla="val 4000"/>
            </a:avLst>
          </a:prstGeom>
          <a:solidFill>
            <a:srgbClr val="F4F7FB"/>
          </a:solidFill>
          <a:ln w="12700">
            <a:solidFill>
              <a:srgbClr val="CBD4E1"/>
            </a:solidFill>
            <a:prstDash val="solid"/>
          </a:ln>
        </p:spPr>
      </p:sp>
      <p:sp>
        <p:nvSpPr>
          <p:cNvPr id="18" name="Text 16"/>
          <p:cNvSpPr txBox="1"/>
          <p:nvPr/>
        </p:nvSpPr>
        <p:spPr>
          <a:xfrm>
            <a:off x="6199632" y="1097280"/>
            <a:ext cx="1783080" cy="457200"/>
          </a:xfrm>
          <a:prstGeom prst="rect">
            <a:avLst/>
          </a:prstGeom>
          <a:noFill/>
          <a:ln/>
        </p:spPr>
        <p:txBody>
          <a:bodyPr wrap="square" lIns="0" tIns="0" rIns="0" bIns="0" rtlCol="0" anchor="ctr"/>
          <a:lstStyle/>
          <a:p>
            <a:pPr algn="ctr" indent="0" marL="0">
              <a:buNone/>
            </a:pPr>
            <a:r>
              <a:rPr lang="en-US" sz="3000" b="1" dirty="0">
                <a:solidFill>
                  <a:srgbClr val="0A5CB8"/>
                </a:solidFill>
                <a:latin typeface="Segoe UI" pitchFamily="34" charset="0"/>
                <a:ea typeface="Segoe UI" pitchFamily="34" charset="-122"/>
                <a:cs typeface="Segoe UI" pitchFamily="34" charset="-120"/>
              </a:rPr>
              <a:t>11</a:t>
            </a:r>
            <a:endParaRPr lang="en-US" sz="3000" dirty="0"/>
          </a:p>
        </p:txBody>
      </p:sp>
      <p:sp>
        <p:nvSpPr>
          <p:cNvPr id="19" name="Text 17"/>
          <p:cNvSpPr txBox="1"/>
          <p:nvPr/>
        </p:nvSpPr>
        <p:spPr>
          <a:xfrm>
            <a:off x="6199632" y="1536192"/>
            <a:ext cx="1783080" cy="402336"/>
          </a:xfrm>
          <a:prstGeom prst="rect">
            <a:avLst/>
          </a:prstGeom>
          <a:noFill/>
          <a:ln/>
        </p:spPr>
        <p:txBody>
          <a:bodyPr wrap="square" lIns="0" tIns="0" rIns="0" bIns="0" rtlCol="0" anchor="t"/>
          <a:lstStyle/>
          <a:p>
            <a:pPr algn="ctr" indent="0" marL="0">
              <a:buNone/>
            </a:pPr>
            <a:r>
              <a:rPr lang="en-US" sz="860" dirty="0">
                <a:solidFill>
                  <a:srgbClr val="5B6577"/>
                </a:solidFill>
                <a:latin typeface="Segoe UI" pitchFamily="34" charset="0"/>
                <a:ea typeface="Segoe UI" pitchFamily="34" charset="-122"/>
                <a:cs typeface="Segoe UI" pitchFamily="34" charset="-120"/>
              </a:rPr>
              <a:t>AWS service</a:t>
            </a:r>
            <a:endParaRPr lang="en-US" sz="860" dirty="0"/>
          </a:p>
          <a:p>
            <a:pPr algn="ctr" indent="0" marL="0">
              <a:buNone/>
            </a:pPr>
            <a:r>
              <a:rPr lang="en-US" sz="860" dirty="0">
                <a:solidFill>
                  <a:srgbClr val="5B6577"/>
                </a:solidFill>
                <a:latin typeface="Segoe UI" pitchFamily="34" charset="0"/>
                <a:ea typeface="Segoe UI" pitchFamily="34" charset="-122"/>
                <a:cs typeface="Segoe UI" pitchFamily="34" charset="-120"/>
              </a:rPr>
              <a:t>clients</a:t>
            </a:r>
            <a:endParaRPr lang="en-US" sz="860" dirty="0"/>
          </a:p>
        </p:txBody>
      </p:sp>
      <p:sp>
        <p:nvSpPr>
          <p:cNvPr id="20" name="Shape 18"/>
          <p:cNvSpPr/>
          <p:nvPr/>
        </p:nvSpPr>
        <p:spPr>
          <a:xfrm>
            <a:off x="8129016" y="1005840"/>
            <a:ext cx="1783080" cy="914400"/>
          </a:xfrm>
          <a:prstGeom prst="roundRect">
            <a:avLst>
              <a:gd name="adj" fmla="val 4000"/>
            </a:avLst>
          </a:prstGeom>
          <a:solidFill>
            <a:srgbClr val="F4F7FB"/>
          </a:solidFill>
          <a:ln w="12700">
            <a:solidFill>
              <a:srgbClr val="CBD4E1"/>
            </a:solidFill>
            <a:prstDash val="solid"/>
          </a:ln>
        </p:spPr>
      </p:sp>
      <p:sp>
        <p:nvSpPr>
          <p:cNvPr id="21" name="Text 19"/>
          <p:cNvSpPr txBox="1"/>
          <p:nvPr/>
        </p:nvSpPr>
        <p:spPr>
          <a:xfrm>
            <a:off x="8129016" y="1097280"/>
            <a:ext cx="1783080" cy="457200"/>
          </a:xfrm>
          <a:prstGeom prst="rect">
            <a:avLst/>
          </a:prstGeom>
          <a:noFill/>
          <a:ln/>
        </p:spPr>
        <p:txBody>
          <a:bodyPr wrap="square" lIns="0" tIns="0" rIns="0" bIns="0" rtlCol="0" anchor="ctr"/>
          <a:lstStyle/>
          <a:p>
            <a:pPr algn="ctr" indent="0" marL="0">
              <a:buNone/>
            </a:pPr>
            <a:r>
              <a:rPr lang="en-US" sz="3000" b="1" dirty="0">
                <a:solidFill>
                  <a:srgbClr val="0A5CB8"/>
                </a:solidFill>
                <a:latin typeface="Segoe UI" pitchFamily="34" charset="0"/>
                <a:ea typeface="Segoe UI" pitchFamily="34" charset="-122"/>
                <a:cs typeface="Segoe UI" pitchFamily="34" charset="-120"/>
              </a:rPr>
              <a:t>8</a:t>
            </a:r>
            <a:endParaRPr lang="en-US" sz="3000" dirty="0"/>
          </a:p>
        </p:txBody>
      </p:sp>
      <p:sp>
        <p:nvSpPr>
          <p:cNvPr id="22" name="Text 20"/>
          <p:cNvSpPr txBox="1"/>
          <p:nvPr/>
        </p:nvSpPr>
        <p:spPr>
          <a:xfrm>
            <a:off x="8129016" y="1536192"/>
            <a:ext cx="1783080" cy="402336"/>
          </a:xfrm>
          <a:prstGeom prst="rect">
            <a:avLst/>
          </a:prstGeom>
          <a:noFill/>
          <a:ln/>
        </p:spPr>
        <p:txBody>
          <a:bodyPr wrap="square" lIns="0" tIns="0" rIns="0" bIns="0" rtlCol="0" anchor="t"/>
          <a:lstStyle/>
          <a:p>
            <a:pPr algn="ctr" indent="0" marL="0">
              <a:buNone/>
            </a:pPr>
            <a:r>
              <a:rPr lang="en-US" sz="860" dirty="0">
                <a:solidFill>
                  <a:srgbClr val="5B6577"/>
                </a:solidFill>
                <a:latin typeface="Segoe UI" pitchFamily="34" charset="0"/>
                <a:ea typeface="Segoe UI" pitchFamily="34" charset="-122"/>
                <a:cs typeface="Segoe UI" pitchFamily="34" charset="-120"/>
              </a:rPr>
              <a:t>web UI</a:t>
            </a:r>
            <a:endParaRPr lang="en-US" sz="860" dirty="0"/>
          </a:p>
          <a:p>
            <a:pPr algn="ctr" indent="0" marL="0">
              <a:buNone/>
            </a:pPr>
            <a:r>
              <a:rPr lang="en-US" sz="860" dirty="0">
                <a:solidFill>
                  <a:srgbClr val="5B6577"/>
                </a:solidFill>
                <a:latin typeface="Segoe UI" pitchFamily="34" charset="0"/>
                <a:ea typeface="Segoe UI" pitchFamily="34" charset="-122"/>
                <a:cs typeface="Segoe UI" pitchFamily="34" charset="-120"/>
              </a:rPr>
              <a:t>screens</a:t>
            </a:r>
            <a:endParaRPr lang="en-US" sz="860" dirty="0"/>
          </a:p>
        </p:txBody>
      </p:sp>
      <p:sp>
        <p:nvSpPr>
          <p:cNvPr id="23" name="Shape 21"/>
          <p:cNvSpPr/>
          <p:nvPr/>
        </p:nvSpPr>
        <p:spPr>
          <a:xfrm>
            <a:off x="10058400" y="1005840"/>
            <a:ext cx="1783080" cy="914400"/>
          </a:xfrm>
          <a:prstGeom prst="roundRect">
            <a:avLst>
              <a:gd name="adj" fmla="val 4000"/>
            </a:avLst>
          </a:prstGeom>
          <a:solidFill>
            <a:srgbClr val="F4F7FB"/>
          </a:solidFill>
          <a:ln w="12700">
            <a:solidFill>
              <a:srgbClr val="CBD4E1"/>
            </a:solidFill>
            <a:prstDash val="solid"/>
          </a:ln>
        </p:spPr>
      </p:sp>
      <p:sp>
        <p:nvSpPr>
          <p:cNvPr id="24" name="Text 22"/>
          <p:cNvSpPr txBox="1"/>
          <p:nvPr/>
        </p:nvSpPr>
        <p:spPr>
          <a:xfrm>
            <a:off x="10058400" y="1097280"/>
            <a:ext cx="1783080" cy="457200"/>
          </a:xfrm>
          <a:prstGeom prst="rect">
            <a:avLst/>
          </a:prstGeom>
          <a:noFill/>
          <a:ln/>
        </p:spPr>
        <p:txBody>
          <a:bodyPr wrap="square" lIns="0" tIns="0" rIns="0" bIns="0" rtlCol="0" anchor="ctr"/>
          <a:lstStyle/>
          <a:p>
            <a:pPr algn="ctr" indent="0" marL="0">
              <a:buNone/>
            </a:pPr>
            <a:r>
              <a:rPr lang="en-US" sz="3000" b="1" dirty="0">
                <a:solidFill>
                  <a:srgbClr val="0A5CB8"/>
                </a:solidFill>
                <a:latin typeface="Segoe UI" pitchFamily="34" charset="0"/>
                <a:ea typeface="Segoe UI" pitchFamily="34" charset="-122"/>
                <a:cs typeface="Segoe UI" pitchFamily="34" charset="-120"/>
              </a:rPr>
              <a:t>13</a:t>
            </a:r>
            <a:endParaRPr lang="en-US" sz="3000" dirty="0"/>
          </a:p>
        </p:txBody>
      </p:sp>
      <p:sp>
        <p:nvSpPr>
          <p:cNvPr id="25" name="Text 23"/>
          <p:cNvSpPr txBox="1"/>
          <p:nvPr/>
        </p:nvSpPr>
        <p:spPr>
          <a:xfrm>
            <a:off x="10058400" y="1536192"/>
            <a:ext cx="1783080" cy="402336"/>
          </a:xfrm>
          <a:prstGeom prst="rect">
            <a:avLst/>
          </a:prstGeom>
          <a:noFill/>
          <a:ln/>
        </p:spPr>
        <p:txBody>
          <a:bodyPr wrap="square" lIns="0" tIns="0" rIns="0" bIns="0" rtlCol="0" anchor="t"/>
          <a:lstStyle/>
          <a:p>
            <a:pPr algn="ctr" indent="0" marL="0">
              <a:buNone/>
            </a:pPr>
            <a:r>
              <a:rPr lang="en-US" sz="860" dirty="0">
                <a:solidFill>
                  <a:srgbClr val="5B6577"/>
                </a:solidFill>
                <a:latin typeface="Segoe UI" pitchFamily="34" charset="0"/>
                <a:ea typeface="Segoe UI" pitchFamily="34" charset="-122"/>
                <a:cs typeface="Segoe UI" pitchFamily="34" charset="-120"/>
              </a:rPr>
              <a:t>seeded CSV</a:t>
            </a:r>
            <a:endParaRPr lang="en-US" sz="860" dirty="0"/>
          </a:p>
          <a:p>
            <a:pPr algn="ctr" indent="0" marL="0">
              <a:buNone/>
            </a:pPr>
            <a:r>
              <a:rPr lang="en-US" sz="860" dirty="0">
                <a:solidFill>
                  <a:srgbClr val="5B6577"/>
                </a:solidFill>
                <a:latin typeface="Segoe UI" pitchFamily="34" charset="0"/>
                <a:ea typeface="Segoe UI" pitchFamily="34" charset="-122"/>
                <a:cs typeface="Segoe UI" pitchFamily="34" charset="-120"/>
              </a:rPr>
              <a:t>datasets</a:t>
            </a:r>
            <a:endParaRPr lang="en-US" sz="860" dirty="0"/>
          </a:p>
        </p:txBody>
      </p:sp>
      <p:sp>
        <p:nvSpPr>
          <p:cNvPr id="26" name="Shape 24"/>
          <p:cNvSpPr/>
          <p:nvPr/>
        </p:nvSpPr>
        <p:spPr>
          <a:xfrm>
            <a:off x="411480" y="2121408"/>
            <a:ext cx="5669280" cy="1874520"/>
          </a:xfrm>
          <a:prstGeom prst="roundRect">
            <a:avLst>
              <a:gd name="adj" fmla="val 1951"/>
            </a:avLst>
          </a:prstGeom>
          <a:solidFill>
            <a:srgbClr val="FFFFFF"/>
          </a:solidFill>
          <a:ln w="12700">
            <a:solidFill>
              <a:srgbClr val="CBD4E1"/>
            </a:solidFill>
            <a:prstDash val="solid"/>
          </a:ln>
        </p:spPr>
      </p:sp>
      <p:sp>
        <p:nvSpPr>
          <p:cNvPr id="27" name="Shape 25"/>
          <p:cNvSpPr/>
          <p:nvPr/>
        </p:nvSpPr>
        <p:spPr>
          <a:xfrm>
            <a:off x="411480" y="2121408"/>
            <a:ext cx="5669280" cy="310896"/>
          </a:xfrm>
          <a:prstGeom prst="rect">
            <a:avLst/>
          </a:prstGeom>
          <a:solidFill>
            <a:srgbClr val="5B3FBF"/>
          </a:solidFill>
          <a:ln/>
        </p:spPr>
      </p:sp>
      <p:sp>
        <p:nvSpPr>
          <p:cNvPr id="28" name="Text 26"/>
          <p:cNvSpPr txBox="1"/>
          <p:nvPr/>
        </p:nvSpPr>
        <p:spPr>
          <a:xfrm>
            <a:off x="594360" y="2167128"/>
            <a:ext cx="5303520" cy="219456"/>
          </a:xfrm>
          <a:prstGeom prst="rect">
            <a:avLst/>
          </a:prstGeom>
          <a:noFill/>
          <a:ln/>
        </p:spPr>
        <p:txBody>
          <a:bodyPr wrap="square" lIns="0" tIns="0" rIns="0" bIns="0" rtlCol="0" anchor="ctr"/>
          <a:lstStyle/>
          <a:p>
            <a:pPr algn="l" indent="0" marL="0">
              <a:buNone/>
            </a:pPr>
            <a:r>
              <a:rPr lang="en-US" sz="950" b="1" dirty="0">
                <a:solidFill>
                  <a:srgbClr val="FFFFFF"/>
                </a:solidFill>
                <a:latin typeface="Segoe UI" pitchFamily="34" charset="0"/>
                <a:ea typeface="Segoe UI" pitchFamily="34" charset="-122"/>
                <a:cs typeface="Segoe UI" pitchFamily="34" charset="-120"/>
              </a:rPr>
              <a:t>THE AGENT ENGINE  —  LangGraph state machine</a:t>
            </a:r>
            <a:endParaRPr lang="en-US" sz="950" dirty="0"/>
          </a:p>
        </p:txBody>
      </p:sp>
      <p:sp>
        <p:nvSpPr>
          <p:cNvPr id="29" name="Text 27"/>
          <p:cNvSpPr txBox="1"/>
          <p:nvPr/>
        </p:nvSpPr>
        <p:spPr>
          <a:xfrm>
            <a:off x="621792" y="2542032"/>
            <a:ext cx="5303520" cy="274320"/>
          </a:xfrm>
          <a:prstGeom prst="rect">
            <a:avLst/>
          </a:prstGeom>
          <a:noFill/>
          <a:ln/>
        </p:spPr>
        <p:txBody>
          <a:bodyPr wrap="square" lIns="0" tIns="0" rIns="0" bIns="0" rtlCol="0" anchor="t"/>
          <a:lstStyle/>
          <a:p>
            <a:pPr algn="l" indent="0" marL="0">
              <a:lnSpc>
                <a:spcPct val="115000"/>
              </a:lnSpc>
              <a:buNone/>
            </a:pPr>
            <a:r>
              <a:rPr lang="en-US" sz="880" dirty="0">
                <a:solidFill>
                  <a:srgbClr val="5B6577"/>
                </a:solidFill>
                <a:latin typeface="Segoe UI" pitchFamily="34" charset="0"/>
                <a:ea typeface="Segoe UI" pitchFamily="34" charset="-122"/>
                <a:cs typeface="Segoe UI" pitchFamily="34" charset="-120"/>
              </a:rPr>
              <a:t>A Master agent routes each request to the right specialist and back, until the answer is complete.</a:t>
            </a:r>
            <a:endParaRPr lang="en-US" sz="880" dirty="0"/>
          </a:p>
        </p:txBody>
      </p:sp>
      <p:sp>
        <p:nvSpPr>
          <p:cNvPr id="30" name="Shape 28"/>
          <p:cNvSpPr/>
          <p:nvPr/>
        </p:nvSpPr>
        <p:spPr>
          <a:xfrm>
            <a:off x="621792" y="2852928"/>
            <a:ext cx="1719072" cy="329184"/>
          </a:xfrm>
          <a:prstGeom prst="roundRect">
            <a:avLst>
              <a:gd name="adj" fmla="val 8333"/>
            </a:avLst>
          </a:prstGeom>
          <a:solidFill>
            <a:srgbClr val="F5F2FD"/>
          </a:solidFill>
          <a:ln w="9525">
            <a:solidFill>
              <a:srgbClr val="D6CBEF"/>
            </a:solidFill>
            <a:prstDash val="solid"/>
          </a:ln>
        </p:spPr>
      </p:sp>
      <p:sp>
        <p:nvSpPr>
          <p:cNvPr id="31" name="Text 29"/>
          <p:cNvSpPr txBox="1"/>
          <p:nvPr/>
        </p:nvSpPr>
        <p:spPr>
          <a:xfrm>
            <a:off x="694944" y="2871216"/>
            <a:ext cx="1572768" cy="155448"/>
          </a:xfrm>
          <a:prstGeom prst="rect">
            <a:avLst/>
          </a:prstGeom>
          <a:noFill/>
          <a:ln/>
        </p:spPr>
        <p:txBody>
          <a:bodyPr wrap="square" lIns="0" tIns="0" rIns="0" bIns="0" rtlCol="0" anchor="ctr"/>
          <a:lstStyle/>
          <a:p>
            <a:pPr indent="0" marL="0">
              <a:buNone/>
            </a:pPr>
            <a:r>
              <a:rPr lang="en-US" sz="840" b="1" dirty="0">
                <a:solidFill>
                  <a:srgbClr val="5B3FBF"/>
                </a:solidFill>
                <a:latin typeface="Segoe UI" pitchFamily="34" charset="0"/>
                <a:ea typeface="Segoe UI" pitchFamily="34" charset="-122"/>
                <a:cs typeface="Segoe UI" pitchFamily="34" charset="-120"/>
              </a:rPr>
              <a:t>Master</a:t>
            </a:r>
            <a:endParaRPr lang="en-US" sz="840" dirty="0"/>
          </a:p>
        </p:txBody>
      </p:sp>
      <p:sp>
        <p:nvSpPr>
          <p:cNvPr id="32" name="Text 30"/>
          <p:cNvSpPr txBox="1"/>
          <p:nvPr/>
        </p:nvSpPr>
        <p:spPr>
          <a:xfrm>
            <a:off x="694944" y="3017520"/>
            <a:ext cx="1572768" cy="146304"/>
          </a:xfrm>
          <a:prstGeom prst="rect">
            <a:avLst/>
          </a:prstGeom>
          <a:noFill/>
          <a:ln/>
        </p:spPr>
        <p:txBody>
          <a:bodyPr wrap="square" lIns="0" tIns="0" rIns="0" bIns="0" rtlCol="0" anchor="ctr"/>
          <a:lstStyle/>
          <a:p>
            <a:pPr indent="0" marL="0">
              <a:buNone/>
            </a:pPr>
            <a:r>
              <a:rPr lang="en-US" sz="720" dirty="0">
                <a:solidFill>
                  <a:srgbClr val="5B6577"/>
                </a:solidFill>
                <a:latin typeface="Segoe UI" pitchFamily="34" charset="0"/>
                <a:ea typeface="Segoe UI" pitchFamily="34" charset="-122"/>
                <a:cs typeface="Segoe UI" pitchFamily="34" charset="-120"/>
              </a:rPr>
              <a:t>supervisor / router</a:t>
            </a:r>
            <a:endParaRPr lang="en-US" sz="720" dirty="0"/>
          </a:p>
        </p:txBody>
      </p:sp>
      <p:sp>
        <p:nvSpPr>
          <p:cNvPr id="33" name="Shape 31"/>
          <p:cNvSpPr/>
          <p:nvPr/>
        </p:nvSpPr>
        <p:spPr>
          <a:xfrm>
            <a:off x="2432304" y="2852928"/>
            <a:ext cx="1719072" cy="329184"/>
          </a:xfrm>
          <a:prstGeom prst="roundRect">
            <a:avLst>
              <a:gd name="adj" fmla="val 8333"/>
            </a:avLst>
          </a:prstGeom>
          <a:solidFill>
            <a:srgbClr val="F5F2FD"/>
          </a:solidFill>
          <a:ln w="9525">
            <a:solidFill>
              <a:srgbClr val="D6CBEF"/>
            </a:solidFill>
            <a:prstDash val="solid"/>
          </a:ln>
        </p:spPr>
      </p:sp>
      <p:sp>
        <p:nvSpPr>
          <p:cNvPr id="34" name="Text 32"/>
          <p:cNvSpPr txBox="1"/>
          <p:nvPr/>
        </p:nvSpPr>
        <p:spPr>
          <a:xfrm>
            <a:off x="2505456" y="2871216"/>
            <a:ext cx="1572768" cy="155448"/>
          </a:xfrm>
          <a:prstGeom prst="rect">
            <a:avLst/>
          </a:prstGeom>
          <a:noFill/>
          <a:ln/>
        </p:spPr>
        <p:txBody>
          <a:bodyPr wrap="square" lIns="0" tIns="0" rIns="0" bIns="0" rtlCol="0" anchor="ctr"/>
          <a:lstStyle/>
          <a:p>
            <a:pPr indent="0" marL="0">
              <a:buNone/>
            </a:pPr>
            <a:r>
              <a:rPr lang="en-US" sz="840" b="1" dirty="0">
                <a:solidFill>
                  <a:srgbClr val="5B3FBF"/>
                </a:solidFill>
                <a:latin typeface="Segoe UI" pitchFamily="34" charset="0"/>
                <a:ea typeface="Segoe UI" pitchFamily="34" charset="-122"/>
                <a:cs typeface="Segoe UI" pitchFamily="34" charset="-120"/>
              </a:rPr>
              <a:t>Intent</a:t>
            </a:r>
            <a:endParaRPr lang="en-US" sz="840" dirty="0"/>
          </a:p>
        </p:txBody>
      </p:sp>
      <p:sp>
        <p:nvSpPr>
          <p:cNvPr id="35" name="Text 33"/>
          <p:cNvSpPr txBox="1"/>
          <p:nvPr/>
        </p:nvSpPr>
        <p:spPr>
          <a:xfrm>
            <a:off x="2505456" y="3017520"/>
            <a:ext cx="1572768" cy="146304"/>
          </a:xfrm>
          <a:prstGeom prst="rect">
            <a:avLst/>
          </a:prstGeom>
          <a:noFill/>
          <a:ln/>
        </p:spPr>
        <p:txBody>
          <a:bodyPr wrap="square" lIns="0" tIns="0" rIns="0" bIns="0" rtlCol="0" anchor="ctr"/>
          <a:lstStyle/>
          <a:p>
            <a:pPr indent="0" marL="0">
              <a:buNone/>
            </a:pPr>
            <a:r>
              <a:rPr lang="en-US" sz="720" dirty="0">
                <a:solidFill>
                  <a:srgbClr val="5B6577"/>
                </a:solidFill>
                <a:latin typeface="Segoe UI" pitchFamily="34" charset="0"/>
                <a:ea typeface="Segoe UI" pitchFamily="34" charset="-122"/>
                <a:cs typeface="Segoe UI" pitchFamily="34" charset="-120"/>
              </a:rPr>
              <a:t>classifies the ask</a:t>
            </a:r>
            <a:endParaRPr lang="en-US" sz="720" dirty="0"/>
          </a:p>
        </p:txBody>
      </p:sp>
      <p:sp>
        <p:nvSpPr>
          <p:cNvPr id="36" name="Shape 34"/>
          <p:cNvSpPr/>
          <p:nvPr/>
        </p:nvSpPr>
        <p:spPr>
          <a:xfrm>
            <a:off x="4242816" y="2852928"/>
            <a:ext cx="1719072" cy="329184"/>
          </a:xfrm>
          <a:prstGeom prst="roundRect">
            <a:avLst>
              <a:gd name="adj" fmla="val 8333"/>
            </a:avLst>
          </a:prstGeom>
          <a:solidFill>
            <a:srgbClr val="F5F2FD"/>
          </a:solidFill>
          <a:ln w="9525">
            <a:solidFill>
              <a:srgbClr val="D6CBEF"/>
            </a:solidFill>
            <a:prstDash val="solid"/>
          </a:ln>
        </p:spPr>
      </p:sp>
      <p:sp>
        <p:nvSpPr>
          <p:cNvPr id="37" name="Text 35"/>
          <p:cNvSpPr txBox="1"/>
          <p:nvPr/>
        </p:nvSpPr>
        <p:spPr>
          <a:xfrm>
            <a:off x="4315968" y="2871216"/>
            <a:ext cx="1572768" cy="155448"/>
          </a:xfrm>
          <a:prstGeom prst="rect">
            <a:avLst/>
          </a:prstGeom>
          <a:noFill/>
          <a:ln/>
        </p:spPr>
        <p:txBody>
          <a:bodyPr wrap="square" lIns="0" tIns="0" rIns="0" bIns="0" rtlCol="0" anchor="ctr"/>
          <a:lstStyle/>
          <a:p>
            <a:pPr indent="0" marL="0">
              <a:buNone/>
            </a:pPr>
            <a:r>
              <a:rPr lang="en-US" sz="840" b="1" dirty="0">
                <a:solidFill>
                  <a:srgbClr val="5B3FBF"/>
                </a:solidFill>
                <a:latin typeface="Segoe UI" pitchFamily="34" charset="0"/>
                <a:ea typeface="Segoe UI" pitchFamily="34" charset="-122"/>
                <a:cs typeface="Segoe UI" pitchFamily="34" charset="-120"/>
              </a:rPr>
              <a:t>Profile</a:t>
            </a:r>
            <a:endParaRPr lang="en-US" sz="840" dirty="0"/>
          </a:p>
        </p:txBody>
      </p:sp>
      <p:sp>
        <p:nvSpPr>
          <p:cNvPr id="38" name="Text 36"/>
          <p:cNvSpPr txBox="1"/>
          <p:nvPr/>
        </p:nvSpPr>
        <p:spPr>
          <a:xfrm>
            <a:off x="4315968" y="3017520"/>
            <a:ext cx="1572768" cy="146304"/>
          </a:xfrm>
          <a:prstGeom prst="rect">
            <a:avLst/>
          </a:prstGeom>
          <a:noFill/>
          <a:ln/>
        </p:spPr>
        <p:txBody>
          <a:bodyPr wrap="square" lIns="0" tIns="0" rIns="0" bIns="0" rtlCol="0" anchor="ctr"/>
          <a:lstStyle/>
          <a:p>
            <a:pPr indent="0" marL="0">
              <a:buNone/>
            </a:pPr>
            <a:r>
              <a:rPr lang="en-US" sz="720" dirty="0">
                <a:solidFill>
                  <a:srgbClr val="5B6577"/>
                </a:solidFill>
                <a:latin typeface="Segoe UI" pitchFamily="34" charset="0"/>
                <a:ea typeface="Segoe UI" pitchFamily="34" charset="-122"/>
                <a:cs typeface="Segoe UI" pitchFamily="34" charset="-120"/>
              </a:rPr>
              <a:t>loads outlet context</a:t>
            </a:r>
            <a:endParaRPr lang="en-US" sz="720" dirty="0"/>
          </a:p>
        </p:txBody>
      </p:sp>
      <p:sp>
        <p:nvSpPr>
          <p:cNvPr id="39" name="Shape 37"/>
          <p:cNvSpPr/>
          <p:nvPr/>
        </p:nvSpPr>
        <p:spPr>
          <a:xfrm>
            <a:off x="621792" y="3218688"/>
            <a:ext cx="1719072" cy="329184"/>
          </a:xfrm>
          <a:prstGeom prst="roundRect">
            <a:avLst>
              <a:gd name="adj" fmla="val 8333"/>
            </a:avLst>
          </a:prstGeom>
          <a:solidFill>
            <a:srgbClr val="F5F2FD"/>
          </a:solidFill>
          <a:ln w="9525">
            <a:solidFill>
              <a:srgbClr val="D6CBEF"/>
            </a:solidFill>
            <a:prstDash val="solid"/>
          </a:ln>
        </p:spPr>
      </p:sp>
      <p:sp>
        <p:nvSpPr>
          <p:cNvPr id="40" name="Text 38"/>
          <p:cNvSpPr txBox="1"/>
          <p:nvPr/>
        </p:nvSpPr>
        <p:spPr>
          <a:xfrm>
            <a:off x="694944" y="3236976"/>
            <a:ext cx="1572768" cy="155448"/>
          </a:xfrm>
          <a:prstGeom prst="rect">
            <a:avLst/>
          </a:prstGeom>
          <a:noFill/>
          <a:ln/>
        </p:spPr>
        <p:txBody>
          <a:bodyPr wrap="square" lIns="0" tIns="0" rIns="0" bIns="0" rtlCol="0" anchor="ctr"/>
          <a:lstStyle/>
          <a:p>
            <a:pPr indent="0" marL="0">
              <a:buNone/>
            </a:pPr>
            <a:r>
              <a:rPr lang="en-US" sz="840" b="1" dirty="0">
                <a:solidFill>
                  <a:srgbClr val="5B3FBF"/>
                </a:solidFill>
                <a:latin typeface="Segoe UI" pitchFamily="34" charset="0"/>
                <a:ea typeface="Segoe UI" pitchFamily="34" charset="-122"/>
                <a:cs typeface="Segoe UI" pitchFamily="34" charset="-120"/>
              </a:rPr>
              <a:t>Ranking</a:t>
            </a:r>
            <a:endParaRPr lang="en-US" sz="840" dirty="0"/>
          </a:p>
        </p:txBody>
      </p:sp>
      <p:sp>
        <p:nvSpPr>
          <p:cNvPr id="41" name="Text 39"/>
          <p:cNvSpPr txBox="1"/>
          <p:nvPr/>
        </p:nvSpPr>
        <p:spPr>
          <a:xfrm>
            <a:off x="694944" y="3383280"/>
            <a:ext cx="1572768" cy="146304"/>
          </a:xfrm>
          <a:prstGeom prst="rect">
            <a:avLst/>
          </a:prstGeom>
          <a:noFill/>
          <a:ln/>
        </p:spPr>
        <p:txBody>
          <a:bodyPr wrap="square" lIns="0" tIns="0" rIns="0" bIns="0" rtlCol="0" anchor="ctr"/>
          <a:lstStyle/>
          <a:p>
            <a:pPr indent="0" marL="0">
              <a:buNone/>
            </a:pPr>
            <a:r>
              <a:rPr lang="en-US" sz="720" dirty="0">
                <a:solidFill>
                  <a:srgbClr val="5B6577"/>
                </a:solidFill>
                <a:latin typeface="Segoe UI" pitchFamily="34" charset="0"/>
                <a:ea typeface="Segoe UI" pitchFamily="34" charset="-122"/>
                <a:cs typeface="Segoe UI" pitchFamily="34" charset="-120"/>
              </a:rPr>
              <a:t>orders by propensity</a:t>
            </a:r>
            <a:endParaRPr lang="en-US" sz="720" dirty="0"/>
          </a:p>
        </p:txBody>
      </p:sp>
      <p:sp>
        <p:nvSpPr>
          <p:cNvPr id="42" name="Shape 40"/>
          <p:cNvSpPr/>
          <p:nvPr/>
        </p:nvSpPr>
        <p:spPr>
          <a:xfrm>
            <a:off x="2432304" y="3218688"/>
            <a:ext cx="1719072" cy="329184"/>
          </a:xfrm>
          <a:prstGeom prst="roundRect">
            <a:avLst>
              <a:gd name="adj" fmla="val 8333"/>
            </a:avLst>
          </a:prstGeom>
          <a:solidFill>
            <a:srgbClr val="F5F2FD"/>
          </a:solidFill>
          <a:ln w="9525">
            <a:solidFill>
              <a:srgbClr val="D6CBEF"/>
            </a:solidFill>
            <a:prstDash val="solid"/>
          </a:ln>
        </p:spPr>
      </p:sp>
      <p:sp>
        <p:nvSpPr>
          <p:cNvPr id="43" name="Text 41"/>
          <p:cNvSpPr txBox="1"/>
          <p:nvPr/>
        </p:nvSpPr>
        <p:spPr>
          <a:xfrm>
            <a:off x="2505456" y="3236976"/>
            <a:ext cx="1572768" cy="155448"/>
          </a:xfrm>
          <a:prstGeom prst="rect">
            <a:avLst/>
          </a:prstGeom>
          <a:noFill/>
          <a:ln/>
        </p:spPr>
        <p:txBody>
          <a:bodyPr wrap="square" lIns="0" tIns="0" rIns="0" bIns="0" rtlCol="0" anchor="ctr"/>
          <a:lstStyle/>
          <a:p>
            <a:pPr indent="0" marL="0">
              <a:buNone/>
            </a:pPr>
            <a:r>
              <a:rPr lang="en-US" sz="840" b="1" dirty="0">
                <a:solidFill>
                  <a:srgbClr val="5B3FBF"/>
                </a:solidFill>
                <a:latin typeface="Segoe UI" pitchFamily="34" charset="0"/>
                <a:ea typeface="Segoe UI" pitchFamily="34" charset="-122"/>
                <a:cs typeface="Segoe UI" pitchFamily="34" charset="-120"/>
              </a:rPr>
              <a:t>Recommendation</a:t>
            </a:r>
            <a:endParaRPr lang="en-US" sz="840" dirty="0"/>
          </a:p>
        </p:txBody>
      </p:sp>
      <p:sp>
        <p:nvSpPr>
          <p:cNvPr id="44" name="Text 42"/>
          <p:cNvSpPr txBox="1"/>
          <p:nvPr/>
        </p:nvSpPr>
        <p:spPr>
          <a:xfrm>
            <a:off x="2505456" y="3383280"/>
            <a:ext cx="1572768" cy="146304"/>
          </a:xfrm>
          <a:prstGeom prst="rect">
            <a:avLst/>
          </a:prstGeom>
          <a:noFill/>
          <a:ln/>
        </p:spPr>
        <p:txBody>
          <a:bodyPr wrap="square" lIns="0" tIns="0" rIns="0" bIns="0" rtlCol="0" anchor="ctr"/>
          <a:lstStyle/>
          <a:p>
            <a:pPr indent="0" marL="0">
              <a:buNone/>
            </a:pPr>
            <a:r>
              <a:rPr lang="en-US" sz="720" dirty="0">
                <a:solidFill>
                  <a:srgbClr val="5B6577"/>
                </a:solidFill>
                <a:latin typeface="Segoe UI" pitchFamily="34" charset="0"/>
                <a:ea typeface="Segoe UI" pitchFamily="34" charset="-122"/>
                <a:cs typeface="Segoe UI" pitchFamily="34" charset="-120"/>
              </a:rPr>
              <a:t>next-best action</a:t>
            </a:r>
            <a:endParaRPr lang="en-US" sz="720" dirty="0"/>
          </a:p>
        </p:txBody>
      </p:sp>
      <p:sp>
        <p:nvSpPr>
          <p:cNvPr id="45" name="Shape 43"/>
          <p:cNvSpPr/>
          <p:nvPr/>
        </p:nvSpPr>
        <p:spPr>
          <a:xfrm>
            <a:off x="4242816" y="3218688"/>
            <a:ext cx="1719072" cy="329184"/>
          </a:xfrm>
          <a:prstGeom prst="roundRect">
            <a:avLst>
              <a:gd name="adj" fmla="val 8333"/>
            </a:avLst>
          </a:prstGeom>
          <a:solidFill>
            <a:srgbClr val="F5F2FD"/>
          </a:solidFill>
          <a:ln w="9525">
            <a:solidFill>
              <a:srgbClr val="D6CBEF"/>
            </a:solidFill>
            <a:prstDash val="solid"/>
          </a:ln>
        </p:spPr>
      </p:sp>
      <p:sp>
        <p:nvSpPr>
          <p:cNvPr id="46" name="Text 44"/>
          <p:cNvSpPr txBox="1"/>
          <p:nvPr/>
        </p:nvSpPr>
        <p:spPr>
          <a:xfrm>
            <a:off x="4315968" y="3236976"/>
            <a:ext cx="1572768" cy="155448"/>
          </a:xfrm>
          <a:prstGeom prst="rect">
            <a:avLst/>
          </a:prstGeom>
          <a:noFill/>
          <a:ln/>
        </p:spPr>
        <p:txBody>
          <a:bodyPr wrap="square" lIns="0" tIns="0" rIns="0" bIns="0" rtlCol="0" anchor="ctr"/>
          <a:lstStyle/>
          <a:p>
            <a:pPr indent="0" marL="0">
              <a:buNone/>
            </a:pPr>
            <a:r>
              <a:rPr lang="en-US" sz="840" b="1" dirty="0">
                <a:solidFill>
                  <a:srgbClr val="5B3FBF"/>
                </a:solidFill>
                <a:latin typeface="Segoe UI" pitchFamily="34" charset="0"/>
                <a:ea typeface="Segoe UI" pitchFamily="34" charset="-122"/>
                <a:cs typeface="Segoe UI" pitchFamily="34" charset="-120"/>
              </a:rPr>
              <a:t>Brief</a:t>
            </a:r>
            <a:endParaRPr lang="en-US" sz="840" dirty="0"/>
          </a:p>
        </p:txBody>
      </p:sp>
      <p:sp>
        <p:nvSpPr>
          <p:cNvPr id="47" name="Text 45"/>
          <p:cNvSpPr txBox="1"/>
          <p:nvPr/>
        </p:nvSpPr>
        <p:spPr>
          <a:xfrm>
            <a:off x="4315968" y="3383280"/>
            <a:ext cx="1572768" cy="146304"/>
          </a:xfrm>
          <a:prstGeom prst="rect">
            <a:avLst/>
          </a:prstGeom>
          <a:noFill/>
          <a:ln/>
        </p:spPr>
        <p:txBody>
          <a:bodyPr wrap="square" lIns="0" tIns="0" rIns="0" bIns="0" rtlCol="0" anchor="ctr"/>
          <a:lstStyle/>
          <a:p>
            <a:pPr indent="0" marL="0">
              <a:buNone/>
            </a:pPr>
            <a:r>
              <a:rPr lang="en-US" sz="720" dirty="0">
                <a:solidFill>
                  <a:srgbClr val="5B6577"/>
                </a:solidFill>
                <a:latin typeface="Segoe UI" pitchFamily="34" charset="0"/>
                <a:ea typeface="Segoe UI" pitchFamily="34" charset="-122"/>
                <a:cs typeface="Segoe UI" pitchFamily="34" charset="-120"/>
              </a:rPr>
              <a:t>pre-visit synthesis</a:t>
            </a:r>
            <a:endParaRPr lang="en-US" sz="720" dirty="0"/>
          </a:p>
        </p:txBody>
      </p:sp>
      <p:sp>
        <p:nvSpPr>
          <p:cNvPr id="48" name="Shape 46"/>
          <p:cNvSpPr/>
          <p:nvPr/>
        </p:nvSpPr>
        <p:spPr>
          <a:xfrm>
            <a:off x="621792" y="3584448"/>
            <a:ext cx="1719072" cy="329184"/>
          </a:xfrm>
          <a:prstGeom prst="roundRect">
            <a:avLst>
              <a:gd name="adj" fmla="val 8333"/>
            </a:avLst>
          </a:prstGeom>
          <a:solidFill>
            <a:srgbClr val="F5F2FD"/>
          </a:solidFill>
          <a:ln w="9525">
            <a:solidFill>
              <a:srgbClr val="D6CBEF"/>
            </a:solidFill>
            <a:prstDash val="solid"/>
          </a:ln>
        </p:spPr>
      </p:sp>
      <p:sp>
        <p:nvSpPr>
          <p:cNvPr id="49" name="Text 47"/>
          <p:cNvSpPr txBox="1"/>
          <p:nvPr/>
        </p:nvSpPr>
        <p:spPr>
          <a:xfrm>
            <a:off x="694944" y="3602736"/>
            <a:ext cx="1572768" cy="155448"/>
          </a:xfrm>
          <a:prstGeom prst="rect">
            <a:avLst/>
          </a:prstGeom>
          <a:noFill/>
          <a:ln/>
        </p:spPr>
        <p:txBody>
          <a:bodyPr wrap="square" lIns="0" tIns="0" rIns="0" bIns="0" rtlCol="0" anchor="ctr"/>
          <a:lstStyle/>
          <a:p>
            <a:pPr indent="0" marL="0">
              <a:buNone/>
            </a:pPr>
            <a:r>
              <a:rPr lang="en-US" sz="840" b="1" dirty="0">
                <a:solidFill>
                  <a:srgbClr val="5B3FBF"/>
                </a:solidFill>
                <a:latin typeface="Segoe UI" pitchFamily="34" charset="0"/>
                <a:ea typeface="Segoe UI" pitchFamily="34" charset="-122"/>
                <a:cs typeface="Segoe UI" pitchFamily="34" charset="-120"/>
              </a:rPr>
              <a:t>Nudge</a:t>
            </a:r>
            <a:endParaRPr lang="en-US" sz="840" dirty="0"/>
          </a:p>
        </p:txBody>
      </p:sp>
      <p:sp>
        <p:nvSpPr>
          <p:cNvPr id="50" name="Text 48"/>
          <p:cNvSpPr txBox="1"/>
          <p:nvPr/>
        </p:nvSpPr>
        <p:spPr>
          <a:xfrm>
            <a:off x="694944" y="3749040"/>
            <a:ext cx="1572768" cy="146304"/>
          </a:xfrm>
          <a:prstGeom prst="rect">
            <a:avLst/>
          </a:prstGeom>
          <a:noFill/>
          <a:ln/>
        </p:spPr>
        <p:txBody>
          <a:bodyPr wrap="square" lIns="0" tIns="0" rIns="0" bIns="0" rtlCol="0" anchor="ctr"/>
          <a:lstStyle/>
          <a:p>
            <a:pPr indent="0" marL="0">
              <a:buNone/>
            </a:pPr>
            <a:r>
              <a:rPr lang="en-US" sz="720" dirty="0">
                <a:solidFill>
                  <a:srgbClr val="5B6577"/>
                </a:solidFill>
                <a:latin typeface="Segoe UI" pitchFamily="34" charset="0"/>
                <a:ea typeface="Segoe UI" pitchFamily="34" charset="-122"/>
                <a:cs typeface="Segoe UI" pitchFamily="34" charset="-120"/>
              </a:rPr>
              <a:t>coaching prompts</a:t>
            </a:r>
            <a:endParaRPr lang="en-US" sz="720" dirty="0"/>
          </a:p>
        </p:txBody>
      </p:sp>
      <p:sp>
        <p:nvSpPr>
          <p:cNvPr id="51" name="Shape 49"/>
          <p:cNvSpPr/>
          <p:nvPr/>
        </p:nvSpPr>
        <p:spPr>
          <a:xfrm>
            <a:off x="2432304" y="3584448"/>
            <a:ext cx="1719072" cy="329184"/>
          </a:xfrm>
          <a:prstGeom prst="roundRect">
            <a:avLst>
              <a:gd name="adj" fmla="val 8333"/>
            </a:avLst>
          </a:prstGeom>
          <a:solidFill>
            <a:srgbClr val="F5F2FD"/>
          </a:solidFill>
          <a:ln w="9525">
            <a:solidFill>
              <a:srgbClr val="D6CBEF"/>
            </a:solidFill>
            <a:prstDash val="solid"/>
          </a:ln>
        </p:spPr>
      </p:sp>
      <p:sp>
        <p:nvSpPr>
          <p:cNvPr id="52" name="Text 50"/>
          <p:cNvSpPr txBox="1"/>
          <p:nvPr/>
        </p:nvSpPr>
        <p:spPr>
          <a:xfrm>
            <a:off x="2505456" y="3602736"/>
            <a:ext cx="1572768" cy="155448"/>
          </a:xfrm>
          <a:prstGeom prst="rect">
            <a:avLst/>
          </a:prstGeom>
          <a:noFill/>
          <a:ln/>
        </p:spPr>
        <p:txBody>
          <a:bodyPr wrap="square" lIns="0" tIns="0" rIns="0" bIns="0" rtlCol="0" anchor="ctr"/>
          <a:lstStyle/>
          <a:p>
            <a:pPr indent="0" marL="0">
              <a:buNone/>
            </a:pPr>
            <a:r>
              <a:rPr lang="en-US" sz="840" b="1" dirty="0">
                <a:solidFill>
                  <a:srgbClr val="5B3FBF"/>
                </a:solidFill>
                <a:latin typeface="Segoe UI" pitchFamily="34" charset="0"/>
                <a:ea typeface="Segoe UI" pitchFamily="34" charset="-122"/>
                <a:cs typeface="Segoe UI" pitchFamily="34" charset="-120"/>
              </a:rPr>
              <a:t>NL Response</a:t>
            </a:r>
            <a:endParaRPr lang="en-US" sz="840" dirty="0"/>
          </a:p>
        </p:txBody>
      </p:sp>
      <p:sp>
        <p:nvSpPr>
          <p:cNvPr id="53" name="Text 51"/>
          <p:cNvSpPr txBox="1"/>
          <p:nvPr/>
        </p:nvSpPr>
        <p:spPr>
          <a:xfrm>
            <a:off x="2505456" y="3749040"/>
            <a:ext cx="1572768" cy="146304"/>
          </a:xfrm>
          <a:prstGeom prst="rect">
            <a:avLst/>
          </a:prstGeom>
          <a:noFill/>
          <a:ln/>
        </p:spPr>
        <p:txBody>
          <a:bodyPr wrap="square" lIns="0" tIns="0" rIns="0" bIns="0" rtlCol="0" anchor="ctr"/>
          <a:lstStyle/>
          <a:p>
            <a:pPr indent="0" marL="0">
              <a:buNone/>
            </a:pPr>
            <a:r>
              <a:rPr lang="en-US" sz="720" dirty="0">
                <a:solidFill>
                  <a:srgbClr val="5B6577"/>
                </a:solidFill>
                <a:latin typeface="Segoe UI" pitchFamily="34" charset="0"/>
                <a:ea typeface="Segoe UI" pitchFamily="34" charset="-122"/>
                <a:cs typeface="Segoe UI" pitchFamily="34" charset="-120"/>
              </a:rPr>
              <a:t>final answer</a:t>
            </a:r>
            <a:endParaRPr lang="en-US" sz="720" dirty="0"/>
          </a:p>
        </p:txBody>
      </p:sp>
      <p:sp>
        <p:nvSpPr>
          <p:cNvPr id="54" name="Shape 52"/>
          <p:cNvSpPr/>
          <p:nvPr/>
        </p:nvSpPr>
        <p:spPr>
          <a:xfrm>
            <a:off x="4242816" y="3584448"/>
            <a:ext cx="1719072" cy="329184"/>
          </a:xfrm>
          <a:prstGeom prst="roundRect">
            <a:avLst>
              <a:gd name="adj" fmla="val 8333"/>
            </a:avLst>
          </a:prstGeom>
          <a:solidFill>
            <a:srgbClr val="F5F2FD"/>
          </a:solidFill>
          <a:ln w="9525">
            <a:solidFill>
              <a:srgbClr val="D6CBEF"/>
            </a:solidFill>
            <a:prstDash val="solid"/>
          </a:ln>
        </p:spPr>
      </p:sp>
      <p:sp>
        <p:nvSpPr>
          <p:cNvPr id="55" name="Text 53"/>
          <p:cNvSpPr txBox="1"/>
          <p:nvPr/>
        </p:nvSpPr>
        <p:spPr>
          <a:xfrm>
            <a:off x="4315968" y="3602736"/>
            <a:ext cx="1572768" cy="155448"/>
          </a:xfrm>
          <a:prstGeom prst="rect">
            <a:avLst/>
          </a:prstGeom>
          <a:noFill/>
          <a:ln/>
        </p:spPr>
        <p:txBody>
          <a:bodyPr wrap="square" lIns="0" tIns="0" rIns="0" bIns="0" rtlCol="0" anchor="ctr"/>
          <a:lstStyle/>
          <a:p>
            <a:pPr indent="0" marL="0">
              <a:buNone/>
            </a:pPr>
            <a:r>
              <a:rPr lang="en-US" sz="840" b="1" dirty="0">
                <a:solidFill>
                  <a:srgbClr val="5B3FBF"/>
                </a:solidFill>
                <a:latin typeface="Segoe UI" pitchFamily="34" charset="0"/>
                <a:ea typeface="Segoe UI" pitchFamily="34" charset="-122"/>
                <a:cs typeface="Segoe UI" pitchFamily="34" charset="-120"/>
              </a:rPr>
              <a:t>Clarification</a:t>
            </a:r>
            <a:endParaRPr lang="en-US" sz="840" dirty="0"/>
          </a:p>
        </p:txBody>
      </p:sp>
      <p:sp>
        <p:nvSpPr>
          <p:cNvPr id="56" name="Text 54"/>
          <p:cNvSpPr txBox="1"/>
          <p:nvPr/>
        </p:nvSpPr>
        <p:spPr>
          <a:xfrm>
            <a:off x="4315968" y="3749040"/>
            <a:ext cx="1572768" cy="146304"/>
          </a:xfrm>
          <a:prstGeom prst="rect">
            <a:avLst/>
          </a:prstGeom>
          <a:noFill/>
          <a:ln/>
        </p:spPr>
        <p:txBody>
          <a:bodyPr wrap="square" lIns="0" tIns="0" rIns="0" bIns="0" rtlCol="0" anchor="ctr"/>
          <a:lstStyle/>
          <a:p>
            <a:pPr indent="0" marL="0">
              <a:buNone/>
            </a:pPr>
            <a:r>
              <a:rPr lang="en-US" sz="720" dirty="0">
                <a:solidFill>
                  <a:srgbClr val="5B6577"/>
                </a:solidFill>
                <a:latin typeface="Segoe UI" pitchFamily="34" charset="0"/>
                <a:ea typeface="Segoe UI" pitchFamily="34" charset="-122"/>
                <a:cs typeface="Segoe UI" pitchFamily="34" charset="-120"/>
              </a:rPr>
              <a:t>asks a follow-up</a:t>
            </a:r>
            <a:endParaRPr lang="en-US" sz="720" dirty="0"/>
          </a:p>
        </p:txBody>
      </p:sp>
      <p:sp>
        <p:nvSpPr>
          <p:cNvPr id="57" name="Shape 55"/>
          <p:cNvSpPr/>
          <p:nvPr/>
        </p:nvSpPr>
        <p:spPr>
          <a:xfrm>
            <a:off x="6263640" y="2121408"/>
            <a:ext cx="5532120" cy="1874520"/>
          </a:xfrm>
          <a:prstGeom prst="roundRect">
            <a:avLst>
              <a:gd name="adj" fmla="val 1951"/>
            </a:avLst>
          </a:prstGeom>
          <a:solidFill>
            <a:srgbClr val="FFFFFF"/>
          </a:solidFill>
          <a:ln w="12700">
            <a:solidFill>
              <a:srgbClr val="CBD4E1"/>
            </a:solidFill>
            <a:prstDash val="solid"/>
          </a:ln>
        </p:spPr>
      </p:sp>
      <p:sp>
        <p:nvSpPr>
          <p:cNvPr id="58" name="Shape 56"/>
          <p:cNvSpPr/>
          <p:nvPr/>
        </p:nvSpPr>
        <p:spPr>
          <a:xfrm>
            <a:off x="6263640" y="2121408"/>
            <a:ext cx="5532120" cy="310896"/>
          </a:xfrm>
          <a:prstGeom prst="rect">
            <a:avLst/>
          </a:prstGeom>
          <a:solidFill>
            <a:srgbClr val="0A5CB8"/>
          </a:solidFill>
          <a:ln/>
        </p:spPr>
      </p:sp>
      <p:sp>
        <p:nvSpPr>
          <p:cNvPr id="59" name="Text 57"/>
          <p:cNvSpPr txBox="1"/>
          <p:nvPr/>
        </p:nvSpPr>
        <p:spPr>
          <a:xfrm>
            <a:off x="6446520" y="2167128"/>
            <a:ext cx="5120640" cy="219456"/>
          </a:xfrm>
          <a:prstGeom prst="rect">
            <a:avLst/>
          </a:prstGeom>
          <a:noFill/>
          <a:ln/>
        </p:spPr>
        <p:txBody>
          <a:bodyPr wrap="square" lIns="0" tIns="0" rIns="0" bIns="0" rtlCol="0" anchor="ctr"/>
          <a:lstStyle/>
          <a:p>
            <a:pPr algn="l" indent="0" marL="0">
              <a:buNone/>
            </a:pPr>
            <a:r>
              <a:rPr lang="en-US" sz="950" b="1" dirty="0">
                <a:solidFill>
                  <a:srgbClr val="FFFFFF"/>
                </a:solidFill>
                <a:latin typeface="Segoe UI" pitchFamily="34" charset="0"/>
                <a:ea typeface="Segoe UI" pitchFamily="34" charset="-122"/>
                <a:cs typeface="Segoe UI" pitchFamily="34" charset="-120"/>
              </a:rPr>
              <a:t>WHAT A USER CAN ACTUALLY DO TODAY</a:t>
            </a:r>
            <a:endParaRPr lang="en-US" sz="950" dirty="0"/>
          </a:p>
        </p:txBody>
      </p:sp>
      <p:sp>
        <p:nvSpPr>
          <p:cNvPr id="60" name="Text 58"/>
          <p:cNvSpPr txBox="1"/>
          <p:nvPr/>
        </p:nvSpPr>
        <p:spPr>
          <a:xfrm>
            <a:off x="6473952" y="2578608"/>
            <a:ext cx="5166360" cy="1325880"/>
          </a:xfrm>
          <a:prstGeom prst="rect">
            <a:avLst/>
          </a:prstGeom>
          <a:noFill/>
          <a:ln/>
        </p:spPr>
        <p:txBody>
          <a:bodyPr wrap="square" lIns="0" tIns="0" rIns="0" bIns="0" rtlCol="0" anchor="t"/>
          <a:lstStyle/>
          <a:p>
            <a:pPr marL="342900" indent="-342900">
              <a:spcAft>
                <a:spcPts val="400"/>
              </a:spcAft>
              <a:buSzPct val="100000"/>
              <a:buChar char="•"/>
            </a:pPr>
            <a:r>
              <a:rPr lang="en-US" sz="880" dirty="0">
                <a:solidFill>
                  <a:srgbClr val="354052"/>
                </a:solidFill>
                <a:latin typeface="Segoe UI" pitchFamily="34" charset="0"/>
                <a:ea typeface="Segoe UI" pitchFamily="34" charset="-122"/>
                <a:cs typeface="Segoe UI" pitchFamily="34" charset="-120"/>
              </a:rPr>
              <a:t>"Who should I visit today?" → ranked outlet list with scores and drivers</a:t>
            </a:r>
            <a:endParaRPr lang="en-US" sz="880" dirty="0"/>
          </a:p>
          <a:p>
            <a:pPr marL="342900" indent="-342900">
              <a:spcAft>
                <a:spcPts val="400"/>
              </a:spcAft>
              <a:buSzPct val="100000"/>
              <a:buChar char="•"/>
            </a:pPr>
            <a:r>
              <a:rPr lang="en-US" sz="880" dirty="0">
                <a:solidFill>
                  <a:srgbClr val="354052"/>
                </a:solidFill>
                <a:latin typeface="Segoe UI" pitchFamily="34" charset="0"/>
                <a:ea typeface="Segoe UI" pitchFamily="34" charset="-122"/>
                <a:cs typeface="Segoe UI" pitchFamily="34" charset="-120"/>
              </a:rPr>
              <a:t>"What should I do at outlet X?" → next-best action with the reasoning shown</a:t>
            </a:r>
            <a:endParaRPr lang="en-US" sz="880" dirty="0"/>
          </a:p>
          <a:p>
            <a:pPr marL="342900" indent="-342900">
              <a:spcAft>
                <a:spcPts val="400"/>
              </a:spcAft>
              <a:buSzPct val="100000"/>
              <a:buChar char="•"/>
            </a:pPr>
            <a:r>
              <a:rPr lang="en-US" sz="880" dirty="0">
                <a:solidFill>
                  <a:srgbClr val="354052"/>
                </a:solidFill>
                <a:latin typeface="Segoe UI" pitchFamily="34" charset="0"/>
                <a:ea typeface="Segoe UI" pitchFamily="34" charset="-122"/>
                <a:cs typeface="Segoe UI" pitchFamily="34" charset="-120"/>
              </a:rPr>
              <a:t>"Brief me before this visit" → synthesised profile, history and talking points</a:t>
            </a:r>
            <a:endParaRPr lang="en-US" sz="880" dirty="0"/>
          </a:p>
          <a:p>
            <a:pPr marL="342900" indent="-342900">
              <a:spcAft>
                <a:spcPts val="400"/>
              </a:spcAft>
              <a:buSzPct val="100000"/>
              <a:buChar char="•"/>
            </a:pPr>
            <a:r>
              <a:rPr lang="en-US" sz="880" dirty="0">
                <a:solidFill>
                  <a:srgbClr val="354052"/>
                </a:solidFill>
                <a:latin typeface="Segoe UI" pitchFamily="34" charset="0"/>
                <a:ea typeface="Segoe UI" pitchFamily="34" charset="-122"/>
                <a:cs typeface="Segoe UI" pitchFamily="34" charset="-120"/>
              </a:rPr>
              <a:t>Ask free-form questions over merchant, transaction and visit data</a:t>
            </a:r>
            <a:endParaRPr lang="en-US" sz="880" dirty="0"/>
          </a:p>
          <a:p>
            <a:pPr marL="342900" indent="-342900">
              <a:spcAft>
                <a:spcPts val="400"/>
              </a:spcAft>
              <a:buSzPct val="100000"/>
              <a:buChar char="•"/>
            </a:pPr>
            <a:r>
              <a:rPr lang="en-US" sz="880" dirty="0">
                <a:solidFill>
                  <a:srgbClr val="354052"/>
                </a:solidFill>
                <a:latin typeface="Segoe UI" pitchFamily="34" charset="0"/>
                <a:ea typeface="Segoe UI" pitchFamily="34" charset="-122"/>
                <a:cs typeface="Segoe UI" pitchFamily="34" charset="-120"/>
              </a:rPr>
              <a:t>Manager view: team performance, area summary, DSP comparison</a:t>
            </a:r>
            <a:endParaRPr lang="en-US" sz="880" dirty="0"/>
          </a:p>
          <a:p>
            <a:pPr marL="342900" indent="-342900">
              <a:spcAft>
                <a:spcPts val="400"/>
              </a:spcAft>
              <a:buSzPct val="100000"/>
              <a:buChar char="•"/>
            </a:pPr>
            <a:r>
              <a:rPr lang="en-US" sz="880" dirty="0">
                <a:solidFill>
                  <a:srgbClr val="354052"/>
                </a:solidFill>
                <a:latin typeface="Segoe UI" pitchFamily="34" charset="0"/>
                <a:ea typeface="Segoe UI" pitchFamily="34" charset="-122"/>
                <a:cs typeface="Segoe UI" pitchFamily="34" charset="-120"/>
              </a:rPr>
              <a:t>Admin view: system health, user management, guardrail settings</a:t>
            </a:r>
            <a:endParaRPr lang="en-US" sz="880" dirty="0"/>
          </a:p>
        </p:txBody>
      </p:sp>
      <p:sp>
        <p:nvSpPr>
          <p:cNvPr id="61" name="Shape 59"/>
          <p:cNvSpPr/>
          <p:nvPr/>
        </p:nvSpPr>
        <p:spPr>
          <a:xfrm>
            <a:off x="411480" y="4206240"/>
            <a:ext cx="3703320" cy="1417320"/>
          </a:xfrm>
          <a:prstGeom prst="roundRect">
            <a:avLst>
              <a:gd name="adj" fmla="val 2581"/>
            </a:avLst>
          </a:prstGeom>
          <a:solidFill>
            <a:srgbClr val="FDF6EC"/>
          </a:solidFill>
          <a:ln w="12700">
            <a:solidFill>
              <a:srgbClr val="E8CFA8"/>
            </a:solidFill>
            <a:prstDash val="solid"/>
          </a:ln>
        </p:spPr>
      </p:sp>
      <p:sp>
        <p:nvSpPr>
          <p:cNvPr id="62" name="Text 60"/>
          <p:cNvSpPr txBox="1"/>
          <p:nvPr/>
        </p:nvSpPr>
        <p:spPr>
          <a:xfrm>
            <a:off x="621792" y="4315968"/>
            <a:ext cx="3291840" cy="219456"/>
          </a:xfrm>
          <a:prstGeom prst="rect">
            <a:avLst/>
          </a:prstGeom>
          <a:noFill/>
          <a:ln/>
        </p:spPr>
        <p:txBody>
          <a:bodyPr wrap="square" lIns="0" tIns="0" rIns="0" bIns="0" rtlCol="0" anchor="ctr"/>
          <a:lstStyle/>
          <a:p>
            <a:pPr algn="l" indent="0" marL="0">
              <a:buNone/>
            </a:pPr>
            <a:r>
              <a:rPr lang="en-US" sz="950" b="1" dirty="0">
                <a:solidFill>
                  <a:srgbClr val="B4690E"/>
                </a:solidFill>
                <a:latin typeface="Segoe UI" pitchFamily="34" charset="0"/>
                <a:ea typeface="Segoe UI" pitchFamily="34" charset="-122"/>
                <a:cs typeface="Segoe UI" pitchFamily="34" charset="-120"/>
              </a:rPr>
              <a:t>AI &amp; ML IN THE LOOP</a:t>
            </a:r>
            <a:endParaRPr lang="en-US" sz="950" dirty="0"/>
          </a:p>
        </p:txBody>
      </p:sp>
      <p:sp>
        <p:nvSpPr>
          <p:cNvPr id="63" name="Text 61"/>
          <p:cNvSpPr txBox="1"/>
          <p:nvPr/>
        </p:nvSpPr>
        <p:spPr>
          <a:xfrm>
            <a:off x="621792" y="4590288"/>
            <a:ext cx="3291840" cy="914400"/>
          </a:xfrm>
          <a:prstGeom prst="rect">
            <a:avLst/>
          </a:prstGeom>
          <a:noFill/>
          <a:ln/>
        </p:spPr>
        <p:txBody>
          <a:bodyPr wrap="square" lIns="0" tIns="0" rIns="0" bIns="0" rtlCol="0" anchor="t"/>
          <a:lstStyle/>
          <a:p>
            <a:pPr marL="342900" indent="-342900">
              <a:spcAft>
                <a:spcPts val="300"/>
              </a:spcAft>
              <a:buSzPct val="100000"/>
              <a:buChar char="•"/>
            </a:pPr>
            <a:r>
              <a:rPr lang="en-US" sz="860" dirty="0">
                <a:solidFill>
                  <a:srgbClr val="354052"/>
                </a:solidFill>
                <a:latin typeface="Segoe UI" pitchFamily="34" charset="0"/>
                <a:ea typeface="Segoe UI" pitchFamily="34" charset="-122"/>
                <a:cs typeface="Segoe UI" pitchFamily="34" charset="-120"/>
              </a:rPr>
              <a:t>Amazon Bedrock — Claude 3 Sonnet on 6 agents</a:t>
            </a:r>
            <a:endParaRPr lang="en-US" sz="860" dirty="0"/>
          </a:p>
          <a:p>
            <a:pPr marL="342900" indent="-342900">
              <a:spcAft>
                <a:spcPts val="300"/>
              </a:spcAft>
              <a:buSzPct val="100000"/>
              <a:buChar char="•"/>
            </a:pPr>
            <a:r>
              <a:rPr lang="en-US" sz="860" dirty="0">
                <a:solidFill>
                  <a:srgbClr val="354052"/>
                </a:solidFill>
                <a:latin typeface="Segoe UI" pitchFamily="34" charset="0"/>
                <a:ea typeface="Segoe UI" pitchFamily="34" charset="-122"/>
                <a:cs typeface="Segoe UI" pitchFamily="34" charset="-120"/>
              </a:rPr>
              <a:t>Bedrock Guardrails applied to generated text</a:t>
            </a:r>
            <a:endParaRPr lang="en-US" sz="860" dirty="0"/>
          </a:p>
          <a:p>
            <a:pPr marL="342900" indent="-342900">
              <a:spcAft>
                <a:spcPts val="300"/>
              </a:spcAft>
              <a:buSzPct val="100000"/>
              <a:buChar char="•"/>
            </a:pPr>
            <a:r>
              <a:rPr lang="en-US" sz="860" dirty="0">
                <a:solidFill>
                  <a:srgbClr val="354052"/>
                </a:solidFill>
                <a:latin typeface="Segoe UI" pitchFamily="34" charset="0"/>
                <a:ea typeface="Segoe UI" pitchFamily="34" charset="-122"/>
                <a:cs typeface="Segoe UI" pitchFamily="34" charset="-120"/>
              </a:rPr>
              <a:t>Priority scores served from the scores table</a:t>
            </a:r>
            <a:endParaRPr lang="en-US" sz="860" dirty="0"/>
          </a:p>
          <a:p>
            <a:pPr marL="342900" indent="-342900">
              <a:spcAft>
                <a:spcPts val="300"/>
              </a:spcAft>
              <a:buSzPct val="100000"/>
              <a:buChar char="•"/>
            </a:pPr>
            <a:r>
              <a:rPr lang="en-US" sz="860" dirty="0">
                <a:solidFill>
                  <a:srgbClr val="354052"/>
                </a:solidFill>
                <a:latin typeface="Segoe UI" pitchFamily="34" charset="0"/>
                <a:ea typeface="Segoe UI" pitchFamily="34" charset="-122"/>
                <a:cs typeface="Segoe UI" pitchFamily="34" charset="-120"/>
              </a:rPr>
              <a:t>SageMaker endpoint — client ready, phase 2</a:t>
            </a:r>
            <a:endParaRPr lang="en-US" sz="860" dirty="0"/>
          </a:p>
        </p:txBody>
      </p:sp>
      <p:sp>
        <p:nvSpPr>
          <p:cNvPr id="64" name="Shape 62"/>
          <p:cNvSpPr/>
          <p:nvPr/>
        </p:nvSpPr>
        <p:spPr>
          <a:xfrm>
            <a:off x="4251960" y="4206240"/>
            <a:ext cx="3703320" cy="1417320"/>
          </a:xfrm>
          <a:prstGeom prst="roundRect">
            <a:avLst>
              <a:gd name="adj" fmla="val 2581"/>
            </a:avLst>
          </a:prstGeom>
          <a:solidFill>
            <a:srgbClr val="F0F8F4"/>
          </a:solidFill>
          <a:ln w="12700">
            <a:solidFill>
              <a:srgbClr val="A9D6BC"/>
            </a:solidFill>
            <a:prstDash val="solid"/>
          </a:ln>
        </p:spPr>
      </p:sp>
      <p:sp>
        <p:nvSpPr>
          <p:cNvPr id="65" name="Text 63"/>
          <p:cNvSpPr txBox="1"/>
          <p:nvPr/>
        </p:nvSpPr>
        <p:spPr>
          <a:xfrm>
            <a:off x="4462272" y="4315968"/>
            <a:ext cx="3291840" cy="219456"/>
          </a:xfrm>
          <a:prstGeom prst="rect">
            <a:avLst/>
          </a:prstGeom>
          <a:noFill/>
          <a:ln/>
        </p:spPr>
        <p:txBody>
          <a:bodyPr wrap="square" lIns="0" tIns="0" rIns="0" bIns="0" rtlCol="0" anchor="ctr"/>
          <a:lstStyle/>
          <a:p>
            <a:pPr algn="l" indent="0" marL="0">
              <a:buNone/>
            </a:pPr>
            <a:r>
              <a:rPr lang="en-US" sz="950" b="1" dirty="0">
                <a:solidFill>
                  <a:srgbClr val="1F7A4D"/>
                </a:solidFill>
                <a:latin typeface="Segoe UI" pitchFamily="34" charset="0"/>
                <a:ea typeface="Segoe UI" pitchFamily="34" charset="-122"/>
                <a:cs typeface="Segoe UI" pitchFamily="34" charset="-120"/>
              </a:rPr>
              <a:t>DATA FOUNDATION</a:t>
            </a:r>
            <a:endParaRPr lang="en-US" sz="950" dirty="0"/>
          </a:p>
        </p:txBody>
      </p:sp>
      <p:sp>
        <p:nvSpPr>
          <p:cNvPr id="66" name="Text 64"/>
          <p:cNvSpPr txBox="1"/>
          <p:nvPr/>
        </p:nvSpPr>
        <p:spPr>
          <a:xfrm>
            <a:off x="4462272" y="4590288"/>
            <a:ext cx="3291840" cy="914400"/>
          </a:xfrm>
          <a:prstGeom prst="rect">
            <a:avLst/>
          </a:prstGeom>
          <a:noFill/>
          <a:ln/>
        </p:spPr>
        <p:txBody>
          <a:bodyPr wrap="square" lIns="0" tIns="0" rIns="0" bIns="0" rtlCol="0" anchor="t"/>
          <a:lstStyle/>
          <a:p>
            <a:pPr marL="342900" indent="-342900">
              <a:spcAft>
                <a:spcPts val="300"/>
              </a:spcAft>
              <a:buSzPct val="100000"/>
              <a:buChar char="•"/>
            </a:pPr>
            <a:r>
              <a:rPr lang="en-US" sz="860" dirty="0">
                <a:solidFill>
                  <a:srgbClr val="354052"/>
                </a:solidFill>
                <a:latin typeface="Segoe UI" pitchFamily="34" charset="0"/>
                <a:ea typeface="Segoe UI" pitchFamily="34" charset="-122"/>
                <a:cs typeface="Segoe UI" pitchFamily="34" charset="-120"/>
              </a:rPr>
              <a:t>PostgreSQL 15 / RDS — 13-table domain model</a:t>
            </a:r>
            <a:endParaRPr lang="en-US" sz="860" dirty="0"/>
          </a:p>
          <a:p>
            <a:pPr marL="342900" indent="-342900">
              <a:spcAft>
                <a:spcPts val="300"/>
              </a:spcAft>
              <a:buSzPct val="100000"/>
              <a:buChar char="•"/>
            </a:pPr>
            <a:r>
              <a:rPr lang="en-US" sz="860" dirty="0">
                <a:solidFill>
                  <a:srgbClr val="354052"/>
                </a:solidFill>
                <a:latin typeface="Segoe UI" pitchFamily="34" charset="0"/>
                <a:ea typeface="Segoe UI" pitchFamily="34" charset="-122"/>
                <a:cs typeface="Segoe UI" pitchFamily="34" charset="-120"/>
              </a:rPr>
              <a:t>Async SQLAlchemy + asyncpg on the live path</a:t>
            </a:r>
            <a:endParaRPr lang="en-US" sz="860" dirty="0"/>
          </a:p>
          <a:p>
            <a:pPr marL="342900" indent="-342900">
              <a:spcAft>
                <a:spcPts val="300"/>
              </a:spcAft>
              <a:buSzPct val="100000"/>
              <a:buChar char="•"/>
            </a:pPr>
            <a:r>
              <a:rPr lang="en-US" sz="860" dirty="0">
                <a:solidFill>
                  <a:srgbClr val="354052"/>
                </a:solidFill>
                <a:latin typeface="Segoe UI" pitchFamily="34" charset="0"/>
                <a:ea typeface="Segoe UI" pitchFamily="34" charset="-122"/>
                <a:cs typeface="Segoe UI" pitchFamily="34" charset="-120"/>
              </a:rPr>
              <a:t>Seeded synthetic dataset — 13 CSV files</a:t>
            </a:r>
            <a:endParaRPr lang="en-US" sz="860" dirty="0"/>
          </a:p>
          <a:p>
            <a:pPr marL="342900" indent="-342900">
              <a:spcAft>
                <a:spcPts val="300"/>
              </a:spcAft>
              <a:buSzPct val="100000"/>
              <a:buChar char="•"/>
            </a:pPr>
            <a:r>
              <a:rPr lang="en-US" sz="860" dirty="0">
                <a:solidFill>
                  <a:srgbClr val="354052"/>
                </a:solidFill>
                <a:latin typeface="Segoe UI" pitchFamily="34" charset="0"/>
                <a:ea typeface="Segoe UI" pitchFamily="34" charset="-122"/>
                <a:cs typeface="Segoe UI" pitchFamily="34" charset="-120"/>
              </a:rPr>
              <a:t>Redis cache and NetworkX graph — scaffolded</a:t>
            </a:r>
            <a:endParaRPr lang="en-US" sz="860" dirty="0"/>
          </a:p>
        </p:txBody>
      </p:sp>
      <p:sp>
        <p:nvSpPr>
          <p:cNvPr id="67" name="Shape 65"/>
          <p:cNvSpPr/>
          <p:nvPr/>
        </p:nvSpPr>
        <p:spPr>
          <a:xfrm>
            <a:off x="8092440" y="4206240"/>
            <a:ext cx="3703320" cy="1417320"/>
          </a:xfrm>
          <a:prstGeom prst="roundRect">
            <a:avLst>
              <a:gd name="adj" fmla="val 2581"/>
            </a:avLst>
          </a:prstGeom>
          <a:solidFill>
            <a:srgbClr val="F4F7FB"/>
          </a:solidFill>
          <a:ln w="12700">
            <a:solidFill>
              <a:srgbClr val="CBD4E1"/>
            </a:solidFill>
            <a:prstDash val="solid"/>
          </a:ln>
        </p:spPr>
      </p:sp>
      <p:sp>
        <p:nvSpPr>
          <p:cNvPr id="68" name="Text 66"/>
          <p:cNvSpPr txBox="1"/>
          <p:nvPr/>
        </p:nvSpPr>
        <p:spPr>
          <a:xfrm>
            <a:off x="8302752" y="4315968"/>
            <a:ext cx="3291840" cy="219456"/>
          </a:xfrm>
          <a:prstGeom prst="rect">
            <a:avLst/>
          </a:prstGeom>
          <a:noFill/>
          <a:ln/>
        </p:spPr>
        <p:txBody>
          <a:bodyPr wrap="square" lIns="0" tIns="0" rIns="0" bIns="0" rtlCol="0" anchor="ctr"/>
          <a:lstStyle/>
          <a:p>
            <a:pPr algn="l" indent="0" marL="0">
              <a:buNone/>
            </a:pPr>
            <a:r>
              <a:rPr lang="en-US" sz="950" b="1" dirty="0">
                <a:solidFill>
                  <a:srgbClr val="0B2E5C"/>
                </a:solidFill>
                <a:latin typeface="Segoe UI" pitchFamily="34" charset="0"/>
                <a:ea typeface="Segoe UI" pitchFamily="34" charset="-122"/>
                <a:cs typeface="Segoe UI" pitchFamily="34" charset="-120"/>
              </a:rPr>
              <a:t>ENTERPRISE CONTROLS</a:t>
            </a:r>
            <a:endParaRPr lang="en-US" sz="950" dirty="0"/>
          </a:p>
        </p:txBody>
      </p:sp>
      <p:sp>
        <p:nvSpPr>
          <p:cNvPr id="69" name="Text 67"/>
          <p:cNvSpPr txBox="1"/>
          <p:nvPr/>
        </p:nvSpPr>
        <p:spPr>
          <a:xfrm>
            <a:off x="8302752" y="4590288"/>
            <a:ext cx="3291840" cy="914400"/>
          </a:xfrm>
          <a:prstGeom prst="rect">
            <a:avLst/>
          </a:prstGeom>
          <a:noFill/>
          <a:ln/>
        </p:spPr>
        <p:txBody>
          <a:bodyPr wrap="square" lIns="0" tIns="0" rIns="0" bIns="0" rtlCol="0" anchor="t"/>
          <a:lstStyle/>
          <a:p>
            <a:pPr marL="342900" indent="-342900">
              <a:spcAft>
                <a:spcPts val="300"/>
              </a:spcAft>
              <a:buSzPct val="100000"/>
              <a:buChar char="•"/>
            </a:pPr>
            <a:r>
              <a:rPr lang="en-US" sz="860" dirty="0">
                <a:solidFill>
                  <a:srgbClr val="354052"/>
                </a:solidFill>
                <a:latin typeface="Segoe UI" pitchFamily="34" charset="0"/>
                <a:ea typeface="Segoe UI" pitchFamily="34" charset="-122"/>
                <a:cs typeface="Segoe UI" pitchFamily="34" charset="-120"/>
              </a:rPr>
              <a:t>Cognito identity, JWT sessions, RBAC by role</a:t>
            </a:r>
            <a:endParaRPr lang="en-US" sz="860" dirty="0"/>
          </a:p>
          <a:p>
            <a:pPr marL="342900" indent="-342900">
              <a:spcAft>
                <a:spcPts val="300"/>
              </a:spcAft>
              <a:buSzPct val="100000"/>
              <a:buChar char="•"/>
            </a:pPr>
            <a:r>
              <a:rPr lang="en-US" sz="860" dirty="0">
                <a:solidFill>
                  <a:srgbClr val="354052"/>
                </a:solidFill>
                <a:latin typeface="Segoe UI" pitchFamily="34" charset="0"/>
                <a:ea typeface="Segoe UI" pitchFamily="34" charset="-122"/>
                <a:cs typeface="Segoe UI" pitchFamily="34" charset="-120"/>
              </a:rPr>
              <a:t>Tenant isolation scoped to area and DSP</a:t>
            </a:r>
            <a:endParaRPr lang="en-US" sz="860" dirty="0"/>
          </a:p>
          <a:p>
            <a:pPr marL="342900" indent="-342900">
              <a:spcAft>
                <a:spcPts val="300"/>
              </a:spcAft>
              <a:buSzPct val="100000"/>
              <a:buChar char="•"/>
            </a:pPr>
            <a:r>
              <a:rPr lang="en-US" sz="860" dirty="0">
                <a:solidFill>
                  <a:srgbClr val="354052"/>
                </a:solidFill>
                <a:latin typeface="Segoe UI" pitchFamily="34" charset="0"/>
                <a:ea typeface="Segoe UI" pitchFamily="34" charset="-122"/>
                <a:cs typeface="Segoe UI" pitchFamily="34" charset="-120"/>
              </a:rPr>
              <a:t>Audit middleware logs every request to CloudWatch</a:t>
            </a:r>
            <a:endParaRPr lang="en-US" sz="860" dirty="0"/>
          </a:p>
          <a:p>
            <a:pPr marL="342900" indent="-342900">
              <a:spcAft>
                <a:spcPts val="300"/>
              </a:spcAft>
              <a:buSzPct val="100000"/>
              <a:buChar char="•"/>
            </a:pPr>
            <a:r>
              <a:rPr lang="en-US" sz="860" dirty="0">
                <a:solidFill>
                  <a:srgbClr val="354052"/>
                </a:solidFill>
                <a:latin typeface="Segoe UI" pitchFamily="34" charset="0"/>
                <a:ea typeface="Segoe UI" pitchFamily="34" charset="-122"/>
                <a:cs typeface="Segoe UI" pitchFamily="34" charset="-120"/>
              </a:rPr>
              <a:t>AWS X-Ray traces every agent hop end to end</a:t>
            </a:r>
            <a:endParaRPr lang="en-US" sz="8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B2E5C"/>
          </a:solidFill>
          <a:ln/>
        </p:spPr>
      </p:sp>
      <p:sp>
        <p:nvSpPr>
          <p:cNvPr id="3" name="Text 1"/>
          <p:cNvSpPr txBox="1"/>
          <p:nvPr/>
        </p:nvSpPr>
        <p:spPr>
          <a:xfrm>
            <a:off x="411480" y="128016"/>
            <a:ext cx="640080" cy="530352"/>
          </a:xfrm>
          <a:prstGeom prst="rect">
            <a:avLst/>
          </a:prstGeom>
          <a:noFill/>
          <a:ln/>
        </p:spPr>
        <p:txBody>
          <a:bodyPr wrap="square" lIns="0" tIns="0" rIns="0" bIns="0" rtlCol="0" anchor="ctr"/>
          <a:lstStyle/>
          <a:p>
            <a:pPr algn="l" indent="0" marL="0">
              <a:buNone/>
            </a:pPr>
            <a:r>
              <a:rPr lang="en-US" sz="2600" b="1" dirty="0">
                <a:solidFill>
                  <a:srgbClr val="3D6FA8"/>
                </a:solidFill>
                <a:latin typeface="Segoe UI" pitchFamily="34" charset="0"/>
                <a:ea typeface="Segoe UI" pitchFamily="34" charset="-122"/>
                <a:cs typeface="Segoe UI" pitchFamily="34" charset="-120"/>
              </a:rPr>
              <a:t>03</a:t>
            </a:r>
            <a:endParaRPr lang="en-US" sz="2600" dirty="0"/>
          </a:p>
        </p:txBody>
      </p:sp>
      <p:sp>
        <p:nvSpPr>
          <p:cNvPr id="4" name="Text 2"/>
          <p:cNvSpPr txBox="1"/>
          <p:nvPr/>
        </p:nvSpPr>
        <p:spPr>
          <a:xfrm>
            <a:off x="1051560" y="109728"/>
            <a:ext cx="8412480" cy="329184"/>
          </a:xfrm>
          <a:prstGeom prst="rect">
            <a:avLst/>
          </a:prstGeom>
          <a:noFill/>
          <a:ln/>
        </p:spPr>
        <p:txBody>
          <a:bodyPr wrap="square" lIns="0" tIns="0" rIns="0" bIns="0" rtlCol="0" anchor="ctr"/>
          <a:lstStyle/>
          <a:p>
            <a:pPr indent="0" marL="0">
              <a:buNone/>
            </a:pPr>
            <a:r>
              <a:rPr lang="en-US" sz="2100" b="1" dirty="0">
                <a:solidFill>
                  <a:srgbClr val="FFFFFF"/>
                </a:solidFill>
                <a:latin typeface="Segoe UI" pitchFamily="34" charset="0"/>
                <a:ea typeface="Segoe UI" pitchFamily="34" charset="-122"/>
                <a:cs typeface="Segoe UI" pitchFamily="34" charset="-120"/>
              </a:rPr>
              <a:t>Solution Architecture</a:t>
            </a:r>
            <a:endParaRPr lang="en-US" sz="2100" dirty="0"/>
          </a:p>
        </p:txBody>
      </p:sp>
      <p:sp>
        <p:nvSpPr>
          <p:cNvPr id="5" name="Text 3"/>
          <p:cNvSpPr txBox="1"/>
          <p:nvPr/>
        </p:nvSpPr>
        <p:spPr>
          <a:xfrm>
            <a:off x="1051560" y="429768"/>
            <a:ext cx="9601200" cy="256032"/>
          </a:xfrm>
          <a:prstGeom prst="rect">
            <a:avLst/>
          </a:prstGeom>
          <a:noFill/>
          <a:ln/>
        </p:spPr>
        <p:txBody>
          <a:bodyPr wrap="square" lIns="0" tIns="0" rIns="0" bIns="0" rtlCol="0" anchor="ctr"/>
          <a:lstStyle/>
          <a:p>
            <a:pPr indent="0" marL="0">
              <a:buNone/>
            </a:pPr>
            <a:r>
              <a:rPr lang="en-US" sz="1050" dirty="0">
                <a:solidFill>
                  <a:srgbClr val="A9C0DE"/>
                </a:solidFill>
                <a:latin typeface="Segoe UI" pitchFamily="34" charset="0"/>
                <a:ea typeface="Segoe UI" pitchFamily="34" charset="-122"/>
                <a:cs typeface="Segoe UI" pitchFamily="34" charset="-120"/>
              </a:rPr>
              <a:t>Layered view — users, application, agent orchestration, AI services, data and controls</a:t>
            </a:r>
            <a:endParaRPr lang="en-US" sz="1050" dirty="0"/>
          </a:p>
        </p:txBody>
      </p:sp>
      <p:sp>
        <p:nvSpPr>
          <p:cNvPr id="6" name="Text 4"/>
          <p:cNvSpPr txBox="1"/>
          <p:nvPr/>
        </p:nvSpPr>
        <p:spPr>
          <a:xfrm>
            <a:off x="9357055" y="256032"/>
            <a:ext cx="2423160" cy="274320"/>
          </a:xfrm>
          <a:prstGeom prst="rect">
            <a:avLst/>
          </a:prstGeom>
          <a:noFill/>
          <a:ln/>
        </p:spPr>
        <p:txBody>
          <a:bodyPr wrap="square" lIns="0" tIns="0" rIns="0" bIns="0" rtlCol="0" anchor="ctr"/>
          <a:lstStyle/>
          <a:p>
            <a:pPr algn="r" indent="0" marL="0">
              <a:buNone/>
            </a:pPr>
            <a:r>
              <a:rPr lang="en-US" sz="1000" dirty="0">
                <a:solidFill>
                  <a:srgbClr val="7FA3CC"/>
                </a:solidFill>
                <a:latin typeface="Segoe UI" pitchFamily="34" charset="0"/>
                <a:ea typeface="Segoe UI" pitchFamily="34" charset="-122"/>
                <a:cs typeface="Segoe UI" pitchFamily="34" charset="-120"/>
              </a:rPr>
              <a:t>GCash Sales Coach AI</a:t>
            </a:r>
            <a:endParaRPr lang="en-US" sz="1000" dirty="0"/>
          </a:p>
        </p:txBody>
      </p:sp>
      <p:sp>
        <p:nvSpPr>
          <p:cNvPr id="7" name="Text 5"/>
          <p:cNvSpPr txBox="1"/>
          <p:nvPr/>
        </p:nvSpPr>
        <p:spPr>
          <a:xfrm>
            <a:off x="11140135" y="6473952"/>
            <a:ext cx="640080" cy="237744"/>
          </a:xfrm>
          <a:prstGeom prst="rect">
            <a:avLst/>
          </a:prstGeom>
          <a:noFill/>
          <a:ln/>
        </p:spPr>
        <p:txBody>
          <a:bodyPr wrap="square" lIns="0" tIns="0" rIns="0" bIns="0" rtlCol="0" anchor="ctr"/>
          <a:lstStyle/>
          <a:p>
            <a:pPr algn="r" indent="0" marL="0">
              <a:buNone/>
            </a:pPr>
            <a:r>
              <a:rPr lang="en-US" sz="900" dirty="0">
                <a:solidFill>
                  <a:srgbClr val="8A94A6"/>
                </a:solidFill>
                <a:latin typeface="Segoe UI" pitchFamily="34" charset="0"/>
                <a:ea typeface="Segoe UI" pitchFamily="34" charset="-122"/>
                <a:cs typeface="Segoe UI" pitchFamily="34" charset="-120"/>
              </a:rPr>
              <a:t>3 / 6</a:t>
            </a:r>
            <a:endParaRPr lang="en-US" sz="900" dirty="0"/>
          </a:p>
        </p:txBody>
      </p:sp>
      <p:sp>
        <p:nvSpPr>
          <p:cNvPr id="8" name="Shape 6"/>
          <p:cNvSpPr/>
          <p:nvPr/>
        </p:nvSpPr>
        <p:spPr>
          <a:xfrm>
            <a:off x="411480" y="932688"/>
            <a:ext cx="1691640" cy="2331720"/>
          </a:xfrm>
          <a:prstGeom prst="roundRect">
            <a:avLst>
              <a:gd name="adj" fmla="val 1622"/>
            </a:avLst>
          </a:prstGeom>
          <a:solidFill>
            <a:srgbClr val="FFFFFF"/>
          </a:solidFill>
          <a:ln w="12700">
            <a:solidFill>
              <a:srgbClr val="CBD4E1"/>
            </a:solidFill>
            <a:prstDash val="solid"/>
          </a:ln>
        </p:spPr>
      </p:sp>
      <p:sp>
        <p:nvSpPr>
          <p:cNvPr id="9" name="Shape 7"/>
          <p:cNvSpPr/>
          <p:nvPr/>
        </p:nvSpPr>
        <p:spPr>
          <a:xfrm>
            <a:off x="411480" y="932688"/>
            <a:ext cx="1691640" cy="237744"/>
          </a:xfrm>
          <a:prstGeom prst="rect">
            <a:avLst/>
          </a:prstGeom>
          <a:solidFill>
            <a:srgbClr val="0B2E5C"/>
          </a:solidFill>
          <a:ln/>
        </p:spPr>
      </p:sp>
      <p:sp>
        <p:nvSpPr>
          <p:cNvPr id="10" name="Text 8"/>
          <p:cNvSpPr txBox="1"/>
          <p:nvPr/>
        </p:nvSpPr>
        <p:spPr>
          <a:xfrm>
            <a:off x="521208" y="932688"/>
            <a:ext cx="1472184" cy="237744"/>
          </a:xfrm>
          <a:prstGeom prst="rect">
            <a:avLst/>
          </a:prstGeom>
          <a:noFill/>
          <a:ln/>
        </p:spPr>
        <p:txBody>
          <a:bodyPr wrap="square" lIns="0" tIns="0" rIns="0" bIns="0" rtlCol="0" anchor="ctr"/>
          <a:lstStyle/>
          <a:p>
            <a:pPr indent="0" marL="0">
              <a:buNone/>
            </a:pPr>
            <a:r>
              <a:rPr lang="en-US" sz="880" b="1" dirty="0">
                <a:solidFill>
                  <a:srgbClr val="FFFFFF"/>
                </a:solidFill>
                <a:latin typeface="Segoe UI" pitchFamily="34" charset="0"/>
                <a:ea typeface="Segoe UI" pitchFamily="34" charset="-122"/>
                <a:cs typeface="Segoe UI" pitchFamily="34" charset="-120"/>
              </a:rPr>
              <a:t>USERS</a:t>
            </a:r>
            <a:endParaRPr lang="en-US" sz="880" dirty="0"/>
          </a:p>
        </p:txBody>
      </p:sp>
      <p:sp>
        <p:nvSpPr>
          <p:cNvPr id="11" name="Shape 9"/>
          <p:cNvSpPr/>
          <p:nvPr/>
        </p:nvSpPr>
        <p:spPr>
          <a:xfrm>
            <a:off x="530352" y="1243584"/>
            <a:ext cx="1453896" cy="566928"/>
          </a:xfrm>
          <a:prstGeom prst="roundRect">
            <a:avLst>
              <a:gd name="adj" fmla="val 4839"/>
            </a:avLst>
          </a:prstGeom>
          <a:solidFill>
            <a:srgbClr val="EDF3FB"/>
          </a:solidFill>
          <a:ln w="9525">
            <a:solidFill>
              <a:srgbClr val="C3D6EE"/>
            </a:solidFill>
            <a:prstDash val="solid"/>
          </a:ln>
        </p:spPr>
      </p:sp>
      <p:sp>
        <p:nvSpPr>
          <p:cNvPr id="12" name="Text 10"/>
          <p:cNvSpPr txBox="1"/>
          <p:nvPr/>
        </p:nvSpPr>
        <p:spPr>
          <a:xfrm>
            <a:off x="594360" y="1271016"/>
            <a:ext cx="1325880" cy="173736"/>
          </a:xfrm>
          <a:prstGeom prst="rect">
            <a:avLst/>
          </a:prstGeom>
          <a:noFill/>
          <a:ln/>
        </p:spPr>
        <p:txBody>
          <a:bodyPr wrap="square" lIns="0" tIns="0" rIns="0" bIns="0" rtlCol="0" anchor="ctr"/>
          <a:lstStyle/>
          <a:p>
            <a:pPr indent="0" marL="0">
              <a:buNone/>
            </a:pPr>
            <a:r>
              <a:rPr lang="en-US" sz="800" b="1" dirty="0">
                <a:solidFill>
                  <a:srgbClr val="0B2E5C"/>
                </a:solidFill>
                <a:latin typeface="Segoe UI" pitchFamily="34" charset="0"/>
                <a:ea typeface="Segoe UI" pitchFamily="34" charset="-122"/>
                <a:cs typeface="Segoe UI" pitchFamily="34" charset="-120"/>
              </a:rPr>
              <a:t>DSP — Field Agent</a:t>
            </a:r>
            <a:endParaRPr lang="en-US" sz="800" dirty="0"/>
          </a:p>
        </p:txBody>
      </p:sp>
      <p:sp>
        <p:nvSpPr>
          <p:cNvPr id="13" name="Text 11"/>
          <p:cNvSpPr txBox="1"/>
          <p:nvPr/>
        </p:nvSpPr>
        <p:spPr>
          <a:xfrm>
            <a:off x="594360" y="1426464"/>
            <a:ext cx="1325880" cy="365760"/>
          </a:xfrm>
          <a:prstGeom prst="rect">
            <a:avLst/>
          </a:prstGeom>
          <a:noFill/>
          <a:ln/>
        </p:spPr>
        <p:txBody>
          <a:bodyPr wrap="square" lIns="0" tIns="0" rIns="0" bIns="0" rtlCol="0" anchor="ctr"/>
          <a:lstStyle/>
          <a:p>
            <a:pPr indent="0" marL="0">
              <a:buNone/>
            </a:pPr>
            <a:r>
              <a:rPr lang="en-US" sz="690" dirty="0">
                <a:solidFill>
                  <a:srgbClr val="5B6577"/>
                </a:solidFill>
                <a:latin typeface="Segoe UI" pitchFamily="34" charset="0"/>
                <a:ea typeface="Segoe UI" pitchFamily="34" charset="-122"/>
                <a:cs typeface="Segoe UI" pitchFamily="34" charset="-120"/>
              </a:rPr>
              <a:t>Visit list · next-best action · brief</a:t>
            </a:r>
            <a:endParaRPr lang="en-US" sz="690" dirty="0"/>
          </a:p>
        </p:txBody>
      </p:sp>
      <p:sp>
        <p:nvSpPr>
          <p:cNvPr id="14" name="Shape 12"/>
          <p:cNvSpPr/>
          <p:nvPr/>
        </p:nvSpPr>
        <p:spPr>
          <a:xfrm>
            <a:off x="530352" y="1901952"/>
            <a:ext cx="1453896" cy="566928"/>
          </a:xfrm>
          <a:prstGeom prst="roundRect">
            <a:avLst>
              <a:gd name="adj" fmla="val 4839"/>
            </a:avLst>
          </a:prstGeom>
          <a:solidFill>
            <a:srgbClr val="EDF3FB"/>
          </a:solidFill>
          <a:ln w="9525">
            <a:solidFill>
              <a:srgbClr val="C3D6EE"/>
            </a:solidFill>
            <a:prstDash val="solid"/>
          </a:ln>
        </p:spPr>
      </p:sp>
      <p:sp>
        <p:nvSpPr>
          <p:cNvPr id="15" name="Text 13"/>
          <p:cNvSpPr txBox="1"/>
          <p:nvPr/>
        </p:nvSpPr>
        <p:spPr>
          <a:xfrm>
            <a:off x="594360" y="1929384"/>
            <a:ext cx="1325880" cy="173736"/>
          </a:xfrm>
          <a:prstGeom prst="rect">
            <a:avLst/>
          </a:prstGeom>
          <a:noFill/>
          <a:ln/>
        </p:spPr>
        <p:txBody>
          <a:bodyPr wrap="square" lIns="0" tIns="0" rIns="0" bIns="0" rtlCol="0" anchor="ctr"/>
          <a:lstStyle/>
          <a:p>
            <a:pPr indent="0" marL="0">
              <a:buNone/>
            </a:pPr>
            <a:r>
              <a:rPr lang="en-US" sz="800" b="1" dirty="0">
                <a:solidFill>
                  <a:srgbClr val="0B2E5C"/>
                </a:solidFill>
                <a:latin typeface="Segoe UI" pitchFamily="34" charset="0"/>
                <a:ea typeface="Segoe UI" pitchFamily="34" charset="-122"/>
                <a:cs typeface="Segoe UI" pitchFamily="34" charset="-120"/>
              </a:rPr>
              <a:t>Sales Manager</a:t>
            </a:r>
            <a:endParaRPr lang="en-US" sz="800" dirty="0"/>
          </a:p>
        </p:txBody>
      </p:sp>
      <p:sp>
        <p:nvSpPr>
          <p:cNvPr id="16" name="Text 14"/>
          <p:cNvSpPr txBox="1"/>
          <p:nvPr/>
        </p:nvSpPr>
        <p:spPr>
          <a:xfrm>
            <a:off x="594360" y="2084832"/>
            <a:ext cx="1325880" cy="365760"/>
          </a:xfrm>
          <a:prstGeom prst="rect">
            <a:avLst/>
          </a:prstGeom>
          <a:noFill/>
          <a:ln/>
        </p:spPr>
        <p:txBody>
          <a:bodyPr wrap="square" lIns="0" tIns="0" rIns="0" bIns="0" rtlCol="0" anchor="ctr"/>
          <a:lstStyle/>
          <a:p>
            <a:pPr indent="0" marL="0">
              <a:buNone/>
            </a:pPr>
            <a:r>
              <a:rPr lang="en-US" sz="690" dirty="0">
                <a:solidFill>
                  <a:srgbClr val="5B6577"/>
                </a:solidFill>
                <a:latin typeface="Segoe UI" pitchFamily="34" charset="0"/>
                <a:ea typeface="Segoe UI" pitchFamily="34" charset="-122"/>
                <a:cs typeface="Segoe UI" pitchFamily="34" charset="-120"/>
              </a:rPr>
              <a:t>Team, portfolio &amp; churn view</a:t>
            </a:r>
            <a:endParaRPr lang="en-US" sz="690" dirty="0"/>
          </a:p>
        </p:txBody>
      </p:sp>
      <p:sp>
        <p:nvSpPr>
          <p:cNvPr id="17" name="Shape 15"/>
          <p:cNvSpPr/>
          <p:nvPr/>
        </p:nvSpPr>
        <p:spPr>
          <a:xfrm>
            <a:off x="530352" y="2560320"/>
            <a:ext cx="1453896" cy="566928"/>
          </a:xfrm>
          <a:prstGeom prst="roundRect">
            <a:avLst>
              <a:gd name="adj" fmla="val 4839"/>
            </a:avLst>
          </a:prstGeom>
          <a:solidFill>
            <a:srgbClr val="EDF3FB"/>
          </a:solidFill>
          <a:ln w="9525">
            <a:solidFill>
              <a:srgbClr val="C3D6EE"/>
            </a:solidFill>
            <a:prstDash val="solid"/>
          </a:ln>
        </p:spPr>
      </p:sp>
      <p:sp>
        <p:nvSpPr>
          <p:cNvPr id="18" name="Text 16"/>
          <p:cNvSpPr txBox="1"/>
          <p:nvPr/>
        </p:nvSpPr>
        <p:spPr>
          <a:xfrm>
            <a:off x="594360" y="2587752"/>
            <a:ext cx="1325880" cy="173736"/>
          </a:xfrm>
          <a:prstGeom prst="rect">
            <a:avLst/>
          </a:prstGeom>
          <a:noFill/>
          <a:ln/>
        </p:spPr>
        <p:txBody>
          <a:bodyPr wrap="square" lIns="0" tIns="0" rIns="0" bIns="0" rtlCol="0" anchor="ctr"/>
          <a:lstStyle/>
          <a:p>
            <a:pPr indent="0" marL="0">
              <a:buNone/>
            </a:pPr>
            <a:r>
              <a:rPr lang="en-US" sz="800" b="1" dirty="0">
                <a:solidFill>
                  <a:srgbClr val="0B2E5C"/>
                </a:solidFill>
                <a:latin typeface="Segoe UI" pitchFamily="34" charset="0"/>
                <a:ea typeface="Segoe UI" pitchFamily="34" charset="-122"/>
                <a:cs typeface="Segoe UI" pitchFamily="34" charset="-120"/>
              </a:rPr>
              <a:t>Admin / Ops</a:t>
            </a:r>
            <a:endParaRPr lang="en-US" sz="800" dirty="0"/>
          </a:p>
        </p:txBody>
      </p:sp>
      <p:sp>
        <p:nvSpPr>
          <p:cNvPr id="19" name="Text 17"/>
          <p:cNvSpPr txBox="1"/>
          <p:nvPr/>
        </p:nvSpPr>
        <p:spPr>
          <a:xfrm>
            <a:off x="594360" y="2743200"/>
            <a:ext cx="1325880" cy="365760"/>
          </a:xfrm>
          <a:prstGeom prst="rect">
            <a:avLst/>
          </a:prstGeom>
          <a:noFill/>
          <a:ln/>
        </p:spPr>
        <p:txBody>
          <a:bodyPr wrap="square" lIns="0" tIns="0" rIns="0" bIns="0" rtlCol="0" anchor="ctr"/>
          <a:lstStyle/>
          <a:p>
            <a:pPr indent="0" marL="0">
              <a:buNone/>
            </a:pPr>
            <a:r>
              <a:rPr lang="en-US" sz="690" dirty="0">
                <a:solidFill>
                  <a:srgbClr val="5B6577"/>
                </a:solidFill>
                <a:latin typeface="Segoe UI" pitchFamily="34" charset="0"/>
                <a:ea typeface="Segoe UI" pitchFamily="34" charset="-122"/>
                <a:cs typeface="Segoe UI" pitchFamily="34" charset="-120"/>
              </a:rPr>
              <a:t>Thresholds · RBAC · territories</a:t>
            </a:r>
            <a:endParaRPr lang="en-US" sz="690" dirty="0"/>
          </a:p>
        </p:txBody>
      </p:sp>
      <p:sp>
        <p:nvSpPr>
          <p:cNvPr id="20" name="Shape 18"/>
          <p:cNvSpPr/>
          <p:nvPr/>
        </p:nvSpPr>
        <p:spPr>
          <a:xfrm>
            <a:off x="411480" y="3401568"/>
            <a:ext cx="1691640" cy="868680"/>
          </a:xfrm>
          <a:prstGeom prst="roundRect">
            <a:avLst>
              <a:gd name="adj" fmla="val 3158"/>
            </a:avLst>
          </a:prstGeom>
          <a:solidFill>
            <a:srgbClr val="FFFFFF"/>
          </a:solidFill>
          <a:ln w="12700">
            <a:solidFill>
              <a:srgbClr val="CBD4E1"/>
            </a:solidFill>
            <a:prstDash val="solid"/>
          </a:ln>
        </p:spPr>
      </p:sp>
      <p:sp>
        <p:nvSpPr>
          <p:cNvPr id="21" name="Shape 19"/>
          <p:cNvSpPr/>
          <p:nvPr/>
        </p:nvSpPr>
        <p:spPr>
          <a:xfrm>
            <a:off x="411480" y="3401568"/>
            <a:ext cx="1691640" cy="237744"/>
          </a:xfrm>
          <a:prstGeom prst="rect">
            <a:avLst/>
          </a:prstGeom>
          <a:solidFill>
            <a:srgbClr val="1476D2"/>
          </a:solidFill>
          <a:ln/>
        </p:spPr>
      </p:sp>
      <p:sp>
        <p:nvSpPr>
          <p:cNvPr id="22" name="Text 20"/>
          <p:cNvSpPr txBox="1"/>
          <p:nvPr/>
        </p:nvSpPr>
        <p:spPr>
          <a:xfrm>
            <a:off x="521208" y="3401568"/>
            <a:ext cx="1472184" cy="237744"/>
          </a:xfrm>
          <a:prstGeom prst="rect">
            <a:avLst/>
          </a:prstGeom>
          <a:noFill/>
          <a:ln/>
        </p:spPr>
        <p:txBody>
          <a:bodyPr wrap="square" lIns="0" tIns="0" rIns="0" bIns="0" rtlCol="0" anchor="ctr"/>
          <a:lstStyle/>
          <a:p>
            <a:pPr indent="0" marL="0">
              <a:buNone/>
            </a:pPr>
            <a:r>
              <a:rPr lang="en-US" sz="880" b="1" dirty="0">
                <a:solidFill>
                  <a:srgbClr val="FFFFFF"/>
                </a:solidFill>
                <a:latin typeface="Segoe UI" pitchFamily="34" charset="0"/>
                <a:ea typeface="Segoe UI" pitchFamily="34" charset="-122"/>
                <a:cs typeface="Segoe UI" pitchFamily="34" charset="-120"/>
              </a:rPr>
              <a:t>CHANNELS</a:t>
            </a:r>
            <a:endParaRPr lang="en-US" sz="880" dirty="0"/>
          </a:p>
        </p:txBody>
      </p:sp>
      <p:sp>
        <p:nvSpPr>
          <p:cNvPr id="23" name="Shape 21"/>
          <p:cNvSpPr/>
          <p:nvPr/>
        </p:nvSpPr>
        <p:spPr>
          <a:xfrm>
            <a:off x="530352" y="3703320"/>
            <a:ext cx="1453896" cy="237744"/>
          </a:xfrm>
          <a:prstGeom prst="roundRect">
            <a:avLst>
              <a:gd name="adj" fmla="val 11538"/>
            </a:avLst>
          </a:prstGeom>
          <a:solidFill>
            <a:srgbClr val="FFFFFF"/>
          </a:solidFill>
          <a:ln w="9525">
            <a:solidFill>
              <a:srgbClr val="CBD4E1"/>
            </a:solidFill>
            <a:prstDash val="solid"/>
          </a:ln>
        </p:spPr>
      </p:sp>
      <p:sp>
        <p:nvSpPr>
          <p:cNvPr id="24" name="Text 22"/>
          <p:cNvSpPr txBox="1"/>
          <p:nvPr/>
        </p:nvSpPr>
        <p:spPr>
          <a:xfrm>
            <a:off x="594360" y="3730752"/>
            <a:ext cx="1325880" cy="173736"/>
          </a:xfrm>
          <a:prstGeom prst="rect">
            <a:avLst/>
          </a:prstGeom>
          <a:noFill/>
          <a:ln/>
        </p:spPr>
        <p:txBody>
          <a:bodyPr wrap="square" lIns="0" tIns="0" rIns="0" bIns="0" rtlCol="0" anchor="ctr"/>
          <a:lstStyle/>
          <a:p>
            <a:pPr indent="0" marL="0">
              <a:buNone/>
            </a:pPr>
            <a:r>
              <a:rPr lang="en-US" sz="800" b="1" dirty="0">
                <a:solidFill>
                  <a:srgbClr val="0B2E5C"/>
                </a:solidFill>
                <a:latin typeface="Segoe UI" pitchFamily="34" charset="0"/>
                <a:ea typeface="Segoe UI" pitchFamily="34" charset="-122"/>
                <a:cs typeface="Segoe UI" pitchFamily="34" charset="-120"/>
              </a:rPr>
              <a:t>Web UI (Jinja2)</a:t>
            </a:r>
            <a:endParaRPr lang="en-US" sz="800" dirty="0"/>
          </a:p>
        </p:txBody>
      </p:sp>
      <p:sp>
        <p:nvSpPr>
          <p:cNvPr id="25" name="Shape 23"/>
          <p:cNvSpPr/>
          <p:nvPr/>
        </p:nvSpPr>
        <p:spPr>
          <a:xfrm>
            <a:off x="530352" y="3968496"/>
            <a:ext cx="1453896" cy="237744"/>
          </a:xfrm>
          <a:prstGeom prst="roundRect">
            <a:avLst>
              <a:gd name="adj" fmla="val 11538"/>
            </a:avLst>
          </a:prstGeom>
          <a:solidFill>
            <a:srgbClr val="FFFFFF"/>
          </a:solidFill>
          <a:ln w="9525">
            <a:solidFill>
              <a:srgbClr val="CBD4E1"/>
            </a:solidFill>
            <a:prstDash val="solid"/>
          </a:ln>
        </p:spPr>
      </p:sp>
      <p:sp>
        <p:nvSpPr>
          <p:cNvPr id="26" name="Text 24"/>
          <p:cNvSpPr txBox="1"/>
          <p:nvPr/>
        </p:nvSpPr>
        <p:spPr>
          <a:xfrm>
            <a:off x="594360" y="3995928"/>
            <a:ext cx="1325880" cy="173736"/>
          </a:xfrm>
          <a:prstGeom prst="rect">
            <a:avLst/>
          </a:prstGeom>
          <a:noFill/>
          <a:ln/>
        </p:spPr>
        <p:txBody>
          <a:bodyPr wrap="square" lIns="0" tIns="0" rIns="0" bIns="0" rtlCol="0" anchor="ctr"/>
          <a:lstStyle/>
          <a:p>
            <a:pPr indent="0" marL="0">
              <a:buNone/>
            </a:pPr>
            <a:r>
              <a:rPr lang="en-US" sz="800" b="1" dirty="0">
                <a:solidFill>
                  <a:srgbClr val="0B2E5C"/>
                </a:solidFill>
                <a:latin typeface="Segoe UI" pitchFamily="34" charset="0"/>
                <a:ea typeface="Segoe UI" pitchFamily="34" charset="-122"/>
                <a:cs typeface="Segoe UI" pitchFamily="34" charset="-120"/>
              </a:rPr>
              <a:t>REST API + Swagger</a:t>
            </a:r>
            <a:endParaRPr lang="en-US" sz="800" dirty="0"/>
          </a:p>
        </p:txBody>
      </p:sp>
      <p:sp>
        <p:nvSpPr>
          <p:cNvPr id="27" name="Shape 25"/>
          <p:cNvSpPr/>
          <p:nvPr/>
        </p:nvSpPr>
        <p:spPr>
          <a:xfrm>
            <a:off x="2240280" y="932688"/>
            <a:ext cx="7452360" cy="841248"/>
          </a:xfrm>
          <a:prstGeom prst="roundRect">
            <a:avLst>
              <a:gd name="adj" fmla="val 3261"/>
            </a:avLst>
          </a:prstGeom>
          <a:solidFill>
            <a:srgbClr val="FFFFFF"/>
          </a:solidFill>
          <a:ln w="12700">
            <a:solidFill>
              <a:srgbClr val="CBD4E1"/>
            </a:solidFill>
            <a:prstDash val="solid"/>
          </a:ln>
        </p:spPr>
      </p:sp>
      <p:sp>
        <p:nvSpPr>
          <p:cNvPr id="28" name="Shape 26"/>
          <p:cNvSpPr/>
          <p:nvPr/>
        </p:nvSpPr>
        <p:spPr>
          <a:xfrm>
            <a:off x="2240280" y="932688"/>
            <a:ext cx="7452360" cy="237744"/>
          </a:xfrm>
          <a:prstGeom prst="rect">
            <a:avLst/>
          </a:prstGeom>
          <a:solidFill>
            <a:srgbClr val="0A5CB8"/>
          </a:solidFill>
          <a:ln/>
        </p:spPr>
      </p:sp>
      <p:sp>
        <p:nvSpPr>
          <p:cNvPr id="29" name="Text 27"/>
          <p:cNvSpPr txBox="1"/>
          <p:nvPr/>
        </p:nvSpPr>
        <p:spPr>
          <a:xfrm>
            <a:off x="2350008" y="932688"/>
            <a:ext cx="7232904" cy="237744"/>
          </a:xfrm>
          <a:prstGeom prst="rect">
            <a:avLst/>
          </a:prstGeom>
          <a:noFill/>
          <a:ln/>
        </p:spPr>
        <p:txBody>
          <a:bodyPr wrap="square" lIns="0" tIns="0" rIns="0" bIns="0" rtlCol="0" anchor="ctr"/>
          <a:lstStyle/>
          <a:p>
            <a:pPr indent="0" marL="0">
              <a:buNone/>
            </a:pPr>
            <a:r>
              <a:rPr lang="en-US" sz="880" b="1" dirty="0">
                <a:solidFill>
                  <a:srgbClr val="FFFFFF"/>
                </a:solidFill>
                <a:latin typeface="Segoe UI" pitchFamily="34" charset="0"/>
                <a:ea typeface="Segoe UI" pitchFamily="34" charset="-122"/>
                <a:cs typeface="Segoe UI" pitchFamily="34" charset="-120"/>
              </a:rPr>
              <a:t>APPLICATION LAYER  —  FastAPI (async, Python 3.11)</a:t>
            </a:r>
            <a:endParaRPr lang="en-US" sz="880" dirty="0"/>
          </a:p>
        </p:txBody>
      </p:sp>
      <p:sp>
        <p:nvSpPr>
          <p:cNvPr id="30" name="Shape 28"/>
          <p:cNvSpPr/>
          <p:nvPr/>
        </p:nvSpPr>
        <p:spPr>
          <a:xfrm>
            <a:off x="2350008" y="1234440"/>
            <a:ext cx="2331720" cy="457200"/>
          </a:xfrm>
          <a:prstGeom prst="roundRect">
            <a:avLst>
              <a:gd name="adj" fmla="val 6000"/>
            </a:avLst>
          </a:prstGeom>
          <a:solidFill>
            <a:srgbClr val="EDF3FB"/>
          </a:solidFill>
          <a:ln w="9525">
            <a:solidFill>
              <a:srgbClr val="C3D6EE"/>
            </a:solidFill>
            <a:prstDash val="solid"/>
          </a:ln>
        </p:spPr>
      </p:sp>
      <p:sp>
        <p:nvSpPr>
          <p:cNvPr id="31" name="Text 29"/>
          <p:cNvSpPr txBox="1"/>
          <p:nvPr/>
        </p:nvSpPr>
        <p:spPr>
          <a:xfrm>
            <a:off x="2414016" y="1261872"/>
            <a:ext cx="2203704" cy="173736"/>
          </a:xfrm>
          <a:prstGeom prst="rect">
            <a:avLst/>
          </a:prstGeom>
          <a:noFill/>
          <a:ln/>
        </p:spPr>
        <p:txBody>
          <a:bodyPr wrap="square" lIns="0" tIns="0" rIns="0" bIns="0" rtlCol="0" anchor="ctr"/>
          <a:lstStyle/>
          <a:p>
            <a:pPr indent="0" marL="0">
              <a:buNone/>
            </a:pPr>
            <a:r>
              <a:rPr lang="en-US" sz="800" b="1" dirty="0">
                <a:solidFill>
                  <a:srgbClr val="0A5CB8"/>
                </a:solidFill>
                <a:latin typeface="Segoe UI" pitchFamily="34" charset="0"/>
                <a:ea typeface="Segoe UI" pitchFamily="34" charset="-122"/>
                <a:cs typeface="Segoe UI" pitchFamily="34" charset="-120"/>
              </a:rPr>
              <a:t>API Routes</a:t>
            </a:r>
            <a:endParaRPr lang="en-US" sz="800" dirty="0"/>
          </a:p>
        </p:txBody>
      </p:sp>
      <p:sp>
        <p:nvSpPr>
          <p:cNvPr id="32" name="Text 30"/>
          <p:cNvSpPr txBox="1"/>
          <p:nvPr/>
        </p:nvSpPr>
        <p:spPr>
          <a:xfrm>
            <a:off x="2414016" y="1417320"/>
            <a:ext cx="2203704" cy="256032"/>
          </a:xfrm>
          <a:prstGeom prst="rect">
            <a:avLst/>
          </a:prstGeom>
          <a:noFill/>
          <a:ln/>
        </p:spPr>
        <p:txBody>
          <a:bodyPr wrap="square" lIns="0" tIns="0" rIns="0" bIns="0" rtlCol="0" anchor="ctr"/>
          <a:lstStyle/>
          <a:p>
            <a:pPr indent="0" marL="0">
              <a:buNone/>
            </a:pPr>
            <a:r>
              <a:rPr lang="en-US" sz="690" dirty="0">
                <a:solidFill>
                  <a:srgbClr val="5B6577"/>
                </a:solidFill>
                <a:latin typeface="Segoe UI" pitchFamily="34" charset="0"/>
                <a:ea typeface="Segoe UI" pitchFamily="34" charset="-122"/>
                <a:cs typeface="Segoe UI" pitchFamily="34" charset="-120"/>
              </a:rPr>
              <a:t>auth · outlets · briefs · actions · ask · manager · admin</a:t>
            </a:r>
            <a:endParaRPr lang="en-US" sz="690" dirty="0"/>
          </a:p>
        </p:txBody>
      </p:sp>
      <p:sp>
        <p:nvSpPr>
          <p:cNvPr id="33" name="Shape 31"/>
          <p:cNvSpPr/>
          <p:nvPr/>
        </p:nvSpPr>
        <p:spPr>
          <a:xfrm>
            <a:off x="4782312" y="1234440"/>
            <a:ext cx="2331720" cy="457200"/>
          </a:xfrm>
          <a:prstGeom prst="roundRect">
            <a:avLst>
              <a:gd name="adj" fmla="val 6000"/>
            </a:avLst>
          </a:prstGeom>
          <a:solidFill>
            <a:srgbClr val="EDF3FB"/>
          </a:solidFill>
          <a:ln w="9525">
            <a:solidFill>
              <a:srgbClr val="C3D6EE"/>
            </a:solidFill>
            <a:prstDash val="solid"/>
          </a:ln>
        </p:spPr>
      </p:sp>
      <p:sp>
        <p:nvSpPr>
          <p:cNvPr id="34" name="Text 32"/>
          <p:cNvSpPr txBox="1"/>
          <p:nvPr/>
        </p:nvSpPr>
        <p:spPr>
          <a:xfrm>
            <a:off x="4846320" y="1261872"/>
            <a:ext cx="2203704" cy="173736"/>
          </a:xfrm>
          <a:prstGeom prst="rect">
            <a:avLst/>
          </a:prstGeom>
          <a:noFill/>
          <a:ln/>
        </p:spPr>
        <p:txBody>
          <a:bodyPr wrap="square" lIns="0" tIns="0" rIns="0" bIns="0" rtlCol="0" anchor="ctr"/>
          <a:lstStyle/>
          <a:p>
            <a:pPr indent="0" marL="0">
              <a:buNone/>
            </a:pPr>
            <a:r>
              <a:rPr lang="en-US" sz="800" b="1" dirty="0">
                <a:solidFill>
                  <a:srgbClr val="0A5CB8"/>
                </a:solidFill>
                <a:latin typeface="Segoe UI" pitchFamily="34" charset="0"/>
                <a:ea typeface="Segoe UI" pitchFamily="34" charset="-122"/>
                <a:cs typeface="Segoe UI" pitchFamily="34" charset="-120"/>
              </a:rPr>
              <a:t>Middleware</a:t>
            </a:r>
            <a:endParaRPr lang="en-US" sz="800" dirty="0"/>
          </a:p>
        </p:txBody>
      </p:sp>
      <p:sp>
        <p:nvSpPr>
          <p:cNvPr id="35" name="Text 33"/>
          <p:cNvSpPr txBox="1"/>
          <p:nvPr/>
        </p:nvSpPr>
        <p:spPr>
          <a:xfrm>
            <a:off x="4846320" y="1417320"/>
            <a:ext cx="2203704" cy="256032"/>
          </a:xfrm>
          <a:prstGeom prst="rect">
            <a:avLst/>
          </a:prstGeom>
          <a:noFill/>
          <a:ln/>
        </p:spPr>
        <p:txBody>
          <a:bodyPr wrap="square" lIns="0" tIns="0" rIns="0" bIns="0" rtlCol="0" anchor="ctr"/>
          <a:lstStyle/>
          <a:p>
            <a:pPr indent="0" marL="0">
              <a:buNone/>
            </a:pPr>
            <a:r>
              <a:rPr lang="en-US" sz="690" dirty="0">
                <a:solidFill>
                  <a:srgbClr val="5B6577"/>
                </a:solidFill>
                <a:latin typeface="Segoe UI" pitchFamily="34" charset="0"/>
                <a:ea typeface="Segoe UI" pitchFamily="34" charset="-122"/>
                <a:cs typeface="Segoe UI" pitchFamily="34" charset="-120"/>
              </a:rPr>
              <a:t>tenant · RBAC · audit · X-Ray</a:t>
            </a:r>
            <a:endParaRPr lang="en-US" sz="690" dirty="0"/>
          </a:p>
        </p:txBody>
      </p:sp>
      <p:sp>
        <p:nvSpPr>
          <p:cNvPr id="36" name="Shape 34"/>
          <p:cNvSpPr/>
          <p:nvPr/>
        </p:nvSpPr>
        <p:spPr>
          <a:xfrm>
            <a:off x="7214616" y="1234440"/>
            <a:ext cx="2331720" cy="457200"/>
          </a:xfrm>
          <a:prstGeom prst="roundRect">
            <a:avLst>
              <a:gd name="adj" fmla="val 6000"/>
            </a:avLst>
          </a:prstGeom>
          <a:solidFill>
            <a:srgbClr val="EDF3FB"/>
          </a:solidFill>
          <a:ln w="9525">
            <a:solidFill>
              <a:srgbClr val="C3D6EE"/>
            </a:solidFill>
            <a:prstDash val="solid"/>
          </a:ln>
        </p:spPr>
      </p:sp>
      <p:sp>
        <p:nvSpPr>
          <p:cNvPr id="37" name="Text 35"/>
          <p:cNvSpPr txBox="1"/>
          <p:nvPr/>
        </p:nvSpPr>
        <p:spPr>
          <a:xfrm>
            <a:off x="7278624" y="1261872"/>
            <a:ext cx="2203704" cy="173736"/>
          </a:xfrm>
          <a:prstGeom prst="rect">
            <a:avLst/>
          </a:prstGeom>
          <a:noFill/>
          <a:ln/>
        </p:spPr>
        <p:txBody>
          <a:bodyPr wrap="square" lIns="0" tIns="0" rIns="0" bIns="0" rtlCol="0" anchor="ctr"/>
          <a:lstStyle/>
          <a:p>
            <a:pPr indent="0" marL="0">
              <a:buNone/>
            </a:pPr>
            <a:r>
              <a:rPr lang="en-US" sz="800" b="1" dirty="0">
                <a:solidFill>
                  <a:srgbClr val="0A5CB8"/>
                </a:solidFill>
                <a:latin typeface="Segoe UI" pitchFamily="34" charset="0"/>
                <a:ea typeface="Segoe UI" pitchFamily="34" charset="-122"/>
                <a:cs typeface="Segoe UI" pitchFamily="34" charset="-120"/>
              </a:rPr>
              <a:t>Schemas &amp; ORM</a:t>
            </a:r>
            <a:endParaRPr lang="en-US" sz="800" dirty="0"/>
          </a:p>
        </p:txBody>
      </p:sp>
      <p:sp>
        <p:nvSpPr>
          <p:cNvPr id="38" name="Text 36"/>
          <p:cNvSpPr txBox="1"/>
          <p:nvPr/>
        </p:nvSpPr>
        <p:spPr>
          <a:xfrm>
            <a:off x="7278624" y="1417320"/>
            <a:ext cx="2203704" cy="256032"/>
          </a:xfrm>
          <a:prstGeom prst="rect">
            <a:avLst/>
          </a:prstGeom>
          <a:noFill/>
          <a:ln/>
        </p:spPr>
        <p:txBody>
          <a:bodyPr wrap="square" lIns="0" tIns="0" rIns="0" bIns="0" rtlCol="0" anchor="ctr"/>
          <a:lstStyle/>
          <a:p>
            <a:pPr indent="0" marL="0">
              <a:buNone/>
            </a:pPr>
            <a:r>
              <a:rPr lang="en-US" sz="690" dirty="0">
                <a:solidFill>
                  <a:srgbClr val="5B6577"/>
                </a:solidFill>
                <a:latin typeface="Segoe UI" pitchFamily="34" charset="0"/>
                <a:ea typeface="Segoe UI" pitchFamily="34" charset="-122"/>
                <a:cs typeface="Segoe UI" pitchFamily="34" charset="-120"/>
              </a:rPr>
              <a:t>Pydantic + SQLAlchemy async</a:t>
            </a:r>
            <a:endParaRPr lang="en-US" sz="690" dirty="0"/>
          </a:p>
        </p:txBody>
      </p:sp>
      <p:sp>
        <p:nvSpPr>
          <p:cNvPr id="39" name="Shape 37"/>
          <p:cNvSpPr/>
          <p:nvPr/>
        </p:nvSpPr>
        <p:spPr>
          <a:xfrm>
            <a:off x="2240280" y="1865376"/>
            <a:ext cx="7452360" cy="1847088"/>
          </a:xfrm>
          <a:prstGeom prst="roundRect">
            <a:avLst>
              <a:gd name="adj" fmla="val 1485"/>
            </a:avLst>
          </a:prstGeom>
          <a:solidFill>
            <a:srgbClr val="FFFFFF"/>
          </a:solidFill>
          <a:ln w="12700">
            <a:solidFill>
              <a:srgbClr val="CBD4E1"/>
            </a:solidFill>
            <a:prstDash val="solid"/>
          </a:ln>
        </p:spPr>
      </p:sp>
      <p:sp>
        <p:nvSpPr>
          <p:cNvPr id="40" name="Shape 38"/>
          <p:cNvSpPr/>
          <p:nvPr/>
        </p:nvSpPr>
        <p:spPr>
          <a:xfrm>
            <a:off x="2240280" y="1865376"/>
            <a:ext cx="7452360" cy="237744"/>
          </a:xfrm>
          <a:prstGeom prst="rect">
            <a:avLst/>
          </a:prstGeom>
          <a:solidFill>
            <a:srgbClr val="5B3FBF"/>
          </a:solidFill>
          <a:ln/>
        </p:spPr>
      </p:sp>
      <p:sp>
        <p:nvSpPr>
          <p:cNvPr id="41" name="Text 39"/>
          <p:cNvSpPr txBox="1"/>
          <p:nvPr/>
        </p:nvSpPr>
        <p:spPr>
          <a:xfrm>
            <a:off x="2350008" y="1865376"/>
            <a:ext cx="7232904" cy="237744"/>
          </a:xfrm>
          <a:prstGeom prst="rect">
            <a:avLst/>
          </a:prstGeom>
          <a:noFill/>
          <a:ln/>
        </p:spPr>
        <p:txBody>
          <a:bodyPr wrap="square" lIns="0" tIns="0" rIns="0" bIns="0" rtlCol="0" anchor="ctr"/>
          <a:lstStyle/>
          <a:p>
            <a:pPr indent="0" marL="0">
              <a:buNone/>
            </a:pPr>
            <a:r>
              <a:rPr lang="en-US" sz="880" b="1" dirty="0">
                <a:solidFill>
                  <a:srgbClr val="FFFFFF"/>
                </a:solidFill>
                <a:latin typeface="Segoe UI" pitchFamily="34" charset="0"/>
                <a:ea typeface="Segoe UI" pitchFamily="34" charset="-122"/>
                <a:cs typeface="Segoe UI" pitchFamily="34" charset="-120"/>
              </a:rPr>
              <a:t>AGENT ORCHESTRATION  —  LangGraph multi-agent state machine</a:t>
            </a:r>
            <a:endParaRPr lang="en-US" sz="880" dirty="0"/>
          </a:p>
        </p:txBody>
      </p:sp>
      <p:sp>
        <p:nvSpPr>
          <p:cNvPr id="42" name="Shape 40"/>
          <p:cNvSpPr/>
          <p:nvPr/>
        </p:nvSpPr>
        <p:spPr>
          <a:xfrm>
            <a:off x="2350008" y="2176272"/>
            <a:ext cx="1481328" cy="1417320"/>
          </a:xfrm>
          <a:prstGeom prst="roundRect">
            <a:avLst>
              <a:gd name="adj" fmla="val 1935"/>
            </a:avLst>
          </a:prstGeom>
          <a:solidFill>
            <a:srgbClr val="F5F2FD"/>
          </a:solidFill>
          <a:ln w="15875">
            <a:solidFill>
              <a:srgbClr val="B9A6E2"/>
            </a:solidFill>
            <a:prstDash val="solid"/>
          </a:ln>
        </p:spPr>
      </p:sp>
      <p:sp>
        <p:nvSpPr>
          <p:cNvPr id="43" name="Text 41"/>
          <p:cNvSpPr txBox="1"/>
          <p:nvPr/>
        </p:nvSpPr>
        <p:spPr>
          <a:xfrm>
            <a:off x="2423160" y="2249424"/>
            <a:ext cx="1335024" cy="182880"/>
          </a:xfrm>
          <a:prstGeom prst="rect">
            <a:avLst/>
          </a:prstGeom>
          <a:noFill/>
          <a:ln/>
        </p:spPr>
        <p:txBody>
          <a:bodyPr wrap="square" lIns="0" tIns="0" rIns="0" bIns="0" rtlCol="0" anchor="ctr"/>
          <a:lstStyle/>
          <a:p>
            <a:pPr algn="ctr" indent="0" marL="0">
              <a:buNone/>
            </a:pPr>
            <a:r>
              <a:rPr lang="en-US" sz="840" b="1" dirty="0">
                <a:solidFill>
                  <a:srgbClr val="5B3FBF"/>
                </a:solidFill>
                <a:latin typeface="Segoe UI" pitchFamily="34" charset="0"/>
                <a:ea typeface="Segoe UI" pitchFamily="34" charset="-122"/>
                <a:cs typeface="Segoe UI" pitchFamily="34" charset="-120"/>
              </a:rPr>
              <a:t>MASTER AGENT</a:t>
            </a:r>
            <a:endParaRPr lang="en-US" sz="840" dirty="0"/>
          </a:p>
        </p:txBody>
      </p:sp>
      <p:sp>
        <p:nvSpPr>
          <p:cNvPr id="44" name="Text 42"/>
          <p:cNvSpPr txBox="1"/>
          <p:nvPr/>
        </p:nvSpPr>
        <p:spPr>
          <a:xfrm>
            <a:off x="2423160" y="2414016"/>
            <a:ext cx="1335024" cy="164592"/>
          </a:xfrm>
          <a:prstGeom prst="rect">
            <a:avLst/>
          </a:prstGeom>
          <a:noFill/>
          <a:ln/>
        </p:spPr>
        <p:txBody>
          <a:bodyPr wrap="square" lIns="0" tIns="0" rIns="0" bIns="0" rtlCol="0" anchor="ctr"/>
          <a:lstStyle/>
          <a:p>
            <a:pPr algn="ctr" indent="0" marL="0">
              <a:buNone/>
            </a:pPr>
            <a:r>
              <a:rPr lang="en-US" sz="700" dirty="0">
                <a:solidFill>
                  <a:srgbClr val="5B6577"/>
                </a:solidFill>
                <a:latin typeface="Segoe UI" pitchFamily="34" charset="0"/>
                <a:ea typeface="Segoe UI" pitchFamily="34" charset="-122"/>
                <a:cs typeface="Segoe UI" pitchFamily="34" charset="-120"/>
              </a:rPr>
              <a:t>supervisor / router</a:t>
            </a:r>
            <a:endParaRPr lang="en-US" sz="700" dirty="0"/>
          </a:p>
        </p:txBody>
      </p:sp>
      <p:sp>
        <p:nvSpPr>
          <p:cNvPr id="45" name="Text 43"/>
          <p:cNvSpPr txBox="1"/>
          <p:nvPr/>
        </p:nvSpPr>
        <p:spPr>
          <a:xfrm>
            <a:off x="2423160" y="2615184"/>
            <a:ext cx="1335024" cy="914400"/>
          </a:xfrm>
          <a:prstGeom prst="rect">
            <a:avLst/>
          </a:prstGeom>
          <a:noFill/>
          <a:ln/>
        </p:spPr>
        <p:txBody>
          <a:bodyPr wrap="square" lIns="0" tIns="0" rIns="0" bIns="0" rtlCol="0" anchor="ctr"/>
          <a:lstStyle/>
          <a:p>
            <a:pPr indent="0" marL="0">
              <a:lnSpc>
                <a:spcPct val="110000"/>
              </a:lnSpc>
              <a:buNone/>
            </a:pPr>
            <a:r>
              <a:rPr lang="en-US" sz="690" dirty="0">
                <a:solidFill>
                  <a:srgbClr val="354052"/>
                </a:solidFill>
                <a:latin typeface="Segoe UI" pitchFamily="34" charset="0"/>
                <a:ea typeface="Segoe UI" pitchFamily="34" charset="-122"/>
                <a:cs typeface="Segoe UI" pitchFamily="34" charset="-120"/>
              </a:rPr>
              <a:t>Routes each request to the</a:t>
            </a:r>
            <a:endParaRPr lang="en-US" sz="690" dirty="0"/>
          </a:p>
          <a:p>
            <a:pPr indent="0" marL="0">
              <a:lnSpc>
                <a:spcPct val="110000"/>
              </a:lnSpc>
              <a:buNone/>
            </a:pPr>
            <a:r>
              <a:rPr lang="en-US" sz="690" dirty="0">
                <a:solidFill>
                  <a:srgbClr val="354052"/>
                </a:solidFill>
                <a:latin typeface="Segoe UI" pitchFamily="34" charset="0"/>
                <a:ea typeface="Segoe UI" pitchFamily="34" charset="-122"/>
                <a:cs typeface="Segoe UI" pitchFamily="34" charset="-120"/>
              </a:rPr>
              <a:t>next specialist and back,</a:t>
            </a:r>
            <a:endParaRPr lang="en-US" sz="690" dirty="0"/>
          </a:p>
          <a:p>
            <a:pPr indent="0" marL="0">
              <a:lnSpc>
                <a:spcPct val="110000"/>
              </a:lnSpc>
              <a:buNone/>
            </a:pPr>
            <a:r>
              <a:rPr lang="en-US" sz="690" dirty="0">
                <a:solidFill>
                  <a:srgbClr val="354052"/>
                </a:solidFill>
                <a:latin typeface="Segoe UI" pitchFamily="34" charset="0"/>
                <a:ea typeface="Segoe UI" pitchFamily="34" charset="-122"/>
                <a:cs typeface="Segoe UI" pitchFamily="34" charset="-120"/>
              </a:rPr>
              <a:t>until the answer is complete.</a:t>
            </a:r>
            <a:endParaRPr lang="en-US" sz="690" dirty="0"/>
          </a:p>
          <a:p>
            <a:pPr indent="0" marL="0">
              <a:lnSpc>
                <a:spcPct val="110000"/>
              </a:lnSpc>
              <a:buNone/>
            </a:pPr>
            <a:endParaRPr lang="en-US" sz="690" dirty="0"/>
          </a:p>
          <a:p>
            <a:pPr indent="0" marL="0">
              <a:lnSpc>
                <a:spcPct val="110000"/>
              </a:lnSpc>
              <a:buNone/>
            </a:pPr>
            <a:r>
              <a:rPr lang="en-US" sz="690" dirty="0">
                <a:solidFill>
                  <a:srgbClr val="354052"/>
                </a:solidFill>
                <a:latin typeface="Segoe UI" pitchFamily="34" charset="0"/>
                <a:ea typeface="Segoe UI" pitchFamily="34" charset="-122"/>
                <a:cs typeface="Segoe UI" pitchFamily="34" charset="-120"/>
              </a:rPr>
              <a:t>Records the agent chain for</a:t>
            </a:r>
            <a:endParaRPr lang="en-US" sz="690" dirty="0"/>
          </a:p>
          <a:p>
            <a:pPr indent="0" marL="0">
              <a:lnSpc>
                <a:spcPct val="110000"/>
              </a:lnSpc>
              <a:buNone/>
            </a:pPr>
            <a:r>
              <a:rPr lang="en-US" sz="690" dirty="0">
                <a:solidFill>
                  <a:srgbClr val="354052"/>
                </a:solidFill>
                <a:latin typeface="Segoe UI" pitchFamily="34" charset="0"/>
                <a:ea typeface="Segoe UI" pitchFamily="34" charset="-122"/>
                <a:cs typeface="Segoe UI" pitchFamily="34" charset="-120"/>
              </a:rPr>
              <a:t>audit.</a:t>
            </a:r>
            <a:endParaRPr lang="en-US" sz="690" dirty="0"/>
          </a:p>
        </p:txBody>
      </p:sp>
      <p:sp>
        <p:nvSpPr>
          <p:cNvPr id="46" name="Shape 44"/>
          <p:cNvSpPr/>
          <p:nvPr/>
        </p:nvSpPr>
        <p:spPr>
          <a:xfrm>
            <a:off x="3941064" y="2176272"/>
            <a:ext cx="1499616" cy="402336"/>
          </a:xfrm>
          <a:prstGeom prst="roundRect">
            <a:avLst>
              <a:gd name="adj" fmla="val 6818"/>
            </a:avLst>
          </a:prstGeom>
          <a:solidFill>
            <a:srgbClr val="FFFFFF"/>
          </a:solidFill>
          <a:ln w="9525">
            <a:solidFill>
              <a:srgbClr val="D6CBEF"/>
            </a:solidFill>
            <a:prstDash val="solid"/>
          </a:ln>
        </p:spPr>
      </p:sp>
      <p:sp>
        <p:nvSpPr>
          <p:cNvPr id="47" name="Text 45"/>
          <p:cNvSpPr txBox="1"/>
          <p:nvPr/>
        </p:nvSpPr>
        <p:spPr>
          <a:xfrm>
            <a:off x="4005072" y="2203704"/>
            <a:ext cx="1371600" cy="173736"/>
          </a:xfrm>
          <a:prstGeom prst="rect">
            <a:avLst/>
          </a:prstGeom>
          <a:noFill/>
          <a:ln/>
        </p:spPr>
        <p:txBody>
          <a:bodyPr wrap="square" lIns="0" tIns="0" rIns="0" bIns="0" rtlCol="0" anchor="ctr"/>
          <a:lstStyle/>
          <a:p>
            <a:pPr indent="0" marL="0">
              <a:buNone/>
            </a:pPr>
            <a:r>
              <a:rPr lang="en-US" sz="800" b="1" dirty="0">
                <a:solidFill>
                  <a:srgbClr val="5B3FBF"/>
                </a:solidFill>
                <a:latin typeface="Segoe UI" pitchFamily="34" charset="0"/>
                <a:ea typeface="Segoe UI" pitchFamily="34" charset="-122"/>
                <a:cs typeface="Segoe UI" pitchFamily="34" charset="-120"/>
              </a:rPr>
              <a:t>Intent</a:t>
            </a:r>
            <a:endParaRPr lang="en-US" sz="800" dirty="0"/>
          </a:p>
        </p:txBody>
      </p:sp>
      <p:sp>
        <p:nvSpPr>
          <p:cNvPr id="48" name="Text 46"/>
          <p:cNvSpPr txBox="1"/>
          <p:nvPr/>
        </p:nvSpPr>
        <p:spPr>
          <a:xfrm>
            <a:off x="4005072" y="2359152"/>
            <a:ext cx="1371600" cy="201168"/>
          </a:xfrm>
          <a:prstGeom prst="rect">
            <a:avLst/>
          </a:prstGeom>
          <a:noFill/>
          <a:ln/>
        </p:spPr>
        <p:txBody>
          <a:bodyPr wrap="square" lIns="0" tIns="0" rIns="0" bIns="0" rtlCol="0" anchor="ctr"/>
          <a:lstStyle/>
          <a:p>
            <a:pPr indent="0" marL="0">
              <a:buNone/>
            </a:pPr>
            <a:r>
              <a:rPr lang="en-US" sz="690" dirty="0">
                <a:solidFill>
                  <a:srgbClr val="5B6577"/>
                </a:solidFill>
                <a:latin typeface="Segoe UI" pitchFamily="34" charset="0"/>
                <a:ea typeface="Segoe UI" pitchFamily="34" charset="-122"/>
                <a:cs typeface="Segoe UI" pitchFamily="34" charset="-120"/>
              </a:rPr>
              <a:t>classifies the ask</a:t>
            </a:r>
            <a:endParaRPr lang="en-US" sz="690" dirty="0"/>
          </a:p>
        </p:txBody>
      </p:sp>
      <p:sp>
        <p:nvSpPr>
          <p:cNvPr id="49" name="Shape 47"/>
          <p:cNvSpPr/>
          <p:nvPr/>
        </p:nvSpPr>
        <p:spPr>
          <a:xfrm>
            <a:off x="5513832" y="2176272"/>
            <a:ext cx="1499616" cy="402336"/>
          </a:xfrm>
          <a:prstGeom prst="roundRect">
            <a:avLst>
              <a:gd name="adj" fmla="val 6818"/>
            </a:avLst>
          </a:prstGeom>
          <a:solidFill>
            <a:srgbClr val="FFFFFF"/>
          </a:solidFill>
          <a:ln w="9525">
            <a:solidFill>
              <a:srgbClr val="D6CBEF"/>
            </a:solidFill>
            <a:prstDash val="solid"/>
          </a:ln>
        </p:spPr>
      </p:sp>
      <p:sp>
        <p:nvSpPr>
          <p:cNvPr id="50" name="Text 48"/>
          <p:cNvSpPr txBox="1"/>
          <p:nvPr/>
        </p:nvSpPr>
        <p:spPr>
          <a:xfrm>
            <a:off x="5577840" y="2203704"/>
            <a:ext cx="1371600" cy="173736"/>
          </a:xfrm>
          <a:prstGeom prst="rect">
            <a:avLst/>
          </a:prstGeom>
          <a:noFill/>
          <a:ln/>
        </p:spPr>
        <p:txBody>
          <a:bodyPr wrap="square" lIns="0" tIns="0" rIns="0" bIns="0" rtlCol="0" anchor="ctr"/>
          <a:lstStyle/>
          <a:p>
            <a:pPr indent="0" marL="0">
              <a:buNone/>
            </a:pPr>
            <a:r>
              <a:rPr lang="en-US" sz="800" b="1" dirty="0">
                <a:solidFill>
                  <a:srgbClr val="5B3FBF"/>
                </a:solidFill>
                <a:latin typeface="Segoe UI" pitchFamily="34" charset="0"/>
                <a:ea typeface="Segoe UI" pitchFamily="34" charset="-122"/>
                <a:cs typeface="Segoe UI" pitchFamily="34" charset="-120"/>
              </a:rPr>
              <a:t>Profile</a:t>
            </a:r>
            <a:endParaRPr lang="en-US" sz="800" dirty="0"/>
          </a:p>
        </p:txBody>
      </p:sp>
      <p:sp>
        <p:nvSpPr>
          <p:cNvPr id="51" name="Text 49"/>
          <p:cNvSpPr txBox="1"/>
          <p:nvPr/>
        </p:nvSpPr>
        <p:spPr>
          <a:xfrm>
            <a:off x="5577840" y="2359152"/>
            <a:ext cx="1371600" cy="201168"/>
          </a:xfrm>
          <a:prstGeom prst="rect">
            <a:avLst/>
          </a:prstGeom>
          <a:noFill/>
          <a:ln/>
        </p:spPr>
        <p:txBody>
          <a:bodyPr wrap="square" lIns="0" tIns="0" rIns="0" bIns="0" rtlCol="0" anchor="ctr"/>
          <a:lstStyle/>
          <a:p>
            <a:pPr indent="0" marL="0">
              <a:buNone/>
            </a:pPr>
            <a:r>
              <a:rPr lang="en-US" sz="690" dirty="0">
                <a:solidFill>
                  <a:srgbClr val="5B6577"/>
                </a:solidFill>
                <a:latin typeface="Segoe UI" pitchFamily="34" charset="0"/>
                <a:ea typeface="Segoe UI" pitchFamily="34" charset="-122"/>
                <a:cs typeface="Segoe UI" pitchFamily="34" charset="-120"/>
              </a:rPr>
              <a:t>loads outlet context</a:t>
            </a:r>
            <a:endParaRPr lang="en-US" sz="690" dirty="0"/>
          </a:p>
        </p:txBody>
      </p:sp>
      <p:sp>
        <p:nvSpPr>
          <p:cNvPr id="52" name="Shape 50"/>
          <p:cNvSpPr/>
          <p:nvPr/>
        </p:nvSpPr>
        <p:spPr>
          <a:xfrm>
            <a:off x="7086600" y="2176272"/>
            <a:ext cx="1499616" cy="402336"/>
          </a:xfrm>
          <a:prstGeom prst="roundRect">
            <a:avLst>
              <a:gd name="adj" fmla="val 6818"/>
            </a:avLst>
          </a:prstGeom>
          <a:solidFill>
            <a:srgbClr val="FFFFFF"/>
          </a:solidFill>
          <a:ln w="9525">
            <a:solidFill>
              <a:srgbClr val="D6CBEF"/>
            </a:solidFill>
            <a:prstDash val="solid"/>
          </a:ln>
        </p:spPr>
      </p:sp>
      <p:sp>
        <p:nvSpPr>
          <p:cNvPr id="53" name="Text 51"/>
          <p:cNvSpPr txBox="1"/>
          <p:nvPr/>
        </p:nvSpPr>
        <p:spPr>
          <a:xfrm>
            <a:off x="7150608" y="2203704"/>
            <a:ext cx="1371600" cy="173736"/>
          </a:xfrm>
          <a:prstGeom prst="rect">
            <a:avLst/>
          </a:prstGeom>
          <a:noFill/>
          <a:ln/>
        </p:spPr>
        <p:txBody>
          <a:bodyPr wrap="square" lIns="0" tIns="0" rIns="0" bIns="0" rtlCol="0" anchor="ctr"/>
          <a:lstStyle/>
          <a:p>
            <a:pPr indent="0" marL="0">
              <a:buNone/>
            </a:pPr>
            <a:r>
              <a:rPr lang="en-US" sz="800" b="1" dirty="0">
                <a:solidFill>
                  <a:srgbClr val="5B3FBF"/>
                </a:solidFill>
                <a:latin typeface="Segoe UI" pitchFamily="34" charset="0"/>
                <a:ea typeface="Segoe UI" pitchFamily="34" charset="-122"/>
                <a:cs typeface="Segoe UI" pitchFamily="34" charset="-120"/>
              </a:rPr>
              <a:t>Ranking</a:t>
            </a:r>
            <a:endParaRPr lang="en-US" sz="800" dirty="0"/>
          </a:p>
        </p:txBody>
      </p:sp>
      <p:sp>
        <p:nvSpPr>
          <p:cNvPr id="54" name="Text 52"/>
          <p:cNvSpPr txBox="1"/>
          <p:nvPr/>
        </p:nvSpPr>
        <p:spPr>
          <a:xfrm>
            <a:off x="7150608" y="2359152"/>
            <a:ext cx="1371600" cy="201168"/>
          </a:xfrm>
          <a:prstGeom prst="rect">
            <a:avLst/>
          </a:prstGeom>
          <a:noFill/>
          <a:ln/>
        </p:spPr>
        <p:txBody>
          <a:bodyPr wrap="square" lIns="0" tIns="0" rIns="0" bIns="0" rtlCol="0" anchor="ctr"/>
          <a:lstStyle/>
          <a:p>
            <a:pPr indent="0" marL="0">
              <a:buNone/>
            </a:pPr>
            <a:r>
              <a:rPr lang="en-US" sz="690" dirty="0">
                <a:solidFill>
                  <a:srgbClr val="5B6577"/>
                </a:solidFill>
                <a:latin typeface="Segoe UI" pitchFamily="34" charset="0"/>
                <a:ea typeface="Segoe UI" pitchFamily="34" charset="-122"/>
                <a:cs typeface="Segoe UI" pitchFamily="34" charset="-120"/>
              </a:rPr>
              <a:t>orders by propensity</a:t>
            </a:r>
            <a:endParaRPr lang="en-US" sz="690" dirty="0"/>
          </a:p>
        </p:txBody>
      </p:sp>
      <p:sp>
        <p:nvSpPr>
          <p:cNvPr id="55" name="Shape 53"/>
          <p:cNvSpPr/>
          <p:nvPr/>
        </p:nvSpPr>
        <p:spPr>
          <a:xfrm>
            <a:off x="3941064" y="2633472"/>
            <a:ext cx="1499616" cy="402336"/>
          </a:xfrm>
          <a:prstGeom prst="roundRect">
            <a:avLst>
              <a:gd name="adj" fmla="val 6818"/>
            </a:avLst>
          </a:prstGeom>
          <a:solidFill>
            <a:srgbClr val="FFFFFF"/>
          </a:solidFill>
          <a:ln w="9525">
            <a:solidFill>
              <a:srgbClr val="D6CBEF"/>
            </a:solidFill>
            <a:prstDash val="solid"/>
          </a:ln>
        </p:spPr>
      </p:sp>
      <p:sp>
        <p:nvSpPr>
          <p:cNvPr id="56" name="Text 54"/>
          <p:cNvSpPr txBox="1"/>
          <p:nvPr/>
        </p:nvSpPr>
        <p:spPr>
          <a:xfrm>
            <a:off x="4005072" y="2660904"/>
            <a:ext cx="1371600" cy="173736"/>
          </a:xfrm>
          <a:prstGeom prst="rect">
            <a:avLst/>
          </a:prstGeom>
          <a:noFill/>
          <a:ln/>
        </p:spPr>
        <p:txBody>
          <a:bodyPr wrap="square" lIns="0" tIns="0" rIns="0" bIns="0" rtlCol="0" anchor="ctr"/>
          <a:lstStyle/>
          <a:p>
            <a:pPr indent="0" marL="0">
              <a:buNone/>
            </a:pPr>
            <a:r>
              <a:rPr lang="en-US" sz="800" b="1" dirty="0">
                <a:solidFill>
                  <a:srgbClr val="5B3FBF"/>
                </a:solidFill>
                <a:latin typeface="Segoe UI" pitchFamily="34" charset="0"/>
                <a:ea typeface="Segoe UI" pitchFamily="34" charset="-122"/>
                <a:cs typeface="Segoe UI" pitchFamily="34" charset="-120"/>
              </a:rPr>
              <a:t>Recommendation</a:t>
            </a:r>
            <a:endParaRPr lang="en-US" sz="800" dirty="0"/>
          </a:p>
        </p:txBody>
      </p:sp>
      <p:sp>
        <p:nvSpPr>
          <p:cNvPr id="57" name="Text 55"/>
          <p:cNvSpPr txBox="1"/>
          <p:nvPr/>
        </p:nvSpPr>
        <p:spPr>
          <a:xfrm>
            <a:off x="4005072" y="2816352"/>
            <a:ext cx="1371600" cy="201168"/>
          </a:xfrm>
          <a:prstGeom prst="rect">
            <a:avLst/>
          </a:prstGeom>
          <a:noFill/>
          <a:ln/>
        </p:spPr>
        <p:txBody>
          <a:bodyPr wrap="square" lIns="0" tIns="0" rIns="0" bIns="0" rtlCol="0" anchor="ctr"/>
          <a:lstStyle/>
          <a:p>
            <a:pPr indent="0" marL="0">
              <a:buNone/>
            </a:pPr>
            <a:r>
              <a:rPr lang="en-US" sz="690" dirty="0">
                <a:solidFill>
                  <a:srgbClr val="5B6577"/>
                </a:solidFill>
                <a:latin typeface="Segoe UI" pitchFamily="34" charset="0"/>
                <a:ea typeface="Segoe UI" pitchFamily="34" charset="-122"/>
                <a:cs typeface="Segoe UI" pitchFamily="34" charset="-120"/>
              </a:rPr>
              <a:t>next-best action</a:t>
            </a:r>
            <a:endParaRPr lang="en-US" sz="690" dirty="0"/>
          </a:p>
        </p:txBody>
      </p:sp>
      <p:sp>
        <p:nvSpPr>
          <p:cNvPr id="58" name="Shape 56"/>
          <p:cNvSpPr/>
          <p:nvPr/>
        </p:nvSpPr>
        <p:spPr>
          <a:xfrm>
            <a:off x="5513832" y="2633472"/>
            <a:ext cx="1499616" cy="402336"/>
          </a:xfrm>
          <a:prstGeom prst="roundRect">
            <a:avLst>
              <a:gd name="adj" fmla="val 6818"/>
            </a:avLst>
          </a:prstGeom>
          <a:solidFill>
            <a:srgbClr val="FFFFFF"/>
          </a:solidFill>
          <a:ln w="9525">
            <a:solidFill>
              <a:srgbClr val="D6CBEF"/>
            </a:solidFill>
            <a:prstDash val="solid"/>
          </a:ln>
        </p:spPr>
      </p:sp>
      <p:sp>
        <p:nvSpPr>
          <p:cNvPr id="59" name="Text 57"/>
          <p:cNvSpPr txBox="1"/>
          <p:nvPr/>
        </p:nvSpPr>
        <p:spPr>
          <a:xfrm>
            <a:off x="5577840" y="2660904"/>
            <a:ext cx="1371600" cy="173736"/>
          </a:xfrm>
          <a:prstGeom prst="rect">
            <a:avLst/>
          </a:prstGeom>
          <a:noFill/>
          <a:ln/>
        </p:spPr>
        <p:txBody>
          <a:bodyPr wrap="square" lIns="0" tIns="0" rIns="0" bIns="0" rtlCol="0" anchor="ctr"/>
          <a:lstStyle/>
          <a:p>
            <a:pPr indent="0" marL="0">
              <a:buNone/>
            </a:pPr>
            <a:r>
              <a:rPr lang="en-US" sz="800" b="1" dirty="0">
                <a:solidFill>
                  <a:srgbClr val="5B3FBF"/>
                </a:solidFill>
                <a:latin typeface="Segoe UI" pitchFamily="34" charset="0"/>
                <a:ea typeface="Segoe UI" pitchFamily="34" charset="-122"/>
                <a:cs typeface="Segoe UI" pitchFamily="34" charset="-120"/>
              </a:rPr>
              <a:t>Brief</a:t>
            </a:r>
            <a:endParaRPr lang="en-US" sz="800" dirty="0"/>
          </a:p>
        </p:txBody>
      </p:sp>
      <p:sp>
        <p:nvSpPr>
          <p:cNvPr id="60" name="Text 58"/>
          <p:cNvSpPr txBox="1"/>
          <p:nvPr/>
        </p:nvSpPr>
        <p:spPr>
          <a:xfrm>
            <a:off x="5577840" y="2816352"/>
            <a:ext cx="1371600" cy="201168"/>
          </a:xfrm>
          <a:prstGeom prst="rect">
            <a:avLst/>
          </a:prstGeom>
          <a:noFill/>
          <a:ln/>
        </p:spPr>
        <p:txBody>
          <a:bodyPr wrap="square" lIns="0" tIns="0" rIns="0" bIns="0" rtlCol="0" anchor="ctr"/>
          <a:lstStyle/>
          <a:p>
            <a:pPr indent="0" marL="0">
              <a:buNone/>
            </a:pPr>
            <a:r>
              <a:rPr lang="en-US" sz="690" dirty="0">
                <a:solidFill>
                  <a:srgbClr val="5B6577"/>
                </a:solidFill>
                <a:latin typeface="Segoe UI" pitchFamily="34" charset="0"/>
                <a:ea typeface="Segoe UI" pitchFamily="34" charset="-122"/>
                <a:cs typeface="Segoe UI" pitchFamily="34" charset="-120"/>
              </a:rPr>
              <a:t>pre-visit synthesis</a:t>
            </a:r>
            <a:endParaRPr lang="en-US" sz="690" dirty="0"/>
          </a:p>
        </p:txBody>
      </p:sp>
      <p:sp>
        <p:nvSpPr>
          <p:cNvPr id="61" name="Shape 59"/>
          <p:cNvSpPr/>
          <p:nvPr/>
        </p:nvSpPr>
        <p:spPr>
          <a:xfrm>
            <a:off x="7086600" y="2633472"/>
            <a:ext cx="1499616" cy="402336"/>
          </a:xfrm>
          <a:prstGeom prst="roundRect">
            <a:avLst>
              <a:gd name="adj" fmla="val 6818"/>
            </a:avLst>
          </a:prstGeom>
          <a:solidFill>
            <a:srgbClr val="FFFFFF"/>
          </a:solidFill>
          <a:ln w="9525">
            <a:solidFill>
              <a:srgbClr val="D6CBEF"/>
            </a:solidFill>
            <a:prstDash val="solid"/>
          </a:ln>
        </p:spPr>
      </p:sp>
      <p:sp>
        <p:nvSpPr>
          <p:cNvPr id="62" name="Text 60"/>
          <p:cNvSpPr txBox="1"/>
          <p:nvPr/>
        </p:nvSpPr>
        <p:spPr>
          <a:xfrm>
            <a:off x="7150608" y="2660904"/>
            <a:ext cx="1371600" cy="173736"/>
          </a:xfrm>
          <a:prstGeom prst="rect">
            <a:avLst/>
          </a:prstGeom>
          <a:noFill/>
          <a:ln/>
        </p:spPr>
        <p:txBody>
          <a:bodyPr wrap="square" lIns="0" tIns="0" rIns="0" bIns="0" rtlCol="0" anchor="ctr"/>
          <a:lstStyle/>
          <a:p>
            <a:pPr indent="0" marL="0">
              <a:buNone/>
            </a:pPr>
            <a:r>
              <a:rPr lang="en-US" sz="800" b="1" dirty="0">
                <a:solidFill>
                  <a:srgbClr val="5B3FBF"/>
                </a:solidFill>
                <a:latin typeface="Segoe UI" pitchFamily="34" charset="0"/>
                <a:ea typeface="Segoe UI" pitchFamily="34" charset="-122"/>
                <a:cs typeface="Segoe UI" pitchFamily="34" charset="-120"/>
              </a:rPr>
              <a:t>Nudge</a:t>
            </a:r>
            <a:endParaRPr lang="en-US" sz="800" dirty="0"/>
          </a:p>
        </p:txBody>
      </p:sp>
      <p:sp>
        <p:nvSpPr>
          <p:cNvPr id="63" name="Text 61"/>
          <p:cNvSpPr txBox="1"/>
          <p:nvPr/>
        </p:nvSpPr>
        <p:spPr>
          <a:xfrm>
            <a:off x="7150608" y="2816352"/>
            <a:ext cx="1371600" cy="201168"/>
          </a:xfrm>
          <a:prstGeom prst="rect">
            <a:avLst/>
          </a:prstGeom>
          <a:noFill/>
          <a:ln/>
        </p:spPr>
        <p:txBody>
          <a:bodyPr wrap="square" lIns="0" tIns="0" rIns="0" bIns="0" rtlCol="0" anchor="ctr"/>
          <a:lstStyle/>
          <a:p>
            <a:pPr indent="0" marL="0">
              <a:buNone/>
            </a:pPr>
            <a:r>
              <a:rPr lang="en-US" sz="690" dirty="0">
                <a:solidFill>
                  <a:srgbClr val="5B6577"/>
                </a:solidFill>
                <a:latin typeface="Segoe UI" pitchFamily="34" charset="0"/>
                <a:ea typeface="Segoe UI" pitchFamily="34" charset="-122"/>
                <a:cs typeface="Segoe UI" pitchFamily="34" charset="-120"/>
              </a:rPr>
              <a:t>coaching prompts</a:t>
            </a:r>
            <a:endParaRPr lang="en-US" sz="690" dirty="0"/>
          </a:p>
        </p:txBody>
      </p:sp>
      <p:sp>
        <p:nvSpPr>
          <p:cNvPr id="64" name="Shape 62"/>
          <p:cNvSpPr/>
          <p:nvPr/>
        </p:nvSpPr>
        <p:spPr>
          <a:xfrm>
            <a:off x="8659368" y="2176272"/>
            <a:ext cx="914400" cy="402336"/>
          </a:xfrm>
          <a:prstGeom prst="roundRect">
            <a:avLst>
              <a:gd name="adj" fmla="val 6818"/>
            </a:avLst>
          </a:prstGeom>
          <a:solidFill>
            <a:srgbClr val="F0F8F4"/>
          </a:solidFill>
          <a:ln w="9525">
            <a:solidFill>
              <a:srgbClr val="A9D6BC"/>
            </a:solidFill>
            <a:prstDash val="solid"/>
          </a:ln>
        </p:spPr>
      </p:sp>
      <p:sp>
        <p:nvSpPr>
          <p:cNvPr id="65" name="Text 63"/>
          <p:cNvSpPr txBox="1"/>
          <p:nvPr/>
        </p:nvSpPr>
        <p:spPr>
          <a:xfrm>
            <a:off x="8723376" y="2203704"/>
            <a:ext cx="786384" cy="173736"/>
          </a:xfrm>
          <a:prstGeom prst="rect">
            <a:avLst/>
          </a:prstGeom>
          <a:noFill/>
          <a:ln/>
        </p:spPr>
        <p:txBody>
          <a:bodyPr wrap="square" lIns="0" tIns="0" rIns="0" bIns="0" rtlCol="0" anchor="ctr"/>
          <a:lstStyle/>
          <a:p>
            <a:pPr indent="0" marL="0">
              <a:buNone/>
            </a:pPr>
            <a:r>
              <a:rPr lang="en-US" sz="800" b="1" dirty="0">
                <a:solidFill>
                  <a:srgbClr val="1F7A4D"/>
                </a:solidFill>
                <a:latin typeface="Segoe UI" pitchFamily="34" charset="0"/>
                <a:ea typeface="Segoe UI" pitchFamily="34" charset="-122"/>
                <a:cs typeface="Segoe UI" pitchFamily="34" charset="-120"/>
              </a:rPr>
              <a:t>NL Response</a:t>
            </a:r>
            <a:endParaRPr lang="en-US" sz="800" dirty="0"/>
          </a:p>
        </p:txBody>
      </p:sp>
      <p:sp>
        <p:nvSpPr>
          <p:cNvPr id="66" name="Text 64"/>
          <p:cNvSpPr txBox="1"/>
          <p:nvPr/>
        </p:nvSpPr>
        <p:spPr>
          <a:xfrm>
            <a:off x="8723376" y="2359152"/>
            <a:ext cx="786384" cy="201168"/>
          </a:xfrm>
          <a:prstGeom prst="rect">
            <a:avLst/>
          </a:prstGeom>
          <a:noFill/>
          <a:ln/>
        </p:spPr>
        <p:txBody>
          <a:bodyPr wrap="square" lIns="0" tIns="0" rIns="0" bIns="0" rtlCol="0" anchor="ctr"/>
          <a:lstStyle/>
          <a:p>
            <a:pPr indent="0" marL="0">
              <a:buNone/>
            </a:pPr>
            <a:r>
              <a:rPr lang="en-US" sz="690" dirty="0">
                <a:solidFill>
                  <a:srgbClr val="5B6577"/>
                </a:solidFill>
                <a:latin typeface="Segoe UI" pitchFamily="34" charset="0"/>
                <a:ea typeface="Segoe UI" pitchFamily="34" charset="-122"/>
                <a:cs typeface="Segoe UI" pitchFamily="34" charset="-120"/>
              </a:rPr>
              <a:t>renders final answer</a:t>
            </a:r>
            <a:endParaRPr lang="en-US" sz="690" dirty="0"/>
          </a:p>
        </p:txBody>
      </p:sp>
      <p:sp>
        <p:nvSpPr>
          <p:cNvPr id="67" name="Shape 65"/>
          <p:cNvSpPr/>
          <p:nvPr/>
        </p:nvSpPr>
        <p:spPr>
          <a:xfrm>
            <a:off x="8659368" y="2633472"/>
            <a:ext cx="914400" cy="402336"/>
          </a:xfrm>
          <a:prstGeom prst="roundRect">
            <a:avLst>
              <a:gd name="adj" fmla="val 6818"/>
            </a:avLst>
          </a:prstGeom>
          <a:solidFill>
            <a:srgbClr val="F0F8F4"/>
          </a:solidFill>
          <a:ln w="9525">
            <a:solidFill>
              <a:srgbClr val="A9D6BC"/>
            </a:solidFill>
            <a:prstDash val="solid"/>
          </a:ln>
        </p:spPr>
      </p:sp>
      <p:sp>
        <p:nvSpPr>
          <p:cNvPr id="68" name="Text 66"/>
          <p:cNvSpPr txBox="1"/>
          <p:nvPr/>
        </p:nvSpPr>
        <p:spPr>
          <a:xfrm>
            <a:off x="8723376" y="2660904"/>
            <a:ext cx="786384" cy="173736"/>
          </a:xfrm>
          <a:prstGeom prst="rect">
            <a:avLst/>
          </a:prstGeom>
          <a:noFill/>
          <a:ln/>
        </p:spPr>
        <p:txBody>
          <a:bodyPr wrap="square" lIns="0" tIns="0" rIns="0" bIns="0" rtlCol="0" anchor="ctr"/>
          <a:lstStyle/>
          <a:p>
            <a:pPr indent="0" marL="0">
              <a:buNone/>
            </a:pPr>
            <a:r>
              <a:rPr lang="en-US" sz="800" b="1" dirty="0">
                <a:solidFill>
                  <a:srgbClr val="1F7A4D"/>
                </a:solidFill>
                <a:latin typeface="Segoe UI" pitchFamily="34" charset="0"/>
                <a:ea typeface="Segoe UI" pitchFamily="34" charset="-122"/>
                <a:cs typeface="Segoe UI" pitchFamily="34" charset="-120"/>
              </a:rPr>
              <a:t>Clarification</a:t>
            </a:r>
            <a:endParaRPr lang="en-US" sz="800" dirty="0"/>
          </a:p>
        </p:txBody>
      </p:sp>
      <p:sp>
        <p:nvSpPr>
          <p:cNvPr id="69" name="Text 67"/>
          <p:cNvSpPr txBox="1"/>
          <p:nvPr/>
        </p:nvSpPr>
        <p:spPr>
          <a:xfrm>
            <a:off x="8723376" y="2816352"/>
            <a:ext cx="786384" cy="201168"/>
          </a:xfrm>
          <a:prstGeom prst="rect">
            <a:avLst/>
          </a:prstGeom>
          <a:noFill/>
          <a:ln/>
        </p:spPr>
        <p:txBody>
          <a:bodyPr wrap="square" lIns="0" tIns="0" rIns="0" bIns="0" rtlCol="0" anchor="ctr"/>
          <a:lstStyle/>
          <a:p>
            <a:pPr indent="0" marL="0">
              <a:buNone/>
            </a:pPr>
            <a:r>
              <a:rPr lang="en-US" sz="690" dirty="0">
                <a:solidFill>
                  <a:srgbClr val="5B6577"/>
                </a:solidFill>
                <a:latin typeface="Segoe UI" pitchFamily="34" charset="0"/>
                <a:ea typeface="Segoe UI" pitchFamily="34" charset="-122"/>
                <a:cs typeface="Segoe UI" pitchFamily="34" charset="-120"/>
              </a:rPr>
              <a:t>asks a follow-up</a:t>
            </a:r>
            <a:endParaRPr lang="en-US" sz="690" dirty="0"/>
          </a:p>
        </p:txBody>
      </p:sp>
      <p:sp>
        <p:nvSpPr>
          <p:cNvPr id="70" name="Shape 68"/>
          <p:cNvSpPr/>
          <p:nvPr/>
        </p:nvSpPr>
        <p:spPr>
          <a:xfrm>
            <a:off x="3941064" y="3127248"/>
            <a:ext cx="5632704" cy="466344"/>
          </a:xfrm>
          <a:prstGeom prst="roundRect">
            <a:avLst>
              <a:gd name="adj" fmla="val 5882"/>
            </a:avLst>
          </a:prstGeom>
          <a:solidFill>
            <a:srgbClr val="FAF9FE"/>
          </a:solidFill>
          <a:ln w="9525">
            <a:solidFill>
              <a:srgbClr val="D6CBEF"/>
            </a:solidFill>
            <a:prstDash val="solid"/>
          </a:ln>
        </p:spPr>
      </p:sp>
      <p:sp>
        <p:nvSpPr>
          <p:cNvPr id="71" name="Text 69"/>
          <p:cNvSpPr txBox="1"/>
          <p:nvPr/>
        </p:nvSpPr>
        <p:spPr>
          <a:xfrm>
            <a:off x="4014216" y="3154680"/>
            <a:ext cx="2011680" cy="182880"/>
          </a:xfrm>
          <a:prstGeom prst="rect">
            <a:avLst/>
          </a:prstGeom>
          <a:noFill/>
          <a:ln/>
        </p:spPr>
        <p:txBody>
          <a:bodyPr wrap="square" lIns="0" tIns="0" rIns="0" bIns="0" rtlCol="0" anchor="ctr"/>
          <a:lstStyle/>
          <a:p>
            <a:pPr indent="0" marL="0">
              <a:buNone/>
            </a:pPr>
            <a:r>
              <a:rPr lang="en-US" sz="740" b="1" dirty="0">
                <a:solidFill>
                  <a:srgbClr val="5B3FBF"/>
                </a:solidFill>
                <a:latin typeface="Segoe UI" pitchFamily="34" charset="0"/>
                <a:ea typeface="Segoe UI" pitchFamily="34" charset="-122"/>
                <a:cs typeface="Segoe UI" pitchFamily="34" charset="-120"/>
              </a:rPr>
              <a:t>AgentState  ·  shared typed state</a:t>
            </a:r>
            <a:endParaRPr lang="en-US" sz="740" dirty="0"/>
          </a:p>
        </p:txBody>
      </p:sp>
      <p:sp>
        <p:nvSpPr>
          <p:cNvPr id="72" name="Text 70"/>
          <p:cNvSpPr txBox="1"/>
          <p:nvPr/>
        </p:nvSpPr>
        <p:spPr>
          <a:xfrm>
            <a:off x="4014216" y="3319272"/>
            <a:ext cx="2834640" cy="237744"/>
          </a:xfrm>
          <a:prstGeom prst="rect">
            <a:avLst/>
          </a:prstGeom>
          <a:noFill/>
          <a:ln/>
        </p:spPr>
        <p:txBody>
          <a:bodyPr wrap="square" lIns="0" tIns="0" rIns="0" bIns="0" rtlCol="0" anchor="ctr"/>
          <a:lstStyle/>
          <a:p>
            <a:pPr indent="0" marL="0">
              <a:buNone/>
            </a:pPr>
            <a:r>
              <a:rPr lang="en-US" sz="660" dirty="0">
                <a:solidFill>
                  <a:srgbClr val="354052"/>
                </a:solidFill>
                <a:latin typeface="Segoe UI" pitchFamily="34" charset="0"/>
                <a:ea typeface="Segoe UI" pitchFamily="34" charset="-122"/>
                <a:cs typeface="Segoe UI" pitchFamily="34" charset="-120"/>
              </a:rPr>
              <a:t>user · role · area · intent · outlet · ranked list · recommendation · brief · chain</a:t>
            </a:r>
            <a:endParaRPr lang="en-US" sz="660" dirty="0"/>
          </a:p>
        </p:txBody>
      </p:sp>
      <p:sp>
        <p:nvSpPr>
          <p:cNvPr id="73" name="Text 71"/>
          <p:cNvSpPr txBox="1"/>
          <p:nvPr/>
        </p:nvSpPr>
        <p:spPr>
          <a:xfrm>
            <a:off x="6995160" y="3154680"/>
            <a:ext cx="548640" cy="182880"/>
          </a:xfrm>
          <a:prstGeom prst="rect">
            <a:avLst/>
          </a:prstGeom>
          <a:noFill/>
          <a:ln/>
        </p:spPr>
        <p:txBody>
          <a:bodyPr wrap="square" lIns="0" tIns="0" rIns="0" bIns="0" rtlCol="0" anchor="ctr"/>
          <a:lstStyle/>
          <a:p>
            <a:pPr indent="0" marL="0">
              <a:buNone/>
            </a:pPr>
            <a:r>
              <a:rPr lang="en-US" sz="740" b="1" dirty="0">
                <a:solidFill>
                  <a:srgbClr val="5B3FBF"/>
                </a:solidFill>
                <a:latin typeface="Segoe UI" pitchFamily="34" charset="0"/>
                <a:ea typeface="Segoe UI" pitchFamily="34" charset="-122"/>
                <a:cs typeface="Segoe UI" pitchFamily="34" charset="-120"/>
              </a:rPr>
              <a:t>TOOLS</a:t>
            </a:r>
            <a:endParaRPr lang="en-US" sz="740" dirty="0"/>
          </a:p>
        </p:txBody>
      </p:sp>
      <p:sp>
        <p:nvSpPr>
          <p:cNvPr id="74" name="Text 72"/>
          <p:cNvSpPr txBox="1"/>
          <p:nvPr/>
        </p:nvSpPr>
        <p:spPr>
          <a:xfrm>
            <a:off x="6995160" y="3319272"/>
            <a:ext cx="2560320" cy="237744"/>
          </a:xfrm>
          <a:prstGeom prst="rect">
            <a:avLst/>
          </a:prstGeom>
          <a:noFill/>
          <a:ln/>
        </p:spPr>
        <p:txBody>
          <a:bodyPr wrap="square" lIns="0" tIns="0" rIns="0" bIns="0" rtlCol="0" anchor="ctr"/>
          <a:lstStyle/>
          <a:p>
            <a:pPr indent="0" marL="0">
              <a:buNone/>
            </a:pPr>
            <a:r>
              <a:rPr lang="en-US" sz="660" dirty="0">
                <a:solidFill>
                  <a:srgbClr val="354052"/>
                </a:solidFill>
                <a:latin typeface="Segoe UI" pitchFamily="34" charset="0"/>
                <a:ea typeface="Segoe UI" pitchFamily="34" charset="-122"/>
                <a:cs typeface="Segoe UI" pitchFamily="34" charset="-120"/>
              </a:rPr>
              <a:t>db_tools (SQL)  ·  graph_tools (knowledge graph)  ·  cache_tools (Redis)</a:t>
            </a:r>
            <a:endParaRPr lang="en-US" sz="660" dirty="0"/>
          </a:p>
        </p:txBody>
      </p:sp>
      <p:sp>
        <p:nvSpPr>
          <p:cNvPr id="75" name="Shape 73"/>
          <p:cNvSpPr/>
          <p:nvPr/>
        </p:nvSpPr>
        <p:spPr>
          <a:xfrm>
            <a:off x="2240280" y="3803904"/>
            <a:ext cx="7452360" cy="841248"/>
          </a:xfrm>
          <a:prstGeom prst="roundRect">
            <a:avLst>
              <a:gd name="adj" fmla="val 3261"/>
            </a:avLst>
          </a:prstGeom>
          <a:solidFill>
            <a:srgbClr val="FFFFFF"/>
          </a:solidFill>
          <a:ln w="12700">
            <a:solidFill>
              <a:srgbClr val="CBD4E1"/>
            </a:solidFill>
            <a:prstDash val="solid"/>
          </a:ln>
        </p:spPr>
      </p:sp>
      <p:sp>
        <p:nvSpPr>
          <p:cNvPr id="76" name="Shape 74"/>
          <p:cNvSpPr/>
          <p:nvPr/>
        </p:nvSpPr>
        <p:spPr>
          <a:xfrm>
            <a:off x="2240280" y="3803904"/>
            <a:ext cx="7452360" cy="237744"/>
          </a:xfrm>
          <a:prstGeom prst="rect">
            <a:avLst/>
          </a:prstGeom>
          <a:solidFill>
            <a:srgbClr val="B4690E"/>
          </a:solidFill>
          <a:ln/>
        </p:spPr>
      </p:sp>
      <p:sp>
        <p:nvSpPr>
          <p:cNvPr id="77" name="Text 75"/>
          <p:cNvSpPr txBox="1"/>
          <p:nvPr/>
        </p:nvSpPr>
        <p:spPr>
          <a:xfrm>
            <a:off x="2350008" y="3803904"/>
            <a:ext cx="7232904" cy="237744"/>
          </a:xfrm>
          <a:prstGeom prst="rect">
            <a:avLst/>
          </a:prstGeom>
          <a:noFill/>
          <a:ln/>
        </p:spPr>
        <p:txBody>
          <a:bodyPr wrap="square" lIns="0" tIns="0" rIns="0" bIns="0" rtlCol="0" anchor="ctr"/>
          <a:lstStyle/>
          <a:p>
            <a:pPr indent="0" marL="0">
              <a:buNone/>
            </a:pPr>
            <a:r>
              <a:rPr lang="en-US" sz="880" b="1" dirty="0">
                <a:solidFill>
                  <a:srgbClr val="FFFFFF"/>
                </a:solidFill>
                <a:latin typeface="Segoe UI" pitchFamily="34" charset="0"/>
                <a:ea typeface="Segoe UI" pitchFamily="34" charset="-122"/>
                <a:cs typeface="Segoe UI" pitchFamily="34" charset="-120"/>
              </a:rPr>
              <a:t>AI &amp; ML SERVICES</a:t>
            </a:r>
            <a:endParaRPr lang="en-US" sz="880" dirty="0"/>
          </a:p>
        </p:txBody>
      </p:sp>
      <p:sp>
        <p:nvSpPr>
          <p:cNvPr id="78" name="Shape 76"/>
          <p:cNvSpPr/>
          <p:nvPr/>
        </p:nvSpPr>
        <p:spPr>
          <a:xfrm>
            <a:off x="2350008" y="4105656"/>
            <a:ext cx="1371600" cy="457200"/>
          </a:xfrm>
          <a:prstGeom prst="roundRect">
            <a:avLst>
              <a:gd name="adj" fmla="val 6000"/>
            </a:avLst>
          </a:prstGeom>
          <a:solidFill>
            <a:srgbClr val="FDF6EC"/>
          </a:solidFill>
          <a:ln w="9525">
            <a:solidFill>
              <a:srgbClr val="E8CFA8"/>
            </a:solidFill>
            <a:prstDash val="solid"/>
          </a:ln>
        </p:spPr>
      </p:sp>
      <p:sp>
        <p:nvSpPr>
          <p:cNvPr id="79" name="Text 77"/>
          <p:cNvSpPr txBox="1"/>
          <p:nvPr/>
        </p:nvSpPr>
        <p:spPr>
          <a:xfrm>
            <a:off x="2414016" y="4133088"/>
            <a:ext cx="1243584" cy="173736"/>
          </a:xfrm>
          <a:prstGeom prst="rect">
            <a:avLst/>
          </a:prstGeom>
          <a:noFill/>
          <a:ln/>
        </p:spPr>
        <p:txBody>
          <a:bodyPr wrap="square" lIns="0" tIns="0" rIns="0" bIns="0" rtlCol="0" anchor="ctr"/>
          <a:lstStyle/>
          <a:p>
            <a:pPr indent="0" marL="0">
              <a:buNone/>
            </a:pPr>
            <a:r>
              <a:rPr lang="en-US" sz="800" b="1" dirty="0">
                <a:solidFill>
                  <a:srgbClr val="B4690E"/>
                </a:solidFill>
                <a:latin typeface="Segoe UI" pitchFamily="34" charset="0"/>
                <a:ea typeface="Segoe UI" pitchFamily="34" charset="-122"/>
                <a:cs typeface="Segoe UI" pitchFamily="34" charset="-120"/>
              </a:rPr>
              <a:t>Amazon Bedrock</a:t>
            </a:r>
            <a:endParaRPr lang="en-US" sz="800" dirty="0"/>
          </a:p>
        </p:txBody>
      </p:sp>
      <p:sp>
        <p:nvSpPr>
          <p:cNvPr id="80" name="Text 78"/>
          <p:cNvSpPr txBox="1"/>
          <p:nvPr/>
        </p:nvSpPr>
        <p:spPr>
          <a:xfrm>
            <a:off x="2414016" y="4288536"/>
            <a:ext cx="1243584" cy="256032"/>
          </a:xfrm>
          <a:prstGeom prst="rect">
            <a:avLst/>
          </a:prstGeom>
          <a:noFill/>
          <a:ln/>
        </p:spPr>
        <p:txBody>
          <a:bodyPr wrap="square" lIns="0" tIns="0" rIns="0" bIns="0" rtlCol="0" anchor="ctr"/>
          <a:lstStyle/>
          <a:p>
            <a:pPr indent="0" marL="0">
              <a:buNone/>
            </a:pPr>
            <a:r>
              <a:rPr lang="en-US" sz="690" dirty="0">
                <a:solidFill>
                  <a:srgbClr val="5B6577"/>
                </a:solidFill>
                <a:latin typeface="Segoe UI" pitchFamily="34" charset="0"/>
                <a:ea typeface="Segoe UI" pitchFamily="34" charset="-122"/>
                <a:cs typeface="Segoe UI" pitchFamily="34" charset="-120"/>
              </a:rPr>
              <a:t>Claude 3 Sonnet — live</a:t>
            </a:r>
            <a:endParaRPr lang="en-US" sz="690" dirty="0"/>
          </a:p>
        </p:txBody>
      </p:sp>
      <p:sp>
        <p:nvSpPr>
          <p:cNvPr id="81" name="Shape 79"/>
          <p:cNvSpPr/>
          <p:nvPr/>
        </p:nvSpPr>
        <p:spPr>
          <a:xfrm>
            <a:off x="3803904" y="4105656"/>
            <a:ext cx="1371600" cy="457200"/>
          </a:xfrm>
          <a:prstGeom prst="roundRect">
            <a:avLst>
              <a:gd name="adj" fmla="val 6000"/>
            </a:avLst>
          </a:prstGeom>
          <a:solidFill>
            <a:srgbClr val="FDF6EC"/>
          </a:solidFill>
          <a:ln w="9525">
            <a:solidFill>
              <a:srgbClr val="E8CFA8"/>
            </a:solidFill>
            <a:prstDash val="solid"/>
          </a:ln>
        </p:spPr>
      </p:sp>
      <p:sp>
        <p:nvSpPr>
          <p:cNvPr id="82" name="Text 80"/>
          <p:cNvSpPr txBox="1"/>
          <p:nvPr/>
        </p:nvSpPr>
        <p:spPr>
          <a:xfrm>
            <a:off x="3867912" y="4133088"/>
            <a:ext cx="1243584" cy="173736"/>
          </a:xfrm>
          <a:prstGeom prst="rect">
            <a:avLst/>
          </a:prstGeom>
          <a:noFill/>
          <a:ln/>
        </p:spPr>
        <p:txBody>
          <a:bodyPr wrap="square" lIns="0" tIns="0" rIns="0" bIns="0" rtlCol="0" anchor="ctr"/>
          <a:lstStyle/>
          <a:p>
            <a:pPr indent="0" marL="0">
              <a:buNone/>
            </a:pPr>
            <a:r>
              <a:rPr lang="en-US" sz="800" b="1" dirty="0">
                <a:solidFill>
                  <a:srgbClr val="B4690E"/>
                </a:solidFill>
                <a:latin typeface="Segoe UI" pitchFamily="34" charset="0"/>
                <a:ea typeface="Segoe UI" pitchFamily="34" charset="-122"/>
                <a:cs typeface="Segoe UI" pitchFamily="34" charset="-120"/>
              </a:rPr>
              <a:t>Bedrock Guardrails</a:t>
            </a:r>
            <a:endParaRPr lang="en-US" sz="800" dirty="0"/>
          </a:p>
        </p:txBody>
      </p:sp>
      <p:sp>
        <p:nvSpPr>
          <p:cNvPr id="83" name="Text 81"/>
          <p:cNvSpPr txBox="1"/>
          <p:nvPr/>
        </p:nvSpPr>
        <p:spPr>
          <a:xfrm>
            <a:off x="3867912" y="4288536"/>
            <a:ext cx="1243584" cy="256032"/>
          </a:xfrm>
          <a:prstGeom prst="rect">
            <a:avLst/>
          </a:prstGeom>
          <a:noFill/>
          <a:ln/>
        </p:spPr>
        <p:txBody>
          <a:bodyPr wrap="square" lIns="0" tIns="0" rIns="0" bIns="0" rtlCol="0" anchor="ctr"/>
          <a:lstStyle/>
          <a:p>
            <a:pPr indent="0" marL="0">
              <a:buNone/>
            </a:pPr>
            <a:r>
              <a:rPr lang="en-US" sz="690" dirty="0">
                <a:solidFill>
                  <a:srgbClr val="5B6577"/>
                </a:solidFill>
                <a:latin typeface="Segoe UI" pitchFamily="34" charset="0"/>
                <a:ea typeface="Segoe UI" pitchFamily="34" charset="-122"/>
                <a:cs typeface="Segoe UI" pitchFamily="34" charset="-120"/>
              </a:rPr>
              <a:t>safety on generated text</a:t>
            </a:r>
            <a:endParaRPr lang="en-US" sz="690" dirty="0"/>
          </a:p>
        </p:txBody>
      </p:sp>
      <p:sp>
        <p:nvSpPr>
          <p:cNvPr id="84" name="Shape 82"/>
          <p:cNvSpPr/>
          <p:nvPr/>
        </p:nvSpPr>
        <p:spPr>
          <a:xfrm>
            <a:off x="5257800" y="4105656"/>
            <a:ext cx="1371600" cy="457200"/>
          </a:xfrm>
          <a:prstGeom prst="roundRect">
            <a:avLst>
              <a:gd name="adj" fmla="val 6000"/>
            </a:avLst>
          </a:prstGeom>
          <a:solidFill>
            <a:srgbClr val="FDF6EC"/>
          </a:solidFill>
          <a:ln w="9525">
            <a:solidFill>
              <a:srgbClr val="E8CFA8"/>
            </a:solidFill>
            <a:prstDash val="solid"/>
          </a:ln>
        </p:spPr>
      </p:sp>
      <p:sp>
        <p:nvSpPr>
          <p:cNvPr id="85" name="Text 83"/>
          <p:cNvSpPr txBox="1"/>
          <p:nvPr/>
        </p:nvSpPr>
        <p:spPr>
          <a:xfrm>
            <a:off x="5321808" y="4133088"/>
            <a:ext cx="1243584" cy="173736"/>
          </a:xfrm>
          <a:prstGeom prst="rect">
            <a:avLst/>
          </a:prstGeom>
          <a:noFill/>
          <a:ln/>
        </p:spPr>
        <p:txBody>
          <a:bodyPr wrap="square" lIns="0" tIns="0" rIns="0" bIns="0" rtlCol="0" anchor="ctr"/>
          <a:lstStyle/>
          <a:p>
            <a:pPr indent="0" marL="0">
              <a:buNone/>
            </a:pPr>
            <a:r>
              <a:rPr lang="en-US" sz="800" b="1" dirty="0">
                <a:solidFill>
                  <a:srgbClr val="B4690E"/>
                </a:solidFill>
                <a:latin typeface="Segoe UI" pitchFamily="34" charset="0"/>
                <a:ea typeface="Segoe UI" pitchFamily="34" charset="-122"/>
                <a:cs typeface="Segoe UI" pitchFamily="34" charset="-120"/>
              </a:rPr>
              <a:t>Priority scores</a:t>
            </a:r>
            <a:endParaRPr lang="en-US" sz="800" dirty="0"/>
          </a:p>
        </p:txBody>
      </p:sp>
      <p:sp>
        <p:nvSpPr>
          <p:cNvPr id="86" name="Text 84"/>
          <p:cNvSpPr txBox="1"/>
          <p:nvPr/>
        </p:nvSpPr>
        <p:spPr>
          <a:xfrm>
            <a:off x="5321808" y="4288536"/>
            <a:ext cx="1243584" cy="256032"/>
          </a:xfrm>
          <a:prstGeom prst="rect">
            <a:avLst/>
          </a:prstGeom>
          <a:noFill/>
          <a:ln/>
        </p:spPr>
        <p:txBody>
          <a:bodyPr wrap="square" lIns="0" tIns="0" rIns="0" bIns="0" rtlCol="0" anchor="ctr"/>
          <a:lstStyle/>
          <a:p>
            <a:pPr indent="0" marL="0">
              <a:buNone/>
            </a:pPr>
            <a:r>
              <a:rPr lang="en-US" sz="690" dirty="0">
                <a:solidFill>
                  <a:srgbClr val="5B6577"/>
                </a:solidFill>
                <a:latin typeface="Segoe UI" pitchFamily="34" charset="0"/>
                <a:ea typeface="Segoe UI" pitchFamily="34" charset="-122"/>
                <a:cs typeface="Segoe UI" pitchFamily="34" charset="-120"/>
              </a:rPr>
              <a:t>served from outlet_scores</a:t>
            </a:r>
            <a:endParaRPr lang="en-US" sz="690" dirty="0"/>
          </a:p>
        </p:txBody>
      </p:sp>
      <p:sp>
        <p:nvSpPr>
          <p:cNvPr id="87" name="Shape 85"/>
          <p:cNvSpPr/>
          <p:nvPr/>
        </p:nvSpPr>
        <p:spPr>
          <a:xfrm>
            <a:off x="6711696" y="4105656"/>
            <a:ext cx="1371600" cy="457200"/>
          </a:xfrm>
          <a:prstGeom prst="roundRect">
            <a:avLst>
              <a:gd name="adj" fmla="val 6000"/>
            </a:avLst>
          </a:prstGeom>
          <a:solidFill>
            <a:srgbClr val="FDF6EC"/>
          </a:solidFill>
          <a:ln w="9525">
            <a:solidFill>
              <a:srgbClr val="E8CFA8"/>
            </a:solidFill>
            <a:prstDash val="solid"/>
          </a:ln>
        </p:spPr>
      </p:sp>
      <p:sp>
        <p:nvSpPr>
          <p:cNvPr id="88" name="Text 86"/>
          <p:cNvSpPr txBox="1"/>
          <p:nvPr/>
        </p:nvSpPr>
        <p:spPr>
          <a:xfrm>
            <a:off x="6775704" y="4133088"/>
            <a:ext cx="1243584" cy="173736"/>
          </a:xfrm>
          <a:prstGeom prst="rect">
            <a:avLst/>
          </a:prstGeom>
          <a:noFill/>
          <a:ln/>
        </p:spPr>
        <p:txBody>
          <a:bodyPr wrap="square" lIns="0" tIns="0" rIns="0" bIns="0" rtlCol="0" anchor="ctr"/>
          <a:lstStyle/>
          <a:p>
            <a:pPr indent="0" marL="0">
              <a:buNone/>
            </a:pPr>
            <a:r>
              <a:rPr lang="en-US" sz="800" b="1" dirty="0">
                <a:solidFill>
                  <a:srgbClr val="B4690E"/>
                </a:solidFill>
                <a:latin typeface="Segoe UI" pitchFamily="34" charset="0"/>
                <a:ea typeface="Segoe UI" pitchFamily="34" charset="-122"/>
                <a:cs typeface="Segoe UI" pitchFamily="34" charset="-120"/>
              </a:rPr>
              <a:t>SageMaker</a:t>
            </a:r>
            <a:endParaRPr lang="en-US" sz="800" dirty="0"/>
          </a:p>
        </p:txBody>
      </p:sp>
      <p:sp>
        <p:nvSpPr>
          <p:cNvPr id="89" name="Text 87"/>
          <p:cNvSpPr txBox="1"/>
          <p:nvPr/>
        </p:nvSpPr>
        <p:spPr>
          <a:xfrm>
            <a:off x="6775704" y="4288536"/>
            <a:ext cx="1243584" cy="256032"/>
          </a:xfrm>
          <a:prstGeom prst="rect">
            <a:avLst/>
          </a:prstGeom>
          <a:noFill/>
          <a:ln/>
        </p:spPr>
        <p:txBody>
          <a:bodyPr wrap="square" lIns="0" tIns="0" rIns="0" bIns="0" rtlCol="0" anchor="ctr"/>
          <a:lstStyle/>
          <a:p>
            <a:pPr indent="0" marL="0">
              <a:buNone/>
            </a:pPr>
            <a:r>
              <a:rPr lang="en-US" sz="690" dirty="0">
                <a:solidFill>
                  <a:srgbClr val="5B6577"/>
                </a:solidFill>
                <a:latin typeface="Segoe UI" pitchFamily="34" charset="0"/>
                <a:ea typeface="Segoe UI" pitchFamily="34" charset="-122"/>
                <a:cs typeface="Segoe UI" pitchFamily="34" charset="-120"/>
              </a:rPr>
              <a:t>client ready — phase 2</a:t>
            </a:r>
            <a:endParaRPr lang="en-US" sz="690" dirty="0"/>
          </a:p>
        </p:txBody>
      </p:sp>
      <p:sp>
        <p:nvSpPr>
          <p:cNvPr id="90" name="Shape 88"/>
          <p:cNvSpPr/>
          <p:nvPr/>
        </p:nvSpPr>
        <p:spPr>
          <a:xfrm>
            <a:off x="8165592" y="4105656"/>
            <a:ext cx="1371600" cy="457200"/>
          </a:xfrm>
          <a:prstGeom prst="roundRect">
            <a:avLst>
              <a:gd name="adj" fmla="val 6000"/>
            </a:avLst>
          </a:prstGeom>
          <a:solidFill>
            <a:srgbClr val="FDF6EC"/>
          </a:solidFill>
          <a:ln w="9525">
            <a:solidFill>
              <a:srgbClr val="E8CFA8"/>
            </a:solidFill>
            <a:prstDash val="solid"/>
          </a:ln>
        </p:spPr>
      </p:sp>
      <p:sp>
        <p:nvSpPr>
          <p:cNvPr id="91" name="Text 89"/>
          <p:cNvSpPr txBox="1"/>
          <p:nvPr/>
        </p:nvSpPr>
        <p:spPr>
          <a:xfrm>
            <a:off x="8229600" y="4133088"/>
            <a:ext cx="1243584" cy="173736"/>
          </a:xfrm>
          <a:prstGeom prst="rect">
            <a:avLst/>
          </a:prstGeom>
          <a:noFill/>
          <a:ln/>
        </p:spPr>
        <p:txBody>
          <a:bodyPr wrap="square" lIns="0" tIns="0" rIns="0" bIns="0" rtlCol="0" anchor="ctr"/>
          <a:lstStyle/>
          <a:p>
            <a:pPr indent="0" marL="0">
              <a:buNone/>
            </a:pPr>
            <a:r>
              <a:rPr lang="en-US" sz="800" b="1" dirty="0">
                <a:solidFill>
                  <a:srgbClr val="B4690E"/>
                </a:solidFill>
                <a:latin typeface="Segoe UI" pitchFamily="34" charset="0"/>
                <a:ea typeface="Segoe UI" pitchFamily="34" charset="-122"/>
                <a:cs typeface="Segoe UI" pitchFamily="34" charset="-120"/>
              </a:rPr>
              <a:t>OpenSearch</a:t>
            </a:r>
            <a:endParaRPr lang="en-US" sz="800" dirty="0"/>
          </a:p>
        </p:txBody>
      </p:sp>
      <p:sp>
        <p:nvSpPr>
          <p:cNvPr id="92" name="Text 90"/>
          <p:cNvSpPr txBox="1"/>
          <p:nvPr/>
        </p:nvSpPr>
        <p:spPr>
          <a:xfrm>
            <a:off x="8229600" y="4288536"/>
            <a:ext cx="1243584" cy="256032"/>
          </a:xfrm>
          <a:prstGeom prst="rect">
            <a:avLst/>
          </a:prstGeom>
          <a:noFill/>
          <a:ln/>
        </p:spPr>
        <p:txBody>
          <a:bodyPr wrap="square" lIns="0" tIns="0" rIns="0" bIns="0" rtlCol="0" anchor="ctr"/>
          <a:lstStyle/>
          <a:p>
            <a:pPr indent="0" marL="0">
              <a:buNone/>
            </a:pPr>
            <a:r>
              <a:rPr lang="en-US" sz="690" dirty="0">
                <a:solidFill>
                  <a:srgbClr val="5B6577"/>
                </a:solidFill>
                <a:latin typeface="Segoe UI" pitchFamily="34" charset="0"/>
                <a:ea typeface="Segoe UI" pitchFamily="34" charset="-122"/>
                <a:cs typeface="Segoe UI" pitchFamily="34" charset="-120"/>
              </a:rPr>
              <a:t>planned — phase 2</a:t>
            </a:r>
            <a:endParaRPr lang="en-US" sz="690" dirty="0"/>
          </a:p>
        </p:txBody>
      </p:sp>
      <p:sp>
        <p:nvSpPr>
          <p:cNvPr id="93" name="Shape 91"/>
          <p:cNvSpPr/>
          <p:nvPr/>
        </p:nvSpPr>
        <p:spPr>
          <a:xfrm>
            <a:off x="2240280" y="4736592"/>
            <a:ext cx="7452360" cy="841248"/>
          </a:xfrm>
          <a:prstGeom prst="roundRect">
            <a:avLst>
              <a:gd name="adj" fmla="val 3261"/>
            </a:avLst>
          </a:prstGeom>
          <a:solidFill>
            <a:srgbClr val="FFFFFF"/>
          </a:solidFill>
          <a:ln w="12700">
            <a:solidFill>
              <a:srgbClr val="CBD4E1"/>
            </a:solidFill>
            <a:prstDash val="solid"/>
          </a:ln>
        </p:spPr>
      </p:sp>
      <p:sp>
        <p:nvSpPr>
          <p:cNvPr id="94" name="Shape 92"/>
          <p:cNvSpPr/>
          <p:nvPr/>
        </p:nvSpPr>
        <p:spPr>
          <a:xfrm>
            <a:off x="2240280" y="4736592"/>
            <a:ext cx="7452360" cy="237744"/>
          </a:xfrm>
          <a:prstGeom prst="rect">
            <a:avLst/>
          </a:prstGeom>
          <a:solidFill>
            <a:srgbClr val="1F7A4D"/>
          </a:solidFill>
          <a:ln/>
        </p:spPr>
      </p:sp>
      <p:sp>
        <p:nvSpPr>
          <p:cNvPr id="95" name="Text 93"/>
          <p:cNvSpPr txBox="1"/>
          <p:nvPr/>
        </p:nvSpPr>
        <p:spPr>
          <a:xfrm>
            <a:off x="2350008" y="4736592"/>
            <a:ext cx="7232904" cy="237744"/>
          </a:xfrm>
          <a:prstGeom prst="rect">
            <a:avLst/>
          </a:prstGeom>
          <a:noFill/>
          <a:ln/>
        </p:spPr>
        <p:txBody>
          <a:bodyPr wrap="square" lIns="0" tIns="0" rIns="0" bIns="0" rtlCol="0" anchor="ctr"/>
          <a:lstStyle/>
          <a:p>
            <a:pPr indent="0" marL="0">
              <a:buNone/>
            </a:pPr>
            <a:r>
              <a:rPr lang="en-US" sz="880" b="1" dirty="0">
                <a:solidFill>
                  <a:srgbClr val="FFFFFF"/>
                </a:solidFill>
                <a:latin typeface="Segoe UI" pitchFamily="34" charset="0"/>
                <a:ea typeface="Segoe UI" pitchFamily="34" charset="-122"/>
                <a:cs typeface="Segoe UI" pitchFamily="34" charset="-120"/>
              </a:rPr>
              <a:t>DATA &amp; KNOWLEDGE LAYER</a:t>
            </a:r>
            <a:endParaRPr lang="en-US" sz="880" dirty="0"/>
          </a:p>
        </p:txBody>
      </p:sp>
      <p:sp>
        <p:nvSpPr>
          <p:cNvPr id="96" name="Shape 94"/>
          <p:cNvSpPr/>
          <p:nvPr/>
        </p:nvSpPr>
        <p:spPr>
          <a:xfrm>
            <a:off x="2350008" y="5038344"/>
            <a:ext cx="1371600" cy="457200"/>
          </a:xfrm>
          <a:prstGeom prst="roundRect">
            <a:avLst>
              <a:gd name="adj" fmla="val 6000"/>
            </a:avLst>
          </a:prstGeom>
          <a:solidFill>
            <a:srgbClr val="F0F8F4"/>
          </a:solidFill>
          <a:ln w="9525">
            <a:solidFill>
              <a:srgbClr val="A9D6BC"/>
            </a:solidFill>
            <a:prstDash val="solid"/>
          </a:ln>
        </p:spPr>
      </p:sp>
      <p:sp>
        <p:nvSpPr>
          <p:cNvPr id="97" name="Text 95"/>
          <p:cNvSpPr txBox="1"/>
          <p:nvPr/>
        </p:nvSpPr>
        <p:spPr>
          <a:xfrm>
            <a:off x="2414016" y="5065776"/>
            <a:ext cx="1243584" cy="173736"/>
          </a:xfrm>
          <a:prstGeom prst="rect">
            <a:avLst/>
          </a:prstGeom>
          <a:noFill/>
          <a:ln/>
        </p:spPr>
        <p:txBody>
          <a:bodyPr wrap="square" lIns="0" tIns="0" rIns="0" bIns="0" rtlCol="0" anchor="ctr"/>
          <a:lstStyle/>
          <a:p>
            <a:pPr indent="0" marL="0">
              <a:buNone/>
            </a:pPr>
            <a:r>
              <a:rPr lang="en-US" sz="800" b="1" dirty="0">
                <a:solidFill>
                  <a:srgbClr val="1F7A4D"/>
                </a:solidFill>
                <a:latin typeface="Segoe UI" pitchFamily="34" charset="0"/>
                <a:ea typeface="Segoe UI" pitchFamily="34" charset="-122"/>
                <a:cs typeface="Segoe UI" pitchFamily="34" charset="-120"/>
              </a:rPr>
              <a:t>PostgreSQL 15 / RDS</a:t>
            </a:r>
            <a:endParaRPr lang="en-US" sz="800" dirty="0"/>
          </a:p>
        </p:txBody>
      </p:sp>
      <p:sp>
        <p:nvSpPr>
          <p:cNvPr id="98" name="Text 96"/>
          <p:cNvSpPr txBox="1"/>
          <p:nvPr/>
        </p:nvSpPr>
        <p:spPr>
          <a:xfrm>
            <a:off x="2414016" y="5221224"/>
            <a:ext cx="1243584" cy="256032"/>
          </a:xfrm>
          <a:prstGeom prst="rect">
            <a:avLst/>
          </a:prstGeom>
          <a:noFill/>
          <a:ln/>
        </p:spPr>
        <p:txBody>
          <a:bodyPr wrap="square" lIns="0" tIns="0" rIns="0" bIns="0" rtlCol="0" anchor="ctr"/>
          <a:lstStyle/>
          <a:p>
            <a:pPr indent="0" marL="0">
              <a:buNone/>
            </a:pPr>
            <a:r>
              <a:rPr lang="en-US" sz="690" dirty="0">
                <a:solidFill>
                  <a:srgbClr val="5B6577"/>
                </a:solidFill>
                <a:latin typeface="Segoe UI" pitchFamily="34" charset="0"/>
                <a:ea typeface="Segoe UI" pitchFamily="34" charset="-122"/>
                <a:cs typeface="Segoe UI" pitchFamily="34" charset="-120"/>
              </a:rPr>
              <a:t>13-table model — live</a:t>
            </a:r>
            <a:endParaRPr lang="en-US" sz="690" dirty="0"/>
          </a:p>
        </p:txBody>
      </p:sp>
      <p:sp>
        <p:nvSpPr>
          <p:cNvPr id="99" name="Shape 97"/>
          <p:cNvSpPr/>
          <p:nvPr/>
        </p:nvSpPr>
        <p:spPr>
          <a:xfrm>
            <a:off x="3803904" y="5038344"/>
            <a:ext cx="1371600" cy="457200"/>
          </a:xfrm>
          <a:prstGeom prst="roundRect">
            <a:avLst>
              <a:gd name="adj" fmla="val 6000"/>
            </a:avLst>
          </a:prstGeom>
          <a:solidFill>
            <a:srgbClr val="F0F8F4"/>
          </a:solidFill>
          <a:ln w="9525">
            <a:solidFill>
              <a:srgbClr val="A9D6BC"/>
            </a:solidFill>
            <a:prstDash val="solid"/>
          </a:ln>
        </p:spPr>
      </p:sp>
      <p:sp>
        <p:nvSpPr>
          <p:cNvPr id="100" name="Text 98"/>
          <p:cNvSpPr txBox="1"/>
          <p:nvPr/>
        </p:nvSpPr>
        <p:spPr>
          <a:xfrm>
            <a:off x="3867912" y="5065776"/>
            <a:ext cx="1243584" cy="173736"/>
          </a:xfrm>
          <a:prstGeom prst="rect">
            <a:avLst/>
          </a:prstGeom>
          <a:noFill/>
          <a:ln/>
        </p:spPr>
        <p:txBody>
          <a:bodyPr wrap="square" lIns="0" tIns="0" rIns="0" bIns="0" rtlCol="0" anchor="ctr"/>
          <a:lstStyle/>
          <a:p>
            <a:pPr indent="0" marL="0">
              <a:buNone/>
            </a:pPr>
            <a:r>
              <a:rPr lang="en-US" sz="800" b="1" dirty="0">
                <a:solidFill>
                  <a:srgbClr val="1F7A4D"/>
                </a:solidFill>
                <a:latin typeface="Segoe UI" pitchFamily="34" charset="0"/>
                <a:ea typeface="Segoe UI" pitchFamily="34" charset="-122"/>
                <a:cs typeface="Segoe UI" pitchFamily="34" charset="-120"/>
              </a:rPr>
              <a:t>SQLAlchemy async</a:t>
            </a:r>
            <a:endParaRPr lang="en-US" sz="800" dirty="0"/>
          </a:p>
        </p:txBody>
      </p:sp>
      <p:sp>
        <p:nvSpPr>
          <p:cNvPr id="101" name="Text 99"/>
          <p:cNvSpPr txBox="1"/>
          <p:nvPr/>
        </p:nvSpPr>
        <p:spPr>
          <a:xfrm>
            <a:off x="3867912" y="5221224"/>
            <a:ext cx="1243584" cy="256032"/>
          </a:xfrm>
          <a:prstGeom prst="rect">
            <a:avLst/>
          </a:prstGeom>
          <a:noFill/>
          <a:ln/>
        </p:spPr>
        <p:txBody>
          <a:bodyPr wrap="square" lIns="0" tIns="0" rIns="0" bIns="0" rtlCol="0" anchor="ctr"/>
          <a:lstStyle/>
          <a:p>
            <a:pPr indent="0" marL="0">
              <a:buNone/>
            </a:pPr>
            <a:r>
              <a:rPr lang="en-US" sz="690" dirty="0">
                <a:solidFill>
                  <a:srgbClr val="5B6577"/>
                </a:solidFill>
                <a:latin typeface="Segoe UI" pitchFamily="34" charset="0"/>
                <a:ea typeface="Segoe UI" pitchFamily="34" charset="-122"/>
                <a:cs typeface="Segoe UI" pitchFamily="34" charset="-120"/>
              </a:rPr>
              <a:t>asyncpg on every query</a:t>
            </a:r>
            <a:endParaRPr lang="en-US" sz="690" dirty="0"/>
          </a:p>
        </p:txBody>
      </p:sp>
      <p:sp>
        <p:nvSpPr>
          <p:cNvPr id="102" name="Shape 100"/>
          <p:cNvSpPr/>
          <p:nvPr/>
        </p:nvSpPr>
        <p:spPr>
          <a:xfrm>
            <a:off x="5257800" y="5038344"/>
            <a:ext cx="1371600" cy="457200"/>
          </a:xfrm>
          <a:prstGeom prst="roundRect">
            <a:avLst>
              <a:gd name="adj" fmla="val 6000"/>
            </a:avLst>
          </a:prstGeom>
          <a:solidFill>
            <a:srgbClr val="F0F8F4"/>
          </a:solidFill>
          <a:ln w="9525">
            <a:solidFill>
              <a:srgbClr val="A9D6BC"/>
            </a:solidFill>
            <a:prstDash val="solid"/>
          </a:ln>
        </p:spPr>
      </p:sp>
      <p:sp>
        <p:nvSpPr>
          <p:cNvPr id="103" name="Text 101"/>
          <p:cNvSpPr txBox="1"/>
          <p:nvPr/>
        </p:nvSpPr>
        <p:spPr>
          <a:xfrm>
            <a:off x="5321808" y="5065776"/>
            <a:ext cx="1243584" cy="173736"/>
          </a:xfrm>
          <a:prstGeom prst="rect">
            <a:avLst/>
          </a:prstGeom>
          <a:noFill/>
          <a:ln/>
        </p:spPr>
        <p:txBody>
          <a:bodyPr wrap="square" lIns="0" tIns="0" rIns="0" bIns="0" rtlCol="0" anchor="ctr"/>
          <a:lstStyle/>
          <a:p>
            <a:pPr indent="0" marL="0">
              <a:buNone/>
            </a:pPr>
            <a:r>
              <a:rPr lang="en-US" sz="800" b="1" dirty="0">
                <a:solidFill>
                  <a:srgbClr val="1F7A4D"/>
                </a:solidFill>
                <a:latin typeface="Segoe UI" pitchFamily="34" charset="0"/>
                <a:ea typeface="Segoe UI" pitchFamily="34" charset="-122"/>
                <a:cs typeface="Segoe UI" pitchFamily="34" charset="-120"/>
              </a:rPr>
              <a:t>ElastiCache / Redis</a:t>
            </a:r>
            <a:endParaRPr lang="en-US" sz="800" dirty="0"/>
          </a:p>
        </p:txBody>
      </p:sp>
      <p:sp>
        <p:nvSpPr>
          <p:cNvPr id="104" name="Text 102"/>
          <p:cNvSpPr txBox="1"/>
          <p:nvPr/>
        </p:nvSpPr>
        <p:spPr>
          <a:xfrm>
            <a:off x="5321808" y="5221224"/>
            <a:ext cx="1243584" cy="256032"/>
          </a:xfrm>
          <a:prstGeom prst="rect">
            <a:avLst/>
          </a:prstGeom>
          <a:noFill/>
          <a:ln/>
        </p:spPr>
        <p:txBody>
          <a:bodyPr wrap="square" lIns="0" tIns="0" rIns="0" bIns="0" rtlCol="0" anchor="ctr"/>
          <a:lstStyle/>
          <a:p>
            <a:pPr indent="0" marL="0">
              <a:buNone/>
            </a:pPr>
            <a:r>
              <a:rPr lang="en-US" sz="690" dirty="0">
                <a:solidFill>
                  <a:srgbClr val="5B6577"/>
                </a:solidFill>
                <a:latin typeface="Segoe UI" pitchFamily="34" charset="0"/>
                <a:ea typeface="Segoe UI" pitchFamily="34" charset="-122"/>
                <a:cs typeface="Segoe UI" pitchFamily="34" charset="-120"/>
              </a:rPr>
              <a:t>scaffolded — phase 2</a:t>
            </a:r>
            <a:endParaRPr lang="en-US" sz="690" dirty="0"/>
          </a:p>
        </p:txBody>
      </p:sp>
      <p:sp>
        <p:nvSpPr>
          <p:cNvPr id="105" name="Shape 103"/>
          <p:cNvSpPr/>
          <p:nvPr/>
        </p:nvSpPr>
        <p:spPr>
          <a:xfrm>
            <a:off x="6711696" y="5038344"/>
            <a:ext cx="1371600" cy="457200"/>
          </a:xfrm>
          <a:prstGeom prst="roundRect">
            <a:avLst>
              <a:gd name="adj" fmla="val 6000"/>
            </a:avLst>
          </a:prstGeom>
          <a:solidFill>
            <a:srgbClr val="F0F8F4"/>
          </a:solidFill>
          <a:ln w="9525">
            <a:solidFill>
              <a:srgbClr val="A9D6BC"/>
            </a:solidFill>
            <a:prstDash val="solid"/>
          </a:ln>
        </p:spPr>
      </p:sp>
      <p:sp>
        <p:nvSpPr>
          <p:cNvPr id="106" name="Text 104"/>
          <p:cNvSpPr txBox="1"/>
          <p:nvPr/>
        </p:nvSpPr>
        <p:spPr>
          <a:xfrm>
            <a:off x="6775704" y="5065776"/>
            <a:ext cx="1243584" cy="173736"/>
          </a:xfrm>
          <a:prstGeom prst="rect">
            <a:avLst/>
          </a:prstGeom>
          <a:noFill/>
          <a:ln/>
        </p:spPr>
        <p:txBody>
          <a:bodyPr wrap="square" lIns="0" tIns="0" rIns="0" bIns="0" rtlCol="0" anchor="ctr"/>
          <a:lstStyle/>
          <a:p>
            <a:pPr indent="0" marL="0">
              <a:buNone/>
            </a:pPr>
            <a:r>
              <a:rPr lang="en-US" sz="800" b="1" dirty="0">
                <a:solidFill>
                  <a:srgbClr val="1F7A4D"/>
                </a:solidFill>
                <a:latin typeface="Segoe UI" pitchFamily="34" charset="0"/>
                <a:ea typeface="Segoe UI" pitchFamily="34" charset="-122"/>
                <a:cs typeface="Segoe UI" pitchFamily="34" charset="-120"/>
              </a:rPr>
              <a:t>S3 · DynamoDB</a:t>
            </a:r>
            <a:endParaRPr lang="en-US" sz="800" dirty="0"/>
          </a:p>
        </p:txBody>
      </p:sp>
      <p:sp>
        <p:nvSpPr>
          <p:cNvPr id="107" name="Text 105"/>
          <p:cNvSpPr txBox="1"/>
          <p:nvPr/>
        </p:nvSpPr>
        <p:spPr>
          <a:xfrm>
            <a:off x="6775704" y="5221224"/>
            <a:ext cx="1243584" cy="256032"/>
          </a:xfrm>
          <a:prstGeom prst="rect">
            <a:avLst/>
          </a:prstGeom>
          <a:noFill/>
          <a:ln/>
        </p:spPr>
        <p:txBody>
          <a:bodyPr wrap="square" lIns="0" tIns="0" rIns="0" bIns="0" rtlCol="0" anchor="ctr"/>
          <a:lstStyle/>
          <a:p>
            <a:pPr indent="0" marL="0">
              <a:buNone/>
            </a:pPr>
            <a:r>
              <a:rPr lang="en-US" sz="690" dirty="0">
                <a:solidFill>
                  <a:srgbClr val="5B6577"/>
                </a:solidFill>
                <a:latin typeface="Segoe UI" pitchFamily="34" charset="0"/>
                <a:ea typeface="Segoe UI" pitchFamily="34" charset="-122"/>
                <a:cs typeface="Segoe UI" pitchFamily="34" charset="-120"/>
              </a:rPr>
              <a:t>client ready — phase 2</a:t>
            </a:r>
            <a:endParaRPr lang="en-US" sz="690" dirty="0"/>
          </a:p>
        </p:txBody>
      </p:sp>
      <p:sp>
        <p:nvSpPr>
          <p:cNvPr id="108" name="Shape 106"/>
          <p:cNvSpPr/>
          <p:nvPr/>
        </p:nvSpPr>
        <p:spPr>
          <a:xfrm>
            <a:off x="8165592" y="5038344"/>
            <a:ext cx="1371600" cy="457200"/>
          </a:xfrm>
          <a:prstGeom prst="roundRect">
            <a:avLst>
              <a:gd name="adj" fmla="val 6000"/>
            </a:avLst>
          </a:prstGeom>
          <a:solidFill>
            <a:srgbClr val="F0F8F4"/>
          </a:solidFill>
          <a:ln w="9525">
            <a:solidFill>
              <a:srgbClr val="A9D6BC"/>
            </a:solidFill>
            <a:prstDash val="solid"/>
          </a:ln>
        </p:spPr>
      </p:sp>
      <p:sp>
        <p:nvSpPr>
          <p:cNvPr id="109" name="Text 107"/>
          <p:cNvSpPr txBox="1"/>
          <p:nvPr/>
        </p:nvSpPr>
        <p:spPr>
          <a:xfrm>
            <a:off x="8229600" y="5065776"/>
            <a:ext cx="1243584" cy="173736"/>
          </a:xfrm>
          <a:prstGeom prst="rect">
            <a:avLst/>
          </a:prstGeom>
          <a:noFill/>
          <a:ln/>
        </p:spPr>
        <p:txBody>
          <a:bodyPr wrap="square" lIns="0" tIns="0" rIns="0" bIns="0" rtlCol="0" anchor="ctr"/>
          <a:lstStyle/>
          <a:p>
            <a:pPr indent="0" marL="0">
              <a:buNone/>
            </a:pPr>
            <a:r>
              <a:rPr lang="en-US" sz="800" b="1" dirty="0">
                <a:solidFill>
                  <a:srgbClr val="1F7A4D"/>
                </a:solidFill>
                <a:latin typeface="Segoe UI" pitchFamily="34" charset="0"/>
                <a:ea typeface="Segoe UI" pitchFamily="34" charset="-122"/>
                <a:cs typeface="Segoe UI" pitchFamily="34" charset="-120"/>
              </a:rPr>
              <a:t>Knowledge Graph</a:t>
            </a:r>
            <a:endParaRPr lang="en-US" sz="800" dirty="0"/>
          </a:p>
        </p:txBody>
      </p:sp>
      <p:sp>
        <p:nvSpPr>
          <p:cNvPr id="110" name="Text 108"/>
          <p:cNvSpPr txBox="1"/>
          <p:nvPr/>
        </p:nvSpPr>
        <p:spPr>
          <a:xfrm>
            <a:off x="8229600" y="5221224"/>
            <a:ext cx="1243584" cy="256032"/>
          </a:xfrm>
          <a:prstGeom prst="rect">
            <a:avLst/>
          </a:prstGeom>
          <a:noFill/>
          <a:ln/>
        </p:spPr>
        <p:txBody>
          <a:bodyPr wrap="square" lIns="0" tIns="0" rIns="0" bIns="0" rtlCol="0" anchor="ctr"/>
          <a:lstStyle/>
          <a:p>
            <a:pPr indent="0" marL="0">
              <a:buNone/>
            </a:pPr>
            <a:r>
              <a:rPr lang="en-US" sz="690" dirty="0">
                <a:solidFill>
                  <a:srgbClr val="5B6577"/>
                </a:solidFill>
                <a:latin typeface="Segoe UI" pitchFamily="34" charset="0"/>
                <a:ea typeface="Segoe UI" pitchFamily="34" charset="-122"/>
                <a:cs typeface="Segoe UI" pitchFamily="34" charset="-120"/>
              </a:rPr>
              <a:t>NetworkX — scaffolded</a:t>
            </a:r>
            <a:endParaRPr lang="en-US" sz="690" dirty="0"/>
          </a:p>
        </p:txBody>
      </p:sp>
      <p:sp>
        <p:nvSpPr>
          <p:cNvPr id="111" name="Shape 109"/>
          <p:cNvSpPr/>
          <p:nvPr/>
        </p:nvSpPr>
        <p:spPr>
          <a:xfrm>
            <a:off x="2240280" y="5669280"/>
            <a:ext cx="7452360" cy="548640"/>
          </a:xfrm>
          <a:prstGeom prst="roundRect">
            <a:avLst>
              <a:gd name="adj" fmla="val 5000"/>
            </a:avLst>
          </a:prstGeom>
          <a:solidFill>
            <a:srgbClr val="F0F8F4"/>
          </a:solidFill>
          <a:ln w="12700">
            <a:solidFill>
              <a:srgbClr val="A9D6BC"/>
            </a:solidFill>
            <a:prstDash val="solid"/>
          </a:ln>
        </p:spPr>
      </p:sp>
      <p:sp>
        <p:nvSpPr>
          <p:cNvPr id="112" name="Shape 110"/>
          <p:cNvSpPr/>
          <p:nvPr/>
        </p:nvSpPr>
        <p:spPr>
          <a:xfrm>
            <a:off x="2240280" y="5669280"/>
            <a:ext cx="1371600" cy="548640"/>
          </a:xfrm>
          <a:prstGeom prst="roundRect">
            <a:avLst>
              <a:gd name="adj" fmla="val 5000"/>
            </a:avLst>
          </a:prstGeom>
          <a:solidFill>
            <a:srgbClr val="1F7A4D"/>
          </a:solidFill>
          <a:ln/>
        </p:spPr>
      </p:sp>
      <p:sp>
        <p:nvSpPr>
          <p:cNvPr id="113" name="Text 111"/>
          <p:cNvSpPr txBox="1"/>
          <p:nvPr/>
        </p:nvSpPr>
        <p:spPr>
          <a:xfrm>
            <a:off x="2313432" y="5742432"/>
            <a:ext cx="1225296" cy="201168"/>
          </a:xfrm>
          <a:prstGeom prst="rect">
            <a:avLst/>
          </a:prstGeom>
          <a:noFill/>
          <a:ln/>
        </p:spPr>
        <p:txBody>
          <a:bodyPr wrap="square" lIns="0" tIns="0" rIns="0" bIns="0" rtlCol="0" anchor="ctr"/>
          <a:lstStyle/>
          <a:p>
            <a:pPr algn="ctr" indent="0" marL="0">
              <a:buNone/>
            </a:pPr>
            <a:r>
              <a:rPr lang="en-US" sz="860" b="1" dirty="0">
                <a:solidFill>
                  <a:srgbClr val="FFFFFF"/>
                </a:solidFill>
                <a:latin typeface="Segoe UI" pitchFamily="34" charset="0"/>
                <a:ea typeface="Segoe UI" pitchFamily="34" charset="-122"/>
                <a:cs typeface="Segoe UI" pitchFamily="34" charset="-120"/>
              </a:rPr>
              <a:t>AWS RUNTIME</a:t>
            </a:r>
            <a:endParaRPr lang="en-US" sz="860" dirty="0"/>
          </a:p>
        </p:txBody>
      </p:sp>
      <p:sp>
        <p:nvSpPr>
          <p:cNvPr id="114" name="Text 112"/>
          <p:cNvSpPr txBox="1"/>
          <p:nvPr/>
        </p:nvSpPr>
        <p:spPr>
          <a:xfrm>
            <a:off x="2313432" y="5943600"/>
            <a:ext cx="1225296" cy="182880"/>
          </a:xfrm>
          <a:prstGeom prst="rect">
            <a:avLst/>
          </a:prstGeom>
          <a:noFill/>
          <a:ln/>
        </p:spPr>
        <p:txBody>
          <a:bodyPr wrap="square" lIns="0" tIns="0" rIns="0" bIns="0" rtlCol="0" anchor="ctr"/>
          <a:lstStyle/>
          <a:p>
            <a:pPr algn="ctr" indent="0" marL="0">
              <a:buNone/>
            </a:pPr>
            <a:r>
              <a:rPr lang="en-US" sz="660" dirty="0">
                <a:solidFill>
                  <a:srgbClr val="C8E4D5"/>
                </a:solidFill>
                <a:latin typeface="Segoe UI" pitchFamily="34" charset="0"/>
                <a:ea typeface="Segoe UI" pitchFamily="34" charset="-122"/>
                <a:cs typeface="Segoe UI" pitchFamily="34" charset="-120"/>
              </a:rPr>
              <a:t>containerised</a:t>
            </a:r>
            <a:endParaRPr lang="en-US" sz="660" dirty="0"/>
          </a:p>
        </p:txBody>
      </p:sp>
      <p:sp>
        <p:nvSpPr>
          <p:cNvPr id="115" name="Text 113"/>
          <p:cNvSpPr txBox="1"/>
          <p:nvPr/>
        </p:nvSpPr>
        <p:spPr>
          <a:xfrm>
            <a:off x="3758184" y="5669280"/>
            <a:ext cx="1000354" cy="548640"/>
          </a:xfrm>
          <a:prstGeom prst="rect">
            <a:avLst/>
          </a:prstGeom>
          <a:noFill/>
          <a:ln/>
        </p:spPr>
        <p:txBody>
          <a:bodyPr wrap="square" lIns="0" tIns="0" rIns="0" bIns="0" rtlCol="0" anchor="ctr"/>
          <a:lstStyle/>
          <a:p>
            <a:pPr algn="ctr" indent="0" marL="0">
              <a:buNone/>
            </a:pPr>
            <a:r>
              <a:rPr lang="en-US" sz="800" b="1" dirty="0">
                <a:solidFill>
                  <a:srgbClr val="0B2E5C"/>
                </a:solidFill>
                <a:latin typeface="Segoe UI" pitchFamily="34" charset="0"/>
                <a:ea typeface="Segoe UI" pitchFamily="34" charset="-122"/>
                <a:cs typeface="Segoe UI" pitchFamily="34" charset="-120"/>
              </a:rPr>
              <a:t>Docker image</a:t>
            </a:r>
            <a:endParaRPr lang="en-US" sz="800" dirty="0"/>
          </a:p>
        </p:txBody>
      </p:sp>
      <p:sp>
        <p:nvSpPr>
          <p:cNvPr id="116" name="Shape 114"/>
          <p:cNvSpPr/>
          <p:nvPr/>
        </p:nvSpPr>
        <p:spPr>
          <a:xfrm>
            <a:off x="4767682" y="5943600"/>
            <a:ext cx="118872" cy="0"/>
          </a:xfrm>
          <a:prstGeom prst="line">
            <a:avLst/>
          </a:prstGeom>
          <a:noFill/>
          <a:ln w="15875">
            <a:solidFill>
              <a:srgbClr val="1F7A4D"/>
            </a:solidFill>
            <a:prstDash val="solid"/>
            <a:tailEnd type="triangle"/>
          </a:ln>
        </p:spPr>
      </p:sp>
      <p:sp>
        <p:nvSpPr>
          <p:cNvPr id="117" name="Text 115"/>
          <p:cNvSpPr txBox="1"/>
          <p:nvPr/>
        </p:nvSpPr>
        <p:spPr>
          <a:xfrm>
            <a:off x="4923130" y="5669280"/>
            <a:ext cx="1000354" cy="548640"/>
          </a:xfrm>
          <a:prstGeom prst="rect">
            <a:avLst/>
          </a:prstGeom>
          <a:noFill/>
          <a:ln/>
        </p:spPr>
        <p:txBody>
          <a:bodyPr wrap="square" lIns="0" tIns="0" rIns="0" bIns="0" rtlCol="0" anchor="ctr"/>
          <a:lstStyle/>
          <a:p>
            <a:pPr algn="ctr" indent="0" marL="0">
              <a:buNone/>
            </a:pPr>
            <a:r>
              <a:rPr lang="en-US" sz="800" b="1" dirty="0">
                <a:solidFill>
                  <a:srgbClr val="0B2E5C"/>
                </a:solidFill>
                <a:latin typeface="Segoe UI" pitchFamily="34" charset="0"/>
                <a:ea typeface="Segoe UI" pitchFamily="34" charset="-122"/>
                <a:cs typeface="Segoe UI" pitchFamily="34" charset="-120"/>
              </a:rPr>
              <a:t>Amazon ECR</a:t>
            </a:r>
            <a:endParaRPr lang="en-US" sz="800" dirty="0"/>
          </a:p>
        </p:txBody>
      </p:sp>
      <p:sp>
        <p:nvSpPr>
          <p:cNvPr id="118" name="Shape 116"/>
          <p:cNvSpPr/>
          <p:nvPr/>
        </p:nvSpPr>
        <p:spPr>
          <a:xfrm>
            <a:off x="5932627" y="5943600"/>
            <a:ext cx="118872" cy="0"/>
          </a:xfrm>
          <a:prstGeom prst="line">
            <a:avLst/>
          </a:prstGeom>
          <a:noFill/>
          <a:ln w="15875">
            <a:solidFill>
              <a:srgbClr val="1F7A4D"/>
            </a:solidFill>
            <a:prstDash val="solid"/>
            <a:tailEnd type="triangle"/>
          </a:ln>
        </p:spPr>
      </p:sp>
      <p:sp>
        <p:nvSpPr>
          <p:cNvPr id="119" name="Text 117"/>
          <p:cNvSpPr txBox="1"/>
          <p:nvPr/>
        </p:nvSpPr>
        <p:spPr>
          <a:xfrm>
            <a:off x="6088075" y="5669280"/>
            <a:ext cx="1000354" cy="548640"/>
          </a:xfrm>
          <a:prstGeom prst="rect">
            <a:avLst/>
          </a:prstGeom>
          <a:noFill/>
          <a:ln/>
        </p:spPr>
        <p:txBody>
          <a:bodyPr wrap="square" lIns="0" tIns="0" rIns="0" bIns="0" rtlCol="0" anchor="ctr"/>
          <a:lstStyle/>
          <a:p>
            <a:pPr algn="ctr" indent="0" marL="0">
              <a:buNone/>
            </a:pPr>
            <a:r>
              <a:rPr lang="en-US" sz="800" b="1" dirty="0">
                <a:solidFill>
                  <a:srgbClr val="0B2E5C"/>
                </a:solidFill>
                <a:latin typeface="Segoe UI" pitchFamily="34" charset="0"/>
                <a:ea typeface="Segoe UI" pitchFamily="34" charset="-122"/>
                <a:cs typeface="Segoe UI" pitchFamily="34" charset="-120"/>
              </a:rPr>
              <a:t>ECS Fargate</a:t>
            </a:r>
            <a:endParaRPr lang="en-US" sz="800" dirty="0"/>
          </a:p>
        </p:txBody>
      </p:sp>
      <p:sp>
        <p:nvSpPr>
          <p:cNvPr id="120" name="Shape 118"/>
          <p:cNvSpPr/>
          <p:nvPr/>
        </p:nvSpPr>
        <p:spPr>
          <a:xfrm>
            <a:off x="7097573" y="5943600"/>
            <a:ext cx="118872" cy="0"/>
          </a:xfrm>
          <a:prstGeom prst="line">
            <a:avLst/>
          </a:prstGeom>
          <a:noFill/>
          <a:ln w="15875">
            <a:solidFill>
              <a:srgbClr val="1F7A4D"/>
            </a:solidFill>
            <a:prstDash val="solid"/>
            <a:tailEnd type="triangle"/>
          </a:ln>
        </p:spPr>
      </p:sp>
      <p:sp>
        <p:nvSpPr>
          <p:cNvPr id="121" name="Text 119"/>
          <p:cNvSpPr txBox="1"/>
          <p:nvPr/>
        </p:nvSpPr>
        <p:spPr>
          <a:xfrm>
            <a:off x="7253021" y="5669280"/>
            <a:ext cx="1000354" cy="548640"/>
          </a:xfrm>
          <a:prstGeom prst="rect">
            <a:avLst/>
          </a:prstGeom>
          <a:noFill/>
          <a:ln/>
        </p:spPr>
        <p:txBody>
          <a:bodyPr wrap="square" lIns="0" tIns="0" rIns="0" bIns="0" rtlCol="0" anchor="ctr"/>
          <a:lstStyle/>
          <a:p>
            <a:pPr algn="ctr" indent="0" marL="0">
              <a:buNone/>
            </a:pPr>
            <a:r>
              <a:rPr lang="en-US" sz="800" b="1" dirty="0">
                <a:solidFill>
                  <a:srgbClr val="0B2E5C"/>
                </a:solidFill>
                <a:latin typeface="Segoe UI" pitchFamily="34" charset="0"/>
                <a:ea typeface="Segoe UI" pitchFamily="34" charset="-122"/>
                <a:cs typeface="Segoe UI" pitchFamily="34" charset="-120"/>
              </a:rPr>
              <a:t>Application Load Balancer</a:t>
            </a:r>
            <a:endParaRPr lang="en-US" sz="800" dirty="0"/>
          </a:p>
        </p:txBody>
      </p:sp>
      <p:sp>
        <p:nvSpPr>
          <p:cNvPr id="122" name="Shape 120"/>
          <p:cNvSpPr/>
          <p:nvPr/>
        </p:nvSpPr>
        <p:spPr>
          <a:xfrm>
            <a:off x="8262518" y="5943600"/>
            <a:ext cx="118872" cy="0"/>
          </a:xfrm>
          <a:prstGeom prst="line">
            <a:avLst/>
          </a:prstGeom>
          <a:noFill/>
          <a:ln w="15875">
            <a:solidFill>
              <a:srgbClr val="1F7A4D"/>
            </a:solidFill>
            <a:prstDash val="solid"/>
            <a:tailEnd type="triangle"/>
          </a:ln>
        </p:spPr>
      </p:sp>
      <p:sp>
        <p:nvSpPr>
          <p:cNvPr id="123" name="Text 121"/>
          <p:cNvSpPr txBox="1"/>
          <p:nvPr/>
        </p:nvSpPr>
        <p:spPr>
          <a:xfrm>
            <a:off x="8417966" y="5669280"/>
            <a:ext cx="1000354" cy="548640"/>
          </a:xfrm>
          <a:prstGeom prst="rect">
            <a:avLst/>
          </a:prstGeom>
          <a:noFill/>
          <a:ln/>
        </p:spPr>
        <p:txBody>
          <a:bodyPr wrap="square" lIns="0" tIns="0" rIns="0" bIns="0" rtlCol="0" anchor="ctr"/>
          <a:lstStyle/>
          <a:p>
            <a:pPr algn="ctr" indent="0" marL="0">
              <a:buNone/>
            </a:pPr>
            <a:r>
              <a:rPr lang="en-US" sz="800" b="1" dirty="0">
                <a:solidFill>
                  <a:srgbClr val="1F7A4D"/>
                </a:solidFill>
                <a:latin typeface="Segoe UI" pitchFamily="34" charset="0"/>
                <a:ea typeface="Segoe UI" pitchFamily="34" charset="-122"/>
                <a:cs typeface="Segoe UI" pitchFamily="34" charset="-120"/>
              </a:rPr>
              <a:t>HTTPS endpoint</a:t>
            </a:r>
            <a:endParaRPr lang="en-US" sz="800" dirty="0"/>
          </a:p>
        </p:txBody>
      </p:sp>
      <p:sp>
        <p:nvSpPr>
          <p:cNvPr id="124" name="Shape 122"/>
          <p:cNvSpPr/>
          <p:nvPr/>
        </p:nvSpPr>
        <p:spPr>
          <a:xfrm>
            <a:off x="9829800" y="932688"/>
            <a:ext cx="1965960" cy="2331720"/>
          </a:xfrm>
          <a:prstGeom prst="roundRect">
            <a:avLst>
              <a:gd name="adj" fmla="val 1395"/>
            </a:avLst>
          </a:prstGeom>
          <a:solidFill>
            <a:srgbClr val="FFFFFF"/>
          </a:solidFill>
          <a:ln w="12700">
            <a:solidFill>
              <a:srgbClr val="CBD4E1"/>
            </a:solidFill>
            <a:prstDash val="solid"/>
          </a:ln>
        </p:spPr>
      </p:sp>
      <p:sp>
        <p:nvSpPr>
          <p:cNvPr id="125" name="Shape 123"/>
          <p:cNvSpPr/>
          <p:nvPr/>
        </p:nvSpPr>
        <p:spPr>
          <a:xfrm>
            <a:off x="9829800" y="932688"/>
            <a:ext cx="1965960" cy="237744"/>
          </a:xfrm>
          <a:prstGeom prst="rect">
            <a:avLst/>
          </a:prstGeom>
          <a:solidFill>
            <a:srgbClr val="0B2E5C"/>
          </a:solidFill>
          <a:ln/>
        </p:spPr>
      </p:sp>
      <p:sp>
        <p:nvSpPr>
          <p:cNvPr id="126" name="Text 124"/>
          <p:cNvSpPr txBox="1"/>
          <p:nvPr/>
        </p:nvSpPr>
        <p:spPr>
          <a:xfrm>
            <a:off x="9939528" y="932688"/>
            <a:ext cx="1746504" cy="237744"/>
          </a:xfrm>
          <a:prstGeom prst="rect">
            <a:avLst/>
          </a:prstGeom>
          <a:noFill/>
          <a:ln/>
        </p:spPr>
        <p:txBody>
          <a:bodyPr wrap="square" lIns="0" tIns="0" rIns="0" bIns="0" rtlCol="0" anchor="ctr"/>
          <a:lstStyle/>
          <a:p>
            <a:pPr indent="0" marL="0">
              <a:buNone/>
            </a:pPr>
            <a:r>
              <a:rPr lang="en-US" sz="880" b="1" dirty="0">
                <a:solidFill>
                  <a:srgbClr val="FFFFFF"/>
                </a:solidFill>
                <a:latin typeface="Segoe UI" pitchFamily="34" charset="0"/>
                <a:ea typeface="Segoe UI" pitchFamily="34" charset="-122"/>
                <a:cs typeface="Segoe UI" pitchFamily="34" charset="-120"/>
              </a:rPr>
              <a:t>SECURITY &amp; GOVERNANCE</a:t>
            </a:r>
            <a:endParaRPr lang="en-US" sz="880" dirty="0"/>
          </a:p>
        </p:txBody>
      </p:sp>
      <p:sp>
        <p:nvSpPr>
          <p:cNvPr id="127" name="Text 125"/>
          <p:cNvSpPr txBox="1"/>
          <p:nvPr/>
        </p:nvSpPr>
        <p:spPr>
          <a:xfrm>
            <a:off x="9939528" y="1243584"/>
            <a:ext cx="1773936" cy="256032"/>
          </a:xfrm>
          <a:prstGeom prst="rect">
            <a:avLst/>
          </a:prstGeom>
          <a:noFill/>
          <a:ln/>
        </p:spPr>
        <p:txBody>
          <a:bodyPr wrap="square" lIns="0" tIns="0" rIns="0" bIns="0" rtlCol="0" anchor="ctr"/>
          <a:lstStyle/>
          <a:p>
            <a:pPr indent="0" marL="0">
              <a:buNone/>
            </a:pPr>
            <a:r>
              <a:rPr lang="en-US" sz="720" dirty="0">
                <a:solidFill>
                  <a:srgbClr val="354052"/>
                </a:solidFill>
                <a:latin typeface="Segoe UI" pitchFamily="34" charset="0"/>
                <a:ea typeface="Segoe UI" pitchFamily="34" charset="-122"/>
                <a:cs typeface="Segoe UI" pitchFamily="34" charset="-120"/>
              </a:rPr>
              <a:t>▪  Amazon Cognito — identity</a:t>
            </a:r>
            <a:endParaRPr lang="en-US" sz="720" dirty="0"/>
          </a:p>
        </p:txBody>
      </p:sp>
      <p:sp>
        <p:nvSpPr>
          <p:cNvPr id="128" name="Text 126"/>
          <p:cNvSpPr txBox="1"/>
          <p:nvPr/>
        </p:nvSpPr>
        <p:spPr>
          <a:xfrm>
            <a:off x="9939528" y="1517904"/>
            <a:ext cx="1773936" cy="256032"/>
          </a:xfrm>
          <a:prstGeom prst="rect">
            <a:avLst/>
          </a:prstGeom>
          <a:noFill/>
          <a:ln/>
        </p:spPr>
        <p:txBody>
          <a:bodyPr wrap="square" lIns="0" tIns="0" rIns="0" bIns="0" rtlCol="0" anchor="ctr"/>
          <a:lstStyle/>
          <a:p>
            <a:pPr indent="0" marL="0">
              <a:buNone/>
            </a:pPr>
            <a:r>
              <a:rPr lang="en-US" sz="720" dirty="0">
                <a:solidFill>
                  <a:srgbClr val="354052"/>
                </a:solidFill>
                <a:latin typeface="Segoe UI" pitchFamily="34" charset="0"/>
                <a:ea typeface="Segoe UI" pitchFamily="34" charset="-122"/>
                <a:cs typeface="Segoe UI" pitchFamily="34" charset="-120"/>
              </a:rPr>
              <a:t>▪  JWT sessions (python-jose)</a:t>
            </a:r>
            <a:endParaRPr lang="en-US" sz="720" dirty="0"/>
          </a:p>
        </p:txBody>
      </p:sp>
      <p:sp>
        <p:nvSpPr>
          <p:cNvPr id="129" name="Text 127"/>
          <p:cNvSpPr txBox="1"/>
          <p:nvPr/>
        </p:nvSpPr>
        <p:spPr>
          <a:xfrm>
            <a:off x="9939528" y="1792224"/>
            <a:ext cx="1773936" cy="256032"/>
          </a:xfrm>
          <a:prstGeom prst="rect">
            <a:avLst/>
          </a:prstGeom>
          <a:noFill/>
          <a:ln/>
        </p:spPr>
        <p:txBody>
          <a:bodyPr wrap="square" lIns="0" tIns="0" rIns="0" bIns="0" rtlCol="0" anchor="ctr"/>
          <a:lstStyle/>
          <a:p>
            <a:pPr indent="0" marL="0">
              <a:buNone/>
            </a:pPr>
            <a:r>
              <a:rPr lang="en-US" sz="720" dirty="0">
                <a:solidFill>
                  <a:srgbClr val="354052"/>
                </a:solidFill>
                <a:latin typeface="Segoe UI" pitchFamily="34" charset="0"/>
                <a:ea typeface="Segoe UI" pitchFamily="34" charset="-122"/>
                <a:cs typeface="Segoe UI" pitchFamily="34" charset="-120"/>
              </a:rPr>
              <a:t>▪  RBAC by role</a:t>
            </a:r>
            <a:endParaRPr lang="en-US" sz="720" dirty="0"/>
          </a:p>
        </p:txBody>
      </p:sp>
      <p:sp>
        <p:nvSpPr>
          <p:cNvPr id="130" name="Text 128"/>
          <p:cNvSpPr txBox="1"/>
          <p:nvPr/>
        </p:nvSpPr>
        <p:spPr>
          <a:xfrm>
            <a:off x="9939528" y="2066544"/>
            <a:ext cx="1773936" cy="256032"/>
          </a:xfrm>
          <a:prstGeom prst="rect">
            <a:avLst/>
          </a:prstGeom>
          <a:noFill/>
          <a:ln/>
        </p:spPr>
        <p:txBody>
          <a:bodyPr wrap="square" lIns="0" tIns="0" rIns="0" bIns="0" rtlCol="0" anchor="ctr"/>
          <a:lstStyle/>
          <a:p>
            <a:pPr indent="0" marL="0">
              <a:buNone/>
            </a:pPr>
            <a:r>
              <a:rPr lang="en-US" sz="720" dirty="0">
                <a:solidFill>
                  <a:srgbClr val="354052"/>
                </a:solidFill>
                <a:latin typeface="Segoe UI" pitchFamily="34" charset="0"/>
                <a:ea typeface="Segoe UI" pitchFamily="34" charset="-122"/>
                <a:cs typeface="Segoe UI" pitchFamily="34" charset="-120"/>
              </a:rPr>
              <a:t>▪  Tenant isolation (area / DSP)</a:t>
            </a:r>
            <a:endParaRPr lang="en-US" sz="720" dirty="0"/>
          </a:p>
        </p:txBody>
      </p:sp>
      <p:sp>
        <p:nvSpPr>
          <p:cNvPr id="131" name="Text 129"/>
          <p:cNvSpPr txBox="1"/>
          <p:nvPr/>
        </p:nvSpPr>
        <p:spPr>
          <a:xfrm>
            <a:off x="9939528" y="2340864"/>
            <a:ext cx="1773936" cy="256032"/>
          </a:xfrm>
          <a:prstGeom prst="rect">
            <a:avLst/>
          </a:prstGeom>
          <a:noFill/>
          <a:ln/>
        </p:spPr>
        <p:txBody>
          <a:bodyPr wrap="square" lIns="0" tIns="0" rIns="0" bIns="0" rtlCol="0" anchor="ctr"/>
          <a:lstStyle/>
          <a:p>
            <a:pPr indent="0" marL="0">
              <a:buNone/>
            </a:pPr>
            <a:r>
              <a:rPr lang="en-US" sz="720" dirty="0">
                <a:solidFill>
                  <a:srgbClr val="354052"/>
                </a:solidFill>
                <a:latin typeface="Segoe UI" pitchFamily="34" charset="0"/>
                <a:ea typeface="Segoe UI" pitchFamily="34" charset="-122"/>
                <a:cs typeface="Segoe UI" pitchFamily="34" charset="-120"/>
              </a:rPr>
              <a:t>▪  Audit on every request</a:t>
            </a:r>
            <a:endParaRPr lang="en-US" sz="720" dirty="0"/>
          </a:p>
        </p:txBody>
      </p:sp>
      <p:sp>
        <p:nvSpPr>
          <p:cNvPr id="132" name="Text 130"/>
          <p:cNvSpPr txBox="1"/>
          <p:nvPr/>
        </p:nvSpPr>
        <p:spPr>
          <a:xfrm>
            <a:off x="9939528" y="2615184"/>
            <a:ext cx="1773936" cy="256032"/>
          </a:xfrm>
          <a:prstGeom prst="rect">
            <a:avLst/>
          </a:prstGeom>
          <a:noFill/>
          <a:ln/>
        </p:spPr>
        <p:txBody>
          <a:bodyPr wrap="square" lIns="0" tIns="0" rIns="0" bIns="0" rtlCol="0" anchor="ctr"/>
          <a:lstStyle/>
          <a:p>
            <a:pPr indent="0" marL="0">
              <a:buNone/>
            </a:pPr>
            <a:r>
              <a:rPr lang="en-US" sz="720" dirty="0">
                <a:solidFill>
                  <a:srgbClr val="354052"/>
                </a:solidFill>
                <a:latin typeface="Segoe UI" pitchFamily="34" charset="0"/>
                <a:ea typeface="Segoe UI" pitchFamily="34" charset="-122"/>
                <a:cs typeface="Segoe UI" pitchFamily="34" charset="-120"/>
              </a:rPr>
              <a:t>▪  AWS KMS — client ready</a:t>
            </a:r>
            <a:endParaRPr lang="en-US" sz="720" dirty="0"/>
          </a:p>
        </p:txBody>
      </p:sp>
      <p:sp>
        <p:nvSpPr>
          <p:cNvPr id="133" name="Text 131"/>
          <p:cNvSpPr txBox="1"/>
          <p:nvPr/>
        </p:nvSpPr>
        <p:spPr>
          <a:xfrm>
            <a:off x="9939528" y="2889504"/>
            <a:ext cx="1773936" cy="256032"/>
          </a:xfrm>
          <a:prstGeom prst="rect">
            <a:avLst/>
          </a:prstGeom>
          <a:noFill/>
          <a:ln/>
        </p:spPr>
        <p:txBody>
          <a:bodyPr wrap="square" lIns="0" tIns="0" rIns="0" bIns="0" rtlCol="0" anchor="ctr"/>
          <a:lstStyle/>
          <a:p>
            <a:pPr indent="0" marL="0">
              <a:buNone/>
            </a:pPr>
            <a:r>
              <a:rPr lang="en-US" sz="720" dirty="0">
                <a:solidFill>
                  <a:srgbClr val="354052"/>
                </a:solidFill>
                <a:latin typeface="Segoe UI" pitchFamily="34" charset="0"/>
                <a:ea typeface="Segoe UI" pitchFamily="34" charset="-122"/>
                <a:cs typeface="Segoe UI" pitchFamily="34" charset="-120"/>
              </a:rPr>
              <a:t>▪  Secrets Manager — client ready</a:t>
            </a:r>
            <a:endParaRPr lang="en-US" sz="720" dirty="0"/>
          </a:p>
        </p:txBody>
      </p:sp>
      <p:sp>
        <p:nvSpPr>
          <p:cNvPr id="134" name="Shape 132"/>
          <p:cNvSpPr/>
          <p:nvPr/>
        </p:nvSpPr>
        <p:spPr>
          <a:xfrm>
            <a:off x="9829800" y="3401568"/>
            <a:ext cx="1965960" cy="1243584"/>
          </a:xfrm>
          <a:prstGeom prst="roundRect">
            <a:avLst>
              <a:gd name="adj" fmla="val 2206"/>
            </a:avLst>
          </a:prstGeom>
          <a:solidFill>
            <a:srgbClr val="FFFFFF"/>
          </a:solidFill>
          <a:ln w="12700">
            <a:solidFill>
              <a:srgbClr val="CBD4E1"/>
            </a:solidFill>
            <a:prstDash val="solid"/>
          </a:ln>
        </p:spPr>
      </p:sp>
      <p:sp>
        <p:nvSpPr>
          <p:cNvPr id="135" name="Shape 133"/>
          <p:cNvSpPr/>
          <p:nvPr/>
        </p:nvSpPr>
        <p:spPr>
          <a:xfrm>
            <a:off x="9829800" y="3401568"/>
            <a:ext cx="1965960" cy="237744"/>
          </a:xfrm>
          <a:prstGeom prst="rect">
            <a:avLst/>
          </a:prstGeom>
          <a:solidFill>
            <a:srgbClr val="0093C4"/>
          </a:solidFill>
          <a:ln/>
        </p:spPr>
      </p:sp>
      <p:sp>
        <p:nvSpPr>
          <p:cNvPr id="136" name="Text 134"/>
          <p:cNvSpPr txBox="1"/>
          <p:nvPr/>
        </p:nvSpPr>
        <p:spPr>
          <a:xfrm>
            <a:off x="9939528" y="3401568"/>
            <a:ext cx="1746504" cy="237744"/>
          </a:xfrm>
          <a:prstGeom prst="rect">
            <a:avLst/>
          </a:prstGeom>
          <a:noFill/>
          <a:ln/>
        </p:spPr>
        <p:txBody>
          <a:bodyPr wrap="square" lIns="0" tIns="0" rIns="0" bIns="0" rtlCol="0" anchor="ctr"/>
          <a:lstStyle/>
          <a:p>
            <a:pPr indent="0" marL="0">
              <a:buNone/>
            </a:pPr>
            <a:r>
              <a:rPr lang="en-US" sz="880" b="1" dirty="0">
                <a:solidFill>
                  <a:srgbClr val="FFFFFF"/>
                </a:solidFill>
                <a:latin typeface="Segoe UI" pitchFamily="34" charset="0"/>
                <a:ea typeface="Segoe UI" pitchFamily="34" charset="-122"/>
                <a:cs typeface="Segoe UI" pitchFamily="34" charset="-120"/>
              </a:rPr>
              <a:t>OBSERVABILITY</a:t>
            </a:r>
            <a:endParaRPr lang="en-US" sz="880" dirty="0"/>
          </a:p>
        </p:txBody>
      </p:sp>
      <p:sp>
        <p:nvSpPr>
          <p:cNvPr id="137" name="Text 135"/>
          <p:cNvSpPr txBox="1"/>
          <p:nvPr/>
        </p:nvSpPr>
        <p:spPr>
          <a:xfrm>
            <a:off x="9939528" y="3712464"/>
            <a:ext cx="1773936" cy="219456"/>
          </a:xfrm>
          <a:prstGeom prst="rect">
            <a:avLst/>
          </a:prstGeom>
          <a:noFill/>
          <a:ln/>
        </p:spPr>
        <p:txBody>
          <a:bodyPr wrap="square" lIns="0" tIns="0" rIns="0" bIns="0" rtlCol="0" anchor="ctr"/>
          <a:lstStyle/>
          <a:p>
            <a:pPr indent="0" marL="0">
              <a:buNone/>
            </a:pPr>
            <a:r>
              <a:rPr lang="en-US" sz="720" dirty="0">
                <a:solidFill>
                  <a:srgbClr val="354052"/>
                </a:solidFill>
                <a:latin typeface="Segoe UI" pitchFamily="34" charset="0"/>
                <a:ea typeface="Segoe UI" pitchFamily="34" charset="-122"/>
                <a:cs typeface="Segoe UI" pitchFamily="34" charset="-120"/>
              </a:rPr>
              <a:t>▪  CloudWatch — logs &amp; metrics</a:t>
            </a:r>
            <a:endParaRPr lang="en-US" sz="720" dirty="0"/>
          </a:p>
        </p:txBody>
      </p:sp>
      <p:sp>
        <p:nvSpPr>
          <p:cNvPr id="138" name="Text 136"/>
          <p:cNvSpPr txBox="1"/>
          <p:nvPr/>
        </p:nvSpPr>
        <p:spPr>
          <a:xfrm>
            <a:off x="9939528" y="3941064"/>
            <a:ext cx="1773936" cy="219456"/>
          </a:xfrm>
          <a:prstGeom prst="rect">
            <a:avLst/>
          </a:prstGeom>
          <a:noFill/>
          <a:ln/>
        </p:spPr>
        <p:txBody>
          <a:bodyPr wrap="square" lIns="0" tIns="0" rIns="0" bIns="0" rtlCol="0" anchor="ctr"/>
          <a:lstStyle/>
          <a:p>
            <a:pPr indent="0" marL="0">
              <a:buNone/>
            </a:pPr>
            <a:r>
              <a:rPr lang="en-US" sz="720" dirty="0">
                <a:solidFill>
                  <a:srgbClr val="354052"/>
                </a:solidFill>
                <a:latin typeface="Segoe UI" pitchFamily="34" charset="0"/>
                <a:ea typeface="Segoe UI" pitchFamily="34" charset="-122"/>
                <a:cs typeface="Segoe UI" pitchFamily="34" charset="-120"/>
              </a:rPr>
              <a:t>▪  AWS X-Ray — request tracing</a:t>
            </a:r>
            <a:endParaRPr lang="en-US" sz="720" dirty="0"/>
          </a:p>
        </p:txBody>
      </p:sp>
      <p:sp>
        <p:nvSpPr>
          <p:cNvPr id="139" name="Text 137"/>
          <p:cNvSpPr txBox="1"/>
          <p:nvPr/>
        </p:nvSpPr>
        <p:spPr>
          <a:xfrm>
            <a:off x="9939528" y="4169664"/>
            <a:ext cx="1773936" cy="219456"/>
          </a:xfrm>
          <a:prstGeom prst="rect">
            <a:avLst/>
          </a:prstGeom>
          <a:noFill/>
          <a:ln/>
        </p:spPr>
        <p:txBody>
          <a:bodyPr wrap="square" lIns="0" tIns="0" rIns="0" bIns="0" rtlCol="0" anchor="ctr"/>
          <a:lstStyle/>
          <a:p>
            <a:pPr indent="0" marL="0">
              <a:buNone/>
            </a:pPr>
            <a:r>
              <a:rPr lang="en-US" sz="720" dirty="0">
                <a:solidFill>
                  <a:srgbClr val="354052"/>
                </a:solidFill>
                <a:latin typeface="Segoe UI" pitchFamily="34" charset="0"/>
                <a:ea typeface="Segoe UI" pitchFamily="34" charset="-122"/>
                <a:cs typeface="Segoe UI" pitchFamily="34" charset="-120"/>
              </a:rPr>
              <a:t>▪  Amazon SNS — client ready</a:t>
            </a:r>
            <a:endParaRPr lang="en-US" sz="720" dirty="0"/>
          </a:p>
        </p:txBody>
      </p:sp>
      <p:sp>
        <p:nvSpPr>
          <p:cNvPr id="140" name="Text 138"/>
          <p:cNvSpPr txBox="1"/>
          <p:nvPr/>
        </p:nvSpPr>
        <p:spPr>
          <a:xfrm>
            <a:off x="9939528" y="4398264"/>
            <a:ext cx="1773936" cy="219456"/>
          </a:xfrm>
          <a:prstGeom prst="rect">
            <a:avLst/>
          </a:prstGeom>
          <a:noFill/>
          <a:ln/>
        </p:spPr>
        <p:txBody>
          <a:bodyPr wrap="square" lIns="0" tIns="0" rIns="0" bIns="0" rtlCol="0" anchor="ctr"/>
          <a:lstStyle/>
          <a:p>
            <a:pPr indent="0" marL="0">
              <a:buNone/>
            </a:pPr>
            <a:r>
              <a:rPr lang="en-US" sz="720" dirty="0">
                <a:solidFill>
                  <a:srgbClr val="354052"/>
                </a:solidFill>
                <a:latin typeface="Segoe UI" pitchFamily="34" charset="0"/>
                <a:ea typeface="Segoe UI" pitchFamily="34" charset="-122"/>
                <a:cs typeface="Segoe UI" pitchFamily="34" charset="-120"/>
              </a:rPr>
              <a:t>▪  EventBridge — client ready</a:t>
            </a:r>
            <a:endParaRPr lang="en-US" sz="720" dirty="0"/>
          </a:p>
        </p:txBody>
      </p:sp>
      <p:sp>
        <p:nvSpPr>
          <p:cNvPr id="141" name="Shape 139"/>
          <p:cNvSpPr/>
          <p:nvPr/>
        </p:nvSpPr>
        <p:spPr>
          <a:xfrm>
            <a:off x="9829800" y="4782312"/>
            <a:ext cx="1965960" cy="1435608"/>
          </a:xfrm>
          <a:prstGeom prst="roundRect">
            <a:avLst>
              <a:gd name="adj" fmla="val 1911"/>
            </a:avLst>
          </a:prstGeom>
          <a:solidFill>
            <a:srgbClr val="FFFBF3"/>
          </a:solidFill>
          <a:ln w="12700">
            <a:solidFill>
              <a:srgbClr val="B4690E"/>
            </a:solidFill>
            <a:prstDash val="dash"/>
          </a:ln>
        </p:spPr>
      </p:sp>
      <p:sp>
        <p:nvSpPr>
          <p:cNvPr id="142" name="Shape 140"/>
          <p:cNvSpPr/>
          <p:nvPr/>
        </p:nvSpPr>
        <p:spPr>
          <a:xfrm>
            <a:off x="9829800" y="4782312"/>
            <a:ext cx="1965960" cy="237744"/>
          </a:xfrm>
          <a:prstGeom prst="rect">
            <a:avLst/>
          </a:prstGeom>
          <a:solidFill>
            <a:srgbClr val="5B6577"/>
          </a:solidFill>
          <a:ln/>
        </p:spPr>
      </p:sp>
      <p:sp>
        <p:nvSpPr>
          <p:cNvPr id="143" name="Text 141"/>
          <p:cNvSpPr txBox="1"/>
          <p:nvPr/>
        </p:nvSpPr>
        <p:spPr>
          <a:xfrm>
            <a:off x="9939528" y="4782312"/>
            <a:ext cx="1737360" cy="237744"/>
          </a:xfrm>
          <a:prstGeom prst="rect">
            <a:avLst/>
          </a:prstGeom>
          <a:noFill/>
          <a:ln/>
        </p:spPr>
        <p:txBody>
          <a:bodyPr wrap="square" lIns="0" tIns="0" rIns="0" bIns="0" rtlCol="0" anchor="ctr"/>
          <a:lstStyle/>
          <a:p>
            <a:pPr indent="0" marL="0">
              <a:buNone/>
            </a:pPr>
            <a:r>
              <a:rPr lang="en-US" sz="880" b="1" dirty="0">
                <a:solidFill>
                  <a:srgbClr val="FFFFFF"/>
                </a:solidFill>
                <a:latin typeface="Segoe UI" pitchFamily="34" charset="0"/>
                <a:ea typeface="Segoe UI" pitchFamily="34" charset="-122"/>
                <a:cs typeface="Segoe UI" pitchFamily="34" charset="-120"/>
              </a:rPr>
              <a:t>DEPLOYMENT</a:t>
            </a:r>
            <a:endParaRPr lang="en-US" sz="880" dirty="0"/>
          </a:p>
        </p:txBody>
      </p:sp>
      <p:sp>
        <p:nvSpPr>
          <p:cNvPr id="144" name="Text 142"/>
          <p:cNvSpPr txBox="1"/>
          <p:nvPr/>
        </p:nvSpPr>
        <p:spPr>
          <a:xfrm>
            <a:off x="9939528" y="5047488"/>
            <a:ext cx="1773936" cy="292608"/>
          </a:xfrm>
          <a:prstGeom prst="rect">
            <a:avLst/>
          </a:prstGeom>
          <a:noFill/>
          <a:ln/>
        </p:spPr>
        <p:txBody>
          <a:bodyPr wrap="square" lIns="0" tIns="0" rIns="0" bIns="0" rtlCol="0" anchor="ctr"/>
          <a:lstStyle/>
          <a:p>
            <a:pPr indent="0" marL="0">
              <a:buNone/>
            </a:pPr>
            <a:r>
              <a:rPr lang="en-US" sz="710" b="1" dirty="0">
                <a:solidFill>
                  <a:srgbClr val="1F7A4D"/>
                </a:solidFill>
                <a:latin typeface="Segoe UI" pitchFamily="34" charset="0"/>
                <a:ea typeface="Segoe UI" pitchFamily="34" charset="-122"/>
                <a:cs typeface="Segoe UI" pitchFamily="34" charset="-120"/>
              </a:rPr>
              <a:t>Docker image → Amazon ECR → ECS Fargate</a:t>
            </a:r>
            <a:endParaRPr lang="en-US" sz="710" dirty="0"/>
          </a:p>
        </p:txBody>
      </p:sp>
      <p:sp>
        <p:nvSpPr>
          <p:cNvPr id="145" name="Text 143"/>
          <p:cNvSpPr txBox="1"/>
          <p:nvPr/>
        </p:nvSpPr>
        <p:spPr>
          <a:xfrm>
            <a:off x="9939528" y="5367528"/>
            <a:ext cx="1773936" cy="155448"/>
          </a:xfrm>
          <a:prstGeom prst="rect">
            <a:avLst/>
          </a:prstGeom>
          <a:noFill/>
          <a:ln/>
        </p:spPr>
        <p:txBody>
          <a:bodyPr wrap="square" lIns="0" tIns="0" rIns="0" bIns="0" rtlCol="0" anchor="ctr"/>
          <a:lstStyle/>
          <a:p>
            <a:pPr indent="0" marL="0">
              <a:buNone/>
            </a:pPr>
            <a:r>
              <a:rPr lang="en-US" sz="660" dirty="0">
                <a:solidFill>
                  <a:srgbClr val="354052"/>
                </a:solidFill>
                <a:latin typeface="Segoe UI" pitchFamily="34" charset="0"/>
                <a:ea typeface="Segoe UI" pitchFamily="34" charset="-122"/>
                <a:cs typeface="Segoe UI" pitchFamily="34" charset="-120"/>
              </a:rPr>
              <a:t>▪  ALB (HTTPS) → task port 8000</a:t>
            </a:r>
            <a:endParaRPr lang="en-US" sz="660" dirty="0"/>
          </a:p>
        </p:txBody>
      </p:sp>
      <p:sp>
        <p:nvSpPr>
          <p:cNvPr id="146" name="Text 144"/>
          <p:cNvSpPr txBox="1"/>
          <p:nvPr/>
        </p:nvSpPr>
        <p:spPr>
          <a:xfrm>
            <a:off x="9939528" y="5532120"/>
            <a:ext cx="1773936" cy="155448"/>
          </a:xfrm>
          <a:prstGeom prst="rect">
            <a:avLst/>
          </a:prstGeom>
          <a:noFill/>
          <a:ln/>
        </p:spPr>
        <p:txBody>
          <a:bodyPr wrap="square" lIns="0" tIns="0" rIns="0" bIns="0" rtlCol="0" anchor="ctr"/>
          <a:lstStyle/>
          <a:p>
            <a:pPr indent="0" marL="0">
              <a:buNone/>
            </a:pPr>
            <a:r>
              <a:rPr lang="en-US" sz="660" dirty="0">
                <a:solidFill>
                  <a:srgbClr val="354052"/>
                </a:solidFill>
                <a:latin typeface="Segoe UI" pitchFamily="34" charset="0"/>
                <a:ea typeface="Segoe UI" pitchFamily="34" charset="-122"/>
                <a:cs typeface="Segoe UI" pitchFamily="34" charset="-120"/>
              </a:rPr>
              <a:t>▪  CloudWatch logs · autoscaling</a:t>
            </a:r>
            <a:endParaRPr lang="en-US" sz="660" dirty="0"/>
          </a:p>
        </p:txBody>
      </p:sp>
      <p:sp>
        <p:nvSpPr>
          <p:cNvPr id="147" name="Shape 145"/>
          <p:cNvSpPr/>
          <p:nvPr/>
        </p:nvSpPr>
        <p:spPr>
          <a:xfrm>
            <a:off x="9939528" y="5724144"/>
            <a:ext cx="1773936" cy="219456"/>
          </a:xfrm>
          <a:prstGeom prst="roundRect">
            <a:avLst>
              <a:gd name="adj" fmla="val 8333"/>
            </a:avLst>
          </a:prstGeom>
          <a:solidFill>
            <a:srgbClr val="FFF4E0"/>
          </a:solidFill>
          <a:ln w="9525">
            <a:solidFill>
              <a:srgbClr val="B4690E"/>
            </a:solidFill>
            <a:prstDash val="dash"/>
          </a:ln>
        </p:spPr>
      </p:sp>
      <p:sp>
        <p:nvSpPr>
          <p:cNvPr id="148" name="Text 146"/>
          <p:cNvSpPr txBox="1"/>
          <p:nvPr/>
        </p:nvSpPr>
        <p:spPr>
          <a:xfrm>
            <a:off x="9994392" y="5724144"/>
            <a:ext cx="1664208" cy="219456"/>
          </a:xfrm>
          <a:prstGeom prst="rect">
            <a:avLst/>
          </a:prstGeom>
          <a:noFill/>
          <a:ln/>
        </p:spPr>
        <p:txBody>
          <a:bodyPr wrap="square" lIns="0" tIns="0" rIns="0" bIns="0" rtlCol="0" anchor="ctr"/>
          <a:lstStyle/>
          <a:p>
            <a:pPr indent="0" marL="0">
              <a:buNone/>
            </a:pPr>
            <a:r>
              <a:rPr lang="en-US" sz="680" b="1" dirty="0">
                <a:solidFill>
                  <a:srgbClr val="B4690E"/>
                </a:solidFill>
                <a:latin typeface="Segoe UI" pitchFamily="34" charset="0"/>
                <a:ea typeface="Segoe UI" pitchFamily="34" charset="-122"/>
                <a:cs typeface="Segoe UI" pitchFamily="34" charset="-120"/>
              </a:rPr>
              <a:t>[ Account / region — TBC ]</a:t>
            </a:r>
            <a:endParaRPr lang="en-US" sz="680" dirty="0"/>
          </a:p>
        </p:txBody>
      </p:sp>
      <p:sp>
        <p:nvSpPr>
          <p:cNvPr id="149" name="Shape 147"/>
          <p:cNvSpPr/>
          <p:nvPr/>
        </p:nvSpPr>
        <p:spPr>
          <a:xfrm>
            <a:off x="9939528" y="5980176"/>
            <a:ext cx="1773936" cy="219456"/>
          </a:xfrm>
          <a:prstGeom prst="roundRect">
            <a:avLst>
              <a:gd name="adj" fmla="val 8333"/>
            </a:avLst>
          </a:prstGeom>
          <a:solidFill>
            <a:srgbClr val="FFF4E0"/>
          </a:solidFill>
          <a:ln w="9525">
            <a:solidFill>
              <a:srgbClr val="B4690E"/>
            </a:solidFill>
            <a:prstDash val="dash"/>
          </a:ln>
        </p:spPr>
      </p:sp>
      <p:sp>
        <p:nvSpPr>
          <p:cNvPr id="150" name="Text 148"/>
          <p:cNvSpPr txBox="1"/>
          <p:nvPr/>
        </p:nvSpPr>
        <p:spPr>
          <a:xfrm>
            <a:off x="9994392" y="5980176"/>
            <a:ext cx="1664208" cy="219456"/>
          </a:xfrm>
          <a:prstGeom prst="rect">
            <a:avLst/>
          </a:prstGeom>
          <a:noFill/>
          <a:ln/>
        </p:spPr>
        <p:txBody>
          <a:bodyPr wrap="square" lIns="0" tIns="0" rIns="0" bIns="0" rtlCol="0" anchor="ctr"/>
          <a:lstStyle/>
          <a:p>
            <a:pPr indent="0" marL="0">
              <a:buNone/>
            </a:pPr>
            <a:r>
              <a:rPr lang="en-US" sz="680" b="1" dirty="0">
                <a:solidFill>
                  <a:srgbClr val="B4690E"/>
                </a:solidFill>
                <a:latin typeface="Segoe UI" pitchFamily="34" charset="0"/>
                <a:ea typeface="Segoe UI" pitchFamily="34" charset="-122"/>
                <a:cs typeface="Segoe UI" pitchFamily="34" charset="-120"/>
              </a:rPr>
              <a:t>[ Endpoint URL — TBC ]</a:t>
            </a:r>
            <a:endParaRPr lang="en-US" sz="680" dirty="0"/>
          </a:p>
        </p:txBody>
      </p:sp>
      <p:sp>
        <p:nvSpPr>
          <p:cNvPr id="151" name="Shape 149"/>
          <p:cNvSpPr/>
          <p:nvPr/>
        </p:nvSpPr>
        <p:spPr>
          <a:xfrm>
            <a:off x="4434840" y="1773936"/>
            <a:ext cx="0" cy="91440"/>
          </a:xfrm>
          <a:prstGeom prst="line">
            <a:avLst/>
          </a:prstGeom>
          <a:noFill/>
          <a:ln w="15875">
            <a:solidFill>
              <a:srgbClr val="1476D2"/>
            </a:solidFill>
            <a:prstDash val="solid"/>
            <a:tailEnd type="triangle"/>
          </a:ln>
        </p:spPr>
      </p:sp>
      <p:sp>
        <p:nvSpPr>
          <p:cNvPr id="152" name="Shape 150"/>
          <p:cNvSpPr/>
          <p:nvPr/>
        </p:nvSpPr>
        <p:spPr>
          <a:xfrm>
            <a:off x="7360920" y="1865376"/>
            <a:ext cx="0" cy="-91440"/>
          </a:xfrm>
          <a:prstGeom prst="line">
            <a:avLst/>
          </a:prstGeom>
          <a:noFill/>
          <a:ln w="15875">
            <a:solidFill>
              <a:srgbClr val="1476D2"/>
            </a:solidFill>
            <a:prstDash val="solid"/>
            <a:tailEnd type="triangle"/>
          </a:ln>
        </p:spPr>
      </p:sp>
      <p:sp>
        <p:nvSpPr>
          <p:cNvPr id="153" name="Shape 151"/>
          <p:cNvSpPr/>
          <p:nvPr/>
        </p:nvSpPr>
        <p:spPr>
          <a:xfrm>
            <a:off x="4434840" y="3712464"/>
            <a:ext cx="0" cy="91440"/>
          </a:xfrm>
          <a:prstGeom prst="line">
            <a:avLst/>
          </a:prstGeom>
          <a:noFill/>
          <a:ln w="15875">
            <a:solidFill>
              <a:srgbClr val="1476D2"/>
            </a:solidFill>
            <a:prstDash val="solid"/>
            <a:tailEnd type="triangle"/>
          </a:ln>
        </p:spPr>
      </p:sp>
      <p:sp>
        <p:nvSpPr>
          <p:cNvPr id="154" name="Shape 152"/>
          <p:cNvSpPr/>
          <p:nvPr/>
        </p:nvSpPr>
        <p:spPr>
          <a:xfrm>
            <a:off x="7360920" y="3803904"/>
            <a:ext cx="0" cy="-91440"/>
          </a:xfrm>
          <a:prstGeom prst="line">
            <a:avLst/>
          </a:prstGeom>
          <a:noFill/>
          <a:ln w="15875">
            <a:solidFill>
              <a:srgbClr val="1476D2"/>
            </a:solidFill>
            <a:prstDash val="solid"/>
            <a:tailEnd type="triangle"/>
          </a:ln>
        </p:spPr>
      </p:sp>
      <p:sp>
        <p:nvSpPr>
          <p:cNvPr id="155" name="Shape 153"/>
          <p:cNvSpPr/>
          <p:nvPr/>
        </p:nvSpPr>
        <p:spPr>
          <a:xfrm>
            <a:off x="4434840" y="4645152"/>
            <a:ext cx="0" cy="91440"/>
          </a:xfrm>
          <a:prstGeom prst="line">
            <a:avLst/>
          </a:prstGeom>
          <a:noFill/>
          <a:ln w="15875">
            <a:solidFill>
              <a:srgbClr val="1476D2"/>
            </a:solidFill>
            <a:prstDash val="solid"/>
            <a:tailEnd type="triangle"/>
          </a:ln>
        </p:spPr>
      </p:sp>
      <p:sp>
        <p:nvSpPr>
          <p:cNvPr id="156" name="Shape 154"/>
          <p:cNvSpPr/>
          <p:nvPr/>
        </p:nvSpPr>
        <p:spPr>
          <a:xfrm>
            <a:off x="7360920" y="4736592"/>
            <a:ext cx="0" cy="-91440"/>
          </a:xfrm>
          <a:prstGeom prst="line">
            <a:avLst/>
          </a:prstGeom>
          <a:noFill/>
          <a:ln w="15875">
            <a:solidFill>
              <a:srgbClr val="1476D2"/>
            </a:solidFill>
            <a:prstDash val="solid"/>
            <a:tailEnd type="triangle"/>
          </a:ln>
        </p:spPr>
      </p:sp>
      <p:sp>
        <p:nvSpPr>
          <p:cNvPr id="157" name="Shape 155"/>
          <p:cNvSpPr/>
          <p:nvPr/>
        </p:nvSpPr>
        <p:spPr>
          <a:xfrm>
            <a:off x="2121408" y="1353312"/>
            <a:ext cx="91440" cy="0"/>
          </a:xfrm>
          <a:prstGeom prst="line">
            <a:avLst/>
          </a:prstGeom>
          <a:noFill/>
          <a:ln w="15875">
            <a:solidFill>
              <a:srgbClr val="1476D2"/>
            </a:solidFill>
            <a:prstDash val="solid"/>
            <a:tailEnd type="triangle"/>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B2E5C"/>
          </a:solidFill>
          <a:ln/>
        </p:spPr>
      </p:sp>
      <p:sp>
        <p:nvSpPr>
          <p:cNvPr id="3" name="Text 1"/>
          <p:cNvSpPr txBox="1"/>
          <p:nvPr/>
        </p:nvSpPr>
        <p:spPr>
          <a:xfrm>
            <a:off x="411480" y="128016"/>
            <a:ext cx="640080" cy="530352"/>
          </a:xfrm>
          <a:prstGeom prst="rect">
            <a:avLst/>
          </a:prstGeom>
          <a:noFill/>
          <a:ln/>
        </p:spPr>
        <p:txBody>
          <a:bodyPr wrap="square" lIns="0" tIns="0" rIns="0" bIns="0" rtlCol="0" anchor="ctr"/>
          <a:lstStyle/>
          <a:p>
            <a:pPr algn="l" indent="0" marL="0">
              <a:buNone/>
            </a:pPr>
            <a:r>
              <a:rPr lang="en-US" sz="2600" b="1" dirty="0">
                <a:solidFill>
                  <a:srgbClr val="3D6FA8"/>
                </a:solidFill>
                <a:latin typeface="Segoe UI" pitchFamily="34" charset="0"/>
                <a:ea typeface="Segoe UI" pitchFamily="34" charset="-122"/>
                <a:cs typeface="Segoe UI" pitchFamily="34" charset="-120"/>
              </a:rPr>
              <a:t>04</a:t>
            </a:r>
            <a:endParaRPr lang="en-US" sz="2600" dirty="0"/>
          </a:p>
        </p:txBody>
      </p:sp>
      <p:sp>
        <p:nvSpPr>
          <p:cNvPr id="4" name="Text 2"/>
          <p:cNvSpPr txBox="1"/>
          <p:nvPr/>
        </p:nvSpPr>
        <p:spPr>
          <a:xfrm>
            <a:off x="1051560" y="109728"/>
            <a:ext cx="8412480" cy="329184"/>
          </a:xfrm>
          <a:prstGeom prst="rect">
            <a:avLst/>
          </a:prstGeom>
          <a:noFill/>
          <a:ln/>
        </p:spPr>
        <p:txBody>
          <a:bodyPr wrap="square" lIns="0" tIns="0" rIns="0" bIns="0" rtlCol="0" anchor="ctr"/>
          <a:lstStyle/>
          <a:p>
            <a:pPr indent="0" marL="0">
              <a:buNone/>
            </a:pPr>
            <a:r>
              <a:rPr lang="en-US" sz="2100" b="1" dirty="0">
                <a:solidFill>
                  <a:srgbClr val="FFFFFF"/>
                </a:solidFill>
                <a:latin typeface="Segoe UI" pitchFamily="34" charset="0"/>
                <a:ea typeface="Segoe UI" pitchFamily="34" charset="-122"/>
                <a:cs typeface="Segoe UI" pitchFamily="34" charset="-120"/>
              </a:rPr>
              <a:t>Where It Is Deployed</a:t>
            </a:r>
            <a:endParaRPr lang="en-US" sz="2100" dirty="0"/>
          </a:p>
        </p:txBody>
      </p:sp>
      <p:sp>
        <p:nvSpPr>
          <p:cNvPr id="5" name="Text 3"/>
          <p:cNvSpPr txBox="1"/>
          <p:nvPr/>
        </p:nvSpPr>
        <p:spPr>
          <a:xfrm>
            <a:off x="1051560" y="429768"/>
            <a:ext cx="9601200" cy="256032"/>
          </a:xfrm>
          <a:prstGeom prst="rect">
            <a:avLst/>
          </a:prstGeom>
          <a:noFill/>
          <a:ln/>
        </p:spPr>
        <p:txBody>
          <a:bodyPr wrap="square" lIns="0" tIns="0" rIns="0" bIns="0" rtlCol="0" anchor="ctr"/>
          <a:lstStyle/>
          <a:p>
            <a:pPr indent="0" marL="0">
              <a:buNone/>
            </a:pPr>
            <a:r>
              <a:rPr lang="en-US" sz="1050" dirty="0">
                <a:solidFill>
                  <a:srgbClr val="A9C0DE"/>
                </a:solidFill>
                <a:latin typeface="Segoe UI" pitchFamily="34" charset="0"/>
                <a:ea typeface="Segoe UI" pitchFamily="34" charset="-122"/>
                <a:cs typeface="Segoe UI" pitchFamily="34" charset="-120"/>
              </a:rPr>
              <a:t>Containerised on AWS — Docker image to Amazon ECR, run as an ECS service behind a load-balanced HTTPS endpoint</a:t>
            </a:r>
            <a:endParaRPr lang="en-US" sz="1050" dirty="0"/>
          </a:p>
        </p:txBody>
      </p:sp>
      <p:sp>
        <p:nvSpPr>
          <p:cNvPr id="6" name="Text 4"/>
          <p:cNvSpPr txBox="1"/>
          <p:nvPr/>
        </p:nvSpPr>
        <p:spPr>
          <a:xfrm>
            <a:off x="9357055" y="256032"/>
            <a:ext cx="2423160" cy="274320"/>
          </a:xfrm>
          <a:prstGeom prst="rect">
            <a:avLst/>
          </a:prstGeom>
          <a:noFill/>
          <a:ln/>
        </p:spPr>
        <p:txBody>
          <a:bodyPr wrap="square" lIns="0" tIns="0" rIns="0" bIns="0" rtlCol="0" anchor="ctr"/>
          <a:lstStyle/>
          <a:p>
            <a:pPr algn="r" indent="0" marL="0">
              <a:buNone/>
            </a:pPr>
            <a:r>
              <a:rPr lang="en-US" sz="1000" dirty="0">
                <a:solidFill>
                  <a:srgbClr val="7FA3CC"/>
                </a:solidFill>
                <a:latin typeface="Segoe UI" pitchFamily="34" charset="0"/>
                <a:ea typeface="Segoe UI" pitchFamily="34" charset="-122"/>
                <a:cs typeface="Segoe UI" pitchFamily="34" charset="-120"/>
              </a:rPr>
              <a:t>GCash Sales Coach AI</a:t>
            </a:r>
            <a:endParaRPr lang="en-US" sz="1000" dirty="0"/>
          </a:p>
        </p:txBody>
      </p:sp>
      <p:sp>
        <p:nvSpPr>
          <p:cNvPr id="7" name="Text 5"/>
          <p:cNvSpPr txBox="1"/>
          <p:nvPr/>
        </p:nvSpPr>
        <p:spPr>
          <a:xfrm>
            <a:off x="11140135" y="6473952"/>
            <a:ext cx="640080" cy="237744"/>
          </a:xfrm>
          <a:prstGeom prst="rect">
            <a:avLst/>
          </a:prstGeom>
          <a:noFill/>
          <a:ln/>
        </p:spPr>
        <p:txBody>
          <a:bodyPr wrap="square" lIns="0" tIns="0" rIns="0" bIns="0" rtlCol="0" anchor="ctr"/>
          <a:lstStyle/>
          <a:p>
            <a:pPr algn="r" indent="0" marL="0">
              <a:buNone/>
            </a:pPr>
            <a:r>
              <a:rPr lang="en-US" sz="900" dirty="0">
                <a:solidFill>
                  <a:srgbClr val="8A94A6"/>
                </a:solidFill>
                <a:latin typeface="Segoe UI" pitchFamily="34" charset="0"/>
                <a:ea typeface="Segoe UI" pitchFamily="34" charset="-122"/>
                <a:cs typeface="Segoe UI" pitchFamily="34" charset="-120"/>
              </a:rPr>
              <a:t>4 / 6</a:t>
            </a:r>
            <a:endParaRPr lang="en-US" sz="900" dirty="0"/>
          </a:p>
        </p:txBody>
      </p:sp>
      <p:sp>
        <p:nvSpPr>
          <p:cNvPr id="8" name="Shape 6"/>
          <p:cNvSpPr/>
          <p:nvPr/>
        </p:nvSpPr>
        <p:spPr>
          <a:xfrm>
            <a:off x="411480" y="960120"/>
            <a:ext cx="11384280" cy="1481328"/>
          </a:xfrm>
          <a:prstGeom prst="roundRect">
            <a:avLst>
              <a:gd name="adj" fmla="val 2469"/>
            </a:avLst>
          </a:prstGeom>
          <a:solidFill>
            <a:srgbClr val="F4F7FB"/>
          </a:solidFill>
          <a:ln w="12700">
            <a:solidFill>
              <a:srgbClr val="CBD4E1"/>
            </a:solidFill>
            <a:prstDash val="solid"/>
          </a:ln>
        </p:spPr>
      </p:sp>
      <p:sp>
        <p:nvSpPr>
          <p:cNvPr id="9" name="Text 7"/>
          <p:cNvSpPr txBox="1"/>
          <p:nvPr/>
        </p:nvSpPr>
        <p:spPr>
          <a:xfrm>
            <a:off x="640080" y="1060704"/>
            <a:ext cx="5486400" cy="219456"/>
          </a:xfrm>
          <a:prstGeom prst="rect">
            <a:avLst/>
          </a:prstGeom>
          <a:noFill/>
          <a:ln/>
        </p:spPr>
        <p:txBody>
          <a:bodyPr wrap="square" lIns="0" tIns="0" rIns="0" bIns="0" rtlCol="0" anchor="ctr"/>
          <a:lstStyle/>
          <a:p>
            <a:pPr algn="l" indent="0" marL="0">
              <a:buNone/>
            </a:pPr>
            <a:r>
              <a:rPr lang="en-US" sz="1000" b="1" dirty="0">
                <a:solidFill>
                  <a:srgbClr val="0B2E5C"/>
                </a:solidFill>
                <a:latin typeface="Segoe UI" pitchFamily="34" charset="0"/>
                <a:ea typeface="Segoe UI" pitchFamily="34" charset="-122"/>
                <a:cs typeface="Segoe UI" pitchFamily="34" charset="-120"/>
              </a:rPr>
              <a:t>DEPLOYMENT FLOW</a:t>
            </a:r>
            <a:endParaRPr lang="en-US" sz="1000" dirty="0"/>
          </a:p>
        </p:txBody>
      </p:sp>
      <p:sp>
        <p:nvSpPr>
          <p:cNvPr id="10" name="Shape 8"/>
          <p:cNvSpPr/>
          <p:nvPr/>
        </p:nvSpPr>
        <p:spPr>
          <a:xfrm>
            <a:off x="640080" y="1353312"/>
            <a:ext cx="1627632" cy="932688"/>
          </a:xfrm>
          <a:prstGeom prst="roundRect">
            <a:avLst>
              <a:gd name="adj" fmla="val 3922"/>
            </a:avLst>
          </a:prstGeom>
          <a:solidFill>
            <a:srgbClr val="FFFFFF"/>
          </a:solidFill>
          <a:ln w="15875">
            <a:solidFill>
              <a:srgbClr val="5B6577"/>
            </a:solidFill>
            <a:prstDash val="solid"/>
          </a:ln>
        </p:spPr>
      </p:sp>
      <p:sp>
        <p:nvSpPr>
          <p:cNvPr id="11" name="Shape 9"/>
          <p:cNvSpPr/>
          <p:nvPr/>
        </p:nvSpPr>
        <p:spPr>
          <a:xfrm>
            <a:off x="640080" y="1353312"/>
            <a:ext cx="1627632" cy="36576"/>
          </a:xfrm>
          <a:prstGeom prst="rect">
            <a:avLst/>
          </a:prstGeom>
          <a:solidFill>
            <a:srgbClr val="5B6577"/>
          </a:solidFill>
          <a:ln/>
        </p:spPr>
      </p:sp>
      <p:sp>
        <p:nvSpPr>
          <p:cNvPr id="12" name="Text 10"/>
          <p:cNvSpPr txBox="1"/>
          <p:nvPr/>
        </p:nvSpPr>
        <p:spPr>
          <a:xfrm>
            <a:off x="713232" y="1463040"/>
            <a:ext cx="1481328" cy="365760"/>
          </a:xfrm>
          <a:prstGeom prst="rect">
            <a:avLst/>
          </a:prstGeom>
          <a:noFill/>
          <a:ln/>
        </p:spPr>
        <p:txBody>
          <a:bodyPr wrap="square" lIns="0" tIns="0" rIns="0" bIns="0" rtlCol="0" anchor="ctr"/>
          <a:lstStyle/>
          <a:p>
            <a:pPr algn="ctr" indent="0" marL="0">
              <a:buNone/>
            </a:pPr>
            <a:r>
              <a:rPr lang="en-US" sz="900" b="1" dirty="0">
                <a:solidFill>
                  <a:srgbClr val="5B6577"/>
                </a:solidFill>
                <a:latin typeface="Segoe UI" pitchFamily="34" charset="0"/>
                <a:ea typeface="Segoe UI" pitchFamily="34" charset="-122"/>
                <a:cs typeface="Segoe UI" pitchFamily="34" charset="-120"/>
              </a:rPr>
              <a:t>Source</a:t>
            </a:r>
            <a:endParaRPr lang="en-US" sz="900" dirty="0"/>
          </a:p>
        </p:txBody>
      </p:sp>
      <p:sp>
        <p:nvSpPr>
          <p:cNvPr id="13" name="Text 11"/>
          <p:cNvSpPr txBox="1"/>
          <p:nvPr/>
        </p:nvSpPr>
        <p:spPr>
          <a:xfrm>
            <a:off x="713232" y="1847088"/>
            <a:ext cx="1481328" cy="384048"/>
          </a:xfrm>
          <a:prstGeom prst="rect">
            <a:avLst/>
          </a:prstGeom>
          <a:noFill/>
          <a:ln/>
        </p:spPr>
        <p:txBody>
          <a:bodyPr wrap="square" lIns="0" tIns="0" rIns="0" bIns="0" rtlCol="0" anchor="t"/>
          <a:lstStyle/>
          <a:p>
            <a:pPr algn="ctr" indent="0" marL="0">
              <a:lnSpc>
                <a:spcPct val="105000"/>
              </a:lnSpc>
              <a:buNone/>
            </a:pPr>
            <a:r>
              <a:rPr lang="en-US" sz="740" dirty="0">
                <a:solidFill>
                  <a:srgbClr val="354052"/>
                </a:solidFill>
                <a:latin typeface="Segoe UI" pitchFamily="34" charset="0"/>
                <a:ea typeface="Segoe UI" pitchFamily="34" charset="-122"/>
                <a:cs typeface="Segoe UI" pitchFamily="34" charset="-120"/>
              </a:rPr>
              <a:t>GitHub repository</a:t>
            </a:r>
            <a:endParaRPr lang="en-US" sz="740" dirty="0"/>
          </a:p>
        </p:txBody>
      </p:sp>
      <p:sp>
        <p:nvSpPr>
          <p:cNvPr id="14" name="Shape 12"/>
          <p:cNvSpPr/>
          <p:nvPr/>
        </p:nvSpPr>
        <p:spPr>
          <a:xfrm>
            <a:off x="2286000" y="1819656"/>
            <a:ext cx="201168" cy="0"/>
          </a:xfrm>
          <a:prstGeom prst="line">
            <a:avLst/>
          </a:prstGeom>
          <a:noFill/>
          <a:ln w="19050">
            <a:solidFill>
              <a:srgbClr val="1476D2"/>
            </a:solidFill>
            <a:prstDash val="solid"/>
            <a:tailEnd type="triangle"/>
          </a:ln>
        </p:spPr>
      </p:sp>
      <p:sp>
        <p:nvSpPr>
          <p:cNvPr id="15" name="Shape 13"/>
          <p:cNvSpPr/>
          <p:nvPr/>
        </p:nvSpPr>
        <p:spPr>
          <a:xfrm>
            <a:off x="2505456" y="1353312"/>
            <a:ext cx="1627632" cy="932688"/>
          </a:xfrm>
          <a:prstGeom prst="roundRect">
            <a:avLst>
              <a:gd name="adj" fmla="val 3922"/>
            </a:avLst>
          </a:prstGeom>
          <a:solidFill>
            <a:srgbClr val="FFFFFF"/>
          </a:solidFill>
          <a:ln w="15875">
            <a:solidFill>
              <a:srgbClr val="0A5CB8"/>
            </a:solidFill>
            <a:prstDash val="solid"/>
          </a:ln>
        </p:spPr>
      </p:sp>
      <p:sp>
        <p:nvSpPr>
          <p:cNvPr id="16" name="Shape 14"/>
          <p:cNvSpPr/>
          <p:nvPr/>
        </p:nvSpPr>
        <p:spPr>
          <a:xfrm>
            <a:off x="2505456" y="1353312"/>
            <a:ext cx="1627632" cy="36576"/>
          </a:xfrm>
          <a:prstGeom prst="rect">
            <a:avLst/>
          </a:prstGeom>
          <a:solidFill>
            <a:srgbClr val="0A5CB8"/>
          </a:solidFill>
          <a:ln/>
        </p:spPr>
      </p:sp>
      <p:sp>
        <p:nvSpPr>
          <p:cNvPr id="17" name="Text 15"/>
          <p:cNvSpPr txBox="1"/>
          <p:nvPr/>
        </p:nvSpPr>
        <p:spPr>
          <a:xfrm>
            <a:off x="2578608" y="1463040"/>
            <a:ext cx="1481328" cy="365760"/>
          </a:xfrm>
          <a:prstGeom prst="rect">
            <a:avLst/>
          </a:prstGeom>
          <a:noFill/>
          <a:ln/>
        </p:spPr>
        <p:txBody>
          <a:bodyPr wrap="square" lIns="0" tIns="0" rIns="0" bIns="0" rtlCol="0" anchor="ctr"/>
          <a:lstStyle/>
          <a:p>
            <a:pPr algn="ctr" indent="0" marL="0">
              <a:buNone/>
            </a:pPr>
            <a:r>
              <a:rPr lang="en-US" sz="900" b="1" dirty="0">
                <a:solidFill>
                  <a:srgbClr val="0A5CB8"/>
                </a:solidFill>
                <a:latin typeface="Segoe UI" pitchFamily="34" charset="0"/>
                <a:ea typeface="Segoe UI" pitchFamily="34" charset="-122"/>
                <a:cs typeface="Segoe UI" pitchFamily="34" charset="-120"/>
              </a:rPr>
              <a:t>Docker build</a:t>
            </a:r>
            <a:endParaRPr lang="en-US" sz="900" dirty="0"/>
          </a:p>
        </p:txBody>
      </p:sp>
      <p:sp>
        <p:nvSpPr>
          <p:cNvPr id="18" name="Text 16"/>
          <p:cNvSpPr txBox="1"/>
          <p:nvPr/>
        </p:nvSpPr>
        <p:spPr>
          <a:xfrm>
            <a:off x="2578608" y="1847088"/>
            <a:ext cx="1481328" cy="384048"/>
          </a:xfrm>
          <a:prstGeom prst="rect">
            <a:avLst/>
          </a:prstGeom>
          <a:noFill/>
          <a:ln/>
        </p:spPr>
        <p:txBody>
          <a:bodyPr wrap="square" lIns="0" tIns="0" rIns="0" bIns="0" rtlCol="0" anchor="t"/>
          <a:lstStyle/>
          <a:p>
            <a:pPr algn="ctr" indent="0" marL="0">
              <a:lnSpc>
                <a:spcPct val="105000"/>
              </a:lnSpc>
              <a:buNone/>
            </a:pPr>
            <a:r>
              <a:rPr lang="en-US" sz="740" dirty="0">
                <a:solidFill>
                  <a:srgbClr val="354052"/>
                </a:solidFill>
                <a:latin typeface="Segoe UI" pitchFamily="34" charset="0"/>
                <a:ea typeface="Segoe UI" pitchFamily="34" charset="-122"/>
                <a:cs typeface="Segoe UI" pitchFamily="34" charset="-120"/>
              </a:rPr>
              <a:t>Dockerfile · Python 3.11-slim</a:t>
            </a:r>
            <a:endParaRPr lang="en-US" sz="740" dirty="0"/>
          </a:p>
        </p:txBody>
      </p:sp>
      <p:sp>
        <p:nvSpPr>
          <p:cNvPr id="19" name="Shape 17"/>
          <p:cNvSpPr/>
          <p:nvPr/>
        </p:nvSpPr>
        <p:spPr>
          <a:xfrm>
            <a:off x="4151376" y="1819656"/>
            <a:ext cx="201168" cy="0"/>
          </a:xfrm>
          <a:prstGeom prst="line">
            <a:avLst/>
          </a:prstGeom>
          <a:noFill/>
          <a:ln w="19050">
            <a:solidFill>
              <a:srgbClr val="1476D2"/>
            </a:solidFill>
            <a:prstDash val="solid"/>
            <a:tailEnd type="triangle"/>
          </a:ln>
        </p:spPr>
      </p:sp>
      <p:sp>
        <p:nvSpPr>
          <p:cNvPr id="20" name="Shape 18"/>
          <p:cNvSpPr/>
          <p:nvPr/>
        </p:nvSpPr>
        <p:spPr>
          <a:xfrm>
            <a:off x="4370832" y="1353312"/>
            <a:ext cx="1627632" cy="932688"/>
          </a:xfrm>
          <a:prstGeom prst="roundRect">
            <a:avLst>
              <a:gd name="adj" fmla="val 3922"/>
            </a:avLst>
          </a:prstGeom>
          <a:solidFill>
            <a:srgbClr val="FFFFFF"/>
          </a:solidFill>
          <a:ln w="15875">
            <a:solidFill>
              <a:srgbClr val="0A5CB8"/>
            </a:solidFill>
            <a:prstDash val="solid"/>
          </a:ln>
        </p:spPr>
      </p:sp>
      <p:sp>
        <p:nvSpPr>
          <p:cNvPr id="21" name="Shape 19"/>
          <p:cNvSpPr/>
          <p:nvPr/>
        </p:nvSpPr>
        <p:spPr>
          <a:xfrm>
            <a:off x="4370832" y="1353312"/>
            <a:ext cx="1627632" cy="36576"/>
          </a:xfrm>
          <a:prstGeom prst="rect">
            <a:avLst/>
          </a:prstGeom>
          <a:solidFill>
            <a:srgbClr val="0A5CB8"/>
          </a:solidFill>
          <a:ln/>
        </p:spPr>
      </p:sp>
      <p:sp>
        <p:nvSpPr>
          <p:cNvPr id="22" name="Text 20"/>
          <p:cNvSpPr txBox="1"/>
          <p:nvPr/>
        </p:nvSpPr>
        <p:spPr>
          <a:xfrm>
            <a:off x="4443984" y="1463040"/>
            <a:ext cx="1481328" cy="365760"/>
          </a:xfrm>
          <a:prstGeom prst="rect">
            <a:avLst/>
          </a:prstGeom>
          <a:noFill/>
          <a:ln/>
        </p:spPr>
        <p:txBody>
          <a:bodyPr wrap="square" lIns="0" tIns="0" rIns="0" bIns="0" rtlCol="0" anchor="ctr"/>
          <a:lstStyle/>
          <a:p>
            <a:pPr algn="ctr" indent="0" marL="0">
              <a:buNone/>
            </a:pPr>
            <a:r>
              <a:rPr lang="en-US" sz="900" b="1" dirty="0">
                <a:solidFill>
                  <a:srgbClr val="0A5CB8"/>
                </a:solidFill>
                <a:latin typeface="Segoe UI" pitchFamily="34" charset="0"/>
                <a:ea typeface="Segoe UI" pitchFamily="34" charset="-122"/>
                <a:cs typeface="Segoe UI" pitchFamily="34" charset="-120"/>
              </a:rPr>
              <a:t>Amazon ECR</a:t>
            </a:r>
            <a:endParaRPr lang="en-US" sz="900" dirty="0"/>
          </a:p>
        </p:txBody>
      </p:sp>
      <p:sp>
        <p:nvSpPr>
          <p:cNvPr id="23" name="Text 21"/>
          <p:cNvSpPr txBox="1"/>
          <p:nvPr/>
        </p:nvSpPr>
        <p:spPr>
          <a:xfrm>
            <a:off x="4443984" y="1847088"/>
            <a:ext cx="1481328" cy="384048"/>
          </a:xfrm>
          <a:prstGeom prst="rect">
            <a:avLst/>
          </a:prstGeom>
          <a:noFill/>
          <a:ln/>
        </p:spPr>
        <p:txBody>
          <a:bodyPr wrap="square" lIns="0" tIns="0" rIns="0" bIns="0" rtlCol="0" anchor="t"/>
          <a:lstStyle/>
          <a:p>
            <a:pPr algn="ctr" indent="0" marL="0">
              <a:lnSpc>
                <a:spcPct val="105000"/>
              </a:lnSpc>
              <a:buNone/>
            </a:pPr>
            <a:r>
              <a:rPr lang="en-US" sz="740" dirty="0">
                <a:solidFill>
                  <a:srgbClr val="354052"/>
                </a:solidFill>
                <a:latin typeface="Segoe UI" pitchFamily="34" charset="0"/>
                <a:ea typeface="Segoe UI" pitchFamily="34" charset="-122"/>
                <a:cs typeface="Segoe UI" pitchFamily="34" charset="-120"/>
              </a:rPr>
              <a:t>versioned image registry</a:t>
            </a:r>
            <a:endParaRPr lang="en-US" sz="740" dirty="0"/>
          </a:p>
        </p:txBody>
      </p:sp>
      <p:sp>
        <p:nvSpPr>
          <p:cNvPr id="24" name="Shape 22"/>
          <p:cNvSpPr/>
          <p:nvPr/>
        </p:nvSpPr>
        <p:spPr>
          <a:xfrm>
            <a:off x="6016752" y="1819656"/>
            <a:ext cx="201168" cy="0"/>
          </a:xfrm>
          <a:prstGeom prst="line">
            <a:avLst/>
          </a:prstGeom>
          <a:noFill/>
          <a:ln w="19050">
            <a:solidFill>
              <a:srgbClr val="1476D2"/>
            </a:solidFill>
            <a:prstDash val="solid"/>
            <a:tailEnd type="triangle"/>
          </a:ln>
        </p:spPr>
      </p:sp>
      <p:sp>
        <p:nvSpPr>
          <p:cNvPr id="25" name="Shape 23"/>
          <p:cNvSpPr/>
          <p:nvPr/>
        </p:nvSpPr>
        <p:spPr>
          <a:xfrm>
            <a:off x="6236208" y="1353312"/>
            <a:ext cx="1627632" cy="932688"/>
          </a:xfrm>
          <a:prstGeom prst="roundRect">
            <a:avLst>
              <a:gd name="adj" fmla="val 3922"/>
            </a:avLst>
          </a:prstGeom>
          <a:solidFill>
            <a:srgbClr val="FFFFFF"/>
          </a:solidFill>
          <a:ln w="15875">
            <a:solidFill>
              <a:srgbClr val="1F7A4D"/>
            </a:solidFill>
            <a:prstDash val="solid"/>
          </a:ln>
        </p:spPr>
      </p:sp>
      <p:sp>
        <p:nvSpPr>
          <p:cNvPr id="26" name="Shape 24"/>
          <p:cNvSpPr/>
          <p:nvPr/>
        </p:nvSpPr>
        <p:spPr>
          <a:xfrm>
            <a:off x="6236208" y="1353312"/>
            <a:ext cx="1627632" cy="36576"/>
          </a:xfrm>
          <a:prstGeom prst="rect">
            <a:avLst/>
          </a:prstGeom>
          <a:solidFill>
            <a:srgbClr val="1F7A4D"/>
          </a:solidFill>
          <a:ln/>
        </p:spPr>
      </p:sp>
      <p:sp>
        <p:nvSpPr>
          <p:cNvPr id="27" name="Text 25"/>
          <p:cNvSpPr txBox="1"/>
          <p:nvPr/>
        </p:nvSpPr>
        <p:spPr>
          <a:xfrm>
            <a:off x="6309360" y="1463040"/>
            <a:ext cx="1481328" cy="365760"/>
          </a:xfrm>
          <a:prstGeom prst="rect">
            <a:avLst/>
          </a:prstGeom>
          <a:noFill/>
          <a:ln/>
        </p:spPr>
        <p:txBody>
          <a:bodyPr wrap="square" lIns="0" tIns="0" rIns="0" bIns="0" rtlCol="0" anchor="ctr"/>
          <a:lstStyle/>
          <a:p>
            <a:pPr algn="ctr" indent="0" marL="0">
              <a:buNone/>
            </a:pPr>
            <a:r>
              <a:rPr lang="en-US" sz="900" b="1" dirty="0">
                <a:solidFill>
                  <a:srgbClr val="1F7A4D"/>
                </a:solidFill>
                <a:latin typeface="Segoe UI" pitchFamily="34" charset="0"/>
                <a:ea typeface="Segoe UI" pitchFamily="34" charset="-122"/>
                <a:cs typeface="Segoe UI" pitchFamily="34" charset="-120"/>
              </a:rPr>
              <a:t>Amazon ECS</a:t>
            </a:r>
            <a:endParaRPr lang="en-US" sz="900" dirty="0"/>
          </a:p>
        </p:txBody>
      </p:sp>
      <p:sp>
        <p:nvSpPr>
          <p:cNvPr id="28" name="Text 26"/>
          <p:cNvSpPr txBox="1"/>
          <p:nvPr/>
        </p:nvSpPr>
        <p:spPr>
          <a:xfrm>
            <a:off x="6309360" y="1847088"/>
            <a:ext cx="1481328" cy="384048"/>
          </a:xfrm>
          <a:prstGeom prst="rect">
            <a:avLst/>
          </a:prstGeom>
          <a:noFill/>
          <a:ln/>
        </p:spPr>
        <p:txBody>
          <a:bodyPr wrap="square" lIns="0" tIns="0" rIns="0" bIns="0" rtlCol="0" anchor="t"/>
          <a:lstStyle/>
          <a:p>
            <a:pPr algn="ctr" indent="0" marL="0">
              <a:lnSpc>
                <a:spcPct val="105000"/>
              </a:lnSpc>
              <a:buNone/>
            </a:pPr>
            <a:r>
              <a:rPr lang="en-US" sz="740" dirty="0">
                <a:solidFill>
                  <a:srgbClr val="354052"/>
                </a:solidFill>
                <a:latin typeface="Segoe UI" pitchFamily="34" charset="0"/>
                <a:ea typeface="Segoe UI" pitchFamily="34" charset="-122"/>
                <a:cs typeface="Segoe UI" pitchFamily="34" charset="-120"/>
              </a:rPr>
              <a:t>Fargate service, rolling deploy</a:t>
            </a:r>
            <a:endParaRPr lang="en-US" sz="740" dirty="0"/>
          </a:p>
        </p:txBody>
      </p:sp>
      <p:sp>
        <p:nvSpPr>
          <p:cNvPr id="29" name="Shape 27"/>
          <p:cNvSpPr/>
          <p:nvPr/>
        </p:nvSpPr>
        <p:spPr>
          <a:xfrm>
            <a:off x="7882128" y="1819656"/>
            <a:ext cx="201168" cy="0"/>
          </a:xfrm>
          <a:prstGeom prst="line">
            <a:avLst/>
          </a:prstGeom>
          <a:noFill/>
          <a:ln w="19050">
            <a:solidFill>
              <a:srgbClr val="1476D2"/>
            </a:solidFill>
            <a:prstDash val="solid"/>
            <a:tailEnd type="triangle"/>
          </a:ln>
        </p:spPr>
      </p:sp>
      <p:sp>
        <p:nvSpPr>
          <p:cNvPr id="30" name="Shape 28"/>
          <p:cNvSpPr/>
          <p:nvPr/>
        </p:nvSpPr>
        <p:spPr>
          <a:xfrm>
            <a:off x="8101584" y="1353312"/>
            <a:ext cx="1627632" cy="932688"/>
          </a:xfrm>
          <a:prstGeom prst="roundRect">
            <a:avLst>
              <a:gd name="adj" fmla="val 3922"/>
            </a:avLst>
          </a:prstGeom>
          <a:solidFill>
            <a:srgbClr val="FFFFFF"/>
          </a:solidFill>
          <a:ln w="15875">
            <a:solidFill>
              <a:srgbClr val="1F7A4D"/>
            </a:solidFill>
            <a:prstDash val="solid"/>
          </a:ln>
        </p:spPr>
      </p:sp>
      <p:sp>
        <p:nvSpPr>
          <p:cNvPr id="31" name="Shape 29"/>
          <p:cNvSpPr/>
          <p:nvPr/>
        </p:nvSpPr>
        <p:spPr>
          <a:xfrm>
            <a:off x="8101584" y="1353312"/>
            <a:ext cx="1627632" cy="36576"/>
          </a:xfrm>
          <a:prstGeom prst="rect">
            <a:avLst/>
          </a:prstGeom>
          <a:solidFill>
            <a:srgbClr val="1F7A4D"/>
          </a:solidFill>
          <a:ln/>
        </p:spPr>
      </p:sp>
      <p:sp>
        <p:nvSpPr>
          <p:cNvPr id="32" name="Text 30"/>
          <p:cNvSpPr txBox="1"/>
          <p:nvPr/>
        </p:nvSpPr>
        <p:spPr>
          <a:xfrm>
            <a:off x="8174736" y="1463040"/>
            <a:ext cx="1481328" cy="365760"/>
          </a:xfrm>
          <a:prstGeom prst="rect">
            <a:avLst/>
          </a:prstGeom>
          <a:noFill/>
          <a:ln/>
        </p:spPr>
        <p:txBody>
          <a:bodyPr wrap="square" lIns="0" tIns="0" rIns="0" bIns="0" rtlCol="0" anchor="ctr"/>
          <a:lstStyle/>
          <a:p>
            <a:pPr algn="ctr" indent="0" marL="0">
              <a:buNone/>
            </a:pPr>
            <a:r>
              <a:rPr lang="en-US" sz="900" b="1" dirty="0">
                <a:solidFill>
                  <a:srgbClr val="1F7A4D"/>
                </a:solidFill>
                <a:latin typeface="Segoe UI" pitchFamily="34" charset="0"/>
                <a:ea typeface="Segoe UI" pitchFamily="34" charset="-122"/>
                <a:cs typeface="Segoe UI" pitchFamily="34" charset="-120"/>
              </a:rPr>
              <a:t>Application</a:t>
            </a:r>
            <a:endParaRPr lang="en-US" sz="900" dirty="0"/>
          </a:p>
          <a:p>
            <a:pPr algn="ctr" indent="0" marL="0">
              <a:buNone/>
            </a:pPr>
            <a:r>
              <a:rPr lang="en-US" sz="900" b="1" dirty="0">
                <a:solidFill>
                  <a:srgbClr val="1F7A4D"/>
                </a:solidFill>
                <a:latin typeface="Segoe UI" pitchFamily="34" charset="0"/>
                <a:ea typeface="Segoe UI" pitchFamily="34" charset="-122"/>
                <a:cs typeface="Segoe UI" pitchFamily="34" charset="-120"/>
              </a:rPr>
              <a:t>Load Balancer</a:t>
            </a:r>
            <a:endParaRPr lang="en-US" sz="900" dirty="0"/>
          </a:p>
        </p:txBody>
      </p:sp>
      <p:sp>
        <p:nvSpPr>
          <p:cNvPr id="33" name="Text 31"/>
          <p:cNvSpPr txBox="1"/>
          <p:nvPr/>
        </p:nvSpPr>
        <p:spPr>
          <a:xfrm>
            <a:off x="8174736" y="1847088"/>
            <a:ext cx="1481328" cy="384048"/>
          </a:xfrm>
          <a:prstGeom prst="rect">
            <a:avLst/>
          </a:prstGeom>
          <a:noFill/>
          <a:ln/>
        </p:spPr>
        <p:txBody>
          <a:bodyPr wrap="square" lIns="0" tIns="0" rIns="0" bIns="0" rtlCol="0" anchor="t"/>
          <a:lstStyle/>
          <a:p>
            <a:pPr algn="ctr" indent="0" marL="0">
              <a:lnSpc>
                <a:spcPct val="105000"/>
              </a:lnSpc>
              <a:buNone/>
            </a:pPr>
            <a:r>
              <a:rPr lang="en-US" sz="740" dirty="0">
                <a:solidFill>
                  <a:srgbClr val="354052"/>
                </a:solidFill>
                <a:latin typeface="Segoe UI" pitchFamily="34" charset="0"/>
                <a:ea typeface="Segoe UI" pitchFamily="34" charset="-122"/>
                <a:cs typeface="Segoe UI" pitchFamily="34" charset="-120"/>
              </a:rPr>
              <a:t>HTTPS :443 → task :8000</a:t>
            </a:r>
            <a:endParaRPr lang="en-US" sz="740" dirty="0"/>
          </a:p>
        </p:txBody>
      </p:sp>
      <p:sp>
        <p:nvSpPr>
          <p:cNvPr id="34" name="Shape 32"/>
          <p:cNvSpPr/>
          <p:nvPr/>
        </p:nvSpPr>
        <p:spPr>
          <a:xfrm>
            <a:off x="9747504" y="1819656"/>
            <a:ext cx="201168" cy="0"/>
          </a:xfrm>
          <a:prstGeom prst="line">
            <a:avLst/>
          </a:prstGeom>
          <a:noFill/>
          <a:ln w="19050">
            <a:solidFill>
              <a:srgbClr val="1476D2"/>
            </a:solidFill>
            <a:prstDash val="solid"/>
            <a:tailEnd type="triangle"/>
          </a:ln>
        </p:spPr>
      </p:sp>
      <p:sp>
        <p:nvSpPr>
          <p:cNvPr id="35" name="Shape 33"/>
          <p:cNvSpPr/>
          <p:nvPr/>
        </p:nvSpPr>
        <p:spPr>
          <a:xfrm>
            <a:off x="9966960" y="1353312"/>
            <a:ext cx="1627632" cy="932688"/>
          </a:xfrm>
          <a:prstGeom prst="roundRect">
            <a:avLst>
              <a:gd name="adj" fmla="val 3922"/>
            </a:avLst>
          </a:prstGeom>
          <a:solidFill>
            <a:srgbClr val="FFFFFF"/>
          </a:solidFill>
          <a:ln w="15875">
            <a:solidFill>
              <a:srgbClr val="0B2E5C"/>
            </a:solidFill>
            <a:prstDash val="solid"/>
          </a:ln>
        </p:spPr>
      </p:sp>
      <p:sp>
        <p:nvSpPr>
          <p:cNvPr id="36" name="Shape 34"/>
          <p:cNvSpPr/>
          <p:nvPr/>
        </p:nvSpPr>
        <p:spPr>
          <a:xfrm>
            <a:off x="9966960" y="1353312"/>
            <a:ext cx="1627632" cy="36576"/>
          </a:xfrm>
          <a:prstGeom prst="rect">
            <a:avLst/>
          </a:prstGeom>
          <a:solidFill>
            <a:srgbClr val="0B2E5C"/>
          </a:solidFill>
          <a:ln/>
        </p:spPr>
      </p:sp>
      <p:sp>
        <p:nvSpPr>
          <p:cNvPr id="37" name="Text 35"/>
          <p:cNvSpPr txBox="1"/>
          <p:nvPr/>
        </p:nvSpPr>
        <p:spPr>
          <a:xfrm>
            <a:off x="10040112" y="1463040"/>
            <a:ext cx="1481328" cy="365760"/>
          </a:xfrm>
          <a:prstGeom prst="rect">
            <a:avLst/>
          </a:prstGeom>
          <a:noFill/>
          <a:ln/>
        </p:spPr>
        <p:txBody>
          <a:bodyPr wrap="square" lIns="0" tIns="0" rIns="0" bIns="0" rtlCol="0" anchor="ctr"/>
          <a:lstStyle/>
          <a:p>
            <a:pPr algn="ctr" indent="0" marL="0">
              <a:buNone/>
            </a:pPr>
            <a:r>
              <a:rPr lang="en-US" sz="900" b="1" dirty="0">
                <a:solidFill>
                  <a:srgbClr val="0B2E5C"/>
                </a:solidFill>
                <a:latin typeface="Segoe UI" pitchFamily="34" charset="0"/>
                <a:ea typeface="Segoe UI" pitchFamily="34" charset="-122"/>
                <a:cs typeface="Segoe UI" pitchFamily="34" charset="-120"/>
              </a:rPr>
              <a:t>Live endpoint</a:t>
            </a:r>
            <a:endParaRPr lang="en-US" sz="900" dirty="0"/>
          </a:p>
        </p:txBody>
      </p:sp>
      <p:sp>
        <p:nvSpPr>
          <p:cNvPr id="38" name="Text 36"/>
          <p:cNvSpPr txBox="1"/>
          <p:nvPr/>
        </p:nvSpPr>
        <p:spPr>
          <a:xfrm>
            <a:off x="10040112" y="1847088"/>
            <a:ext cx="1481328" cy="384048"/>
          </a:xfrm>
          <a:prstGeom prst="rect">
            <a:avLst/>
          </a:prstGeom>
          <a:noFill/>
          <a:ln/>
        </p:spPr>
        <p:txBody>
          <a:bodyPr wrap="square" lIns="0" tIns="0" rIns="0" bIns="0" rtlCol="0" anchor="t"/>
          <a:lstStyle/>
          <a:p>
            <a:pPr algn="ctr" indent="0" marL="0">
              <a:lnSpc>
                <a:spcPct val="105000"/>
              </a:lnSpc>
              <a:buNone/>
            </a:pPr>
            <a:r>
              <a:rPr lang="en-US" sz="740" dirty="0">
                <a:solidFill>
                  <a:srgbClr val="354052"/>
                </a:solidFill>
                <a:latin typeface="Segoe UI" pitchFamily="34" charset="0"/>
                <a:ea typeface="Segoe UI" pitchFamily="34" charset="-122"/>
                <a:cs typeface="Segoe UI" pitchFamily="34" charset="-120"/>
              </a:rPr>
              <a:t>Web UI · REST API · /docs</a:t>
            </a:r>
            <a:endParaRPr lang="en-US" sz="740" dirty="0"/>
          </a:p>
        </p:txBody>
      </p:sp>
      <p:sp>
        <p:nvSpPr>
          <p:cNvPr id="39" name="Shape 37"/>
          <p:cNvSpPr/>
          <p:nvPr/>
        </p:nvSpPr>
        <p:spPr>
          <a:xfrm>
            <a:off x="411480" y="2542032"/>
            <a:ext cx="5669280" cy="2084832"/>
          </a:xfrm>
          <a:prstGeom prst="roundRect">
            <a:avLst>
              <a:gd name="adj" fmla="val 1754"/>
            </a:avLst>
          </a:prstGeom>
          <a:solidFill>
            <a:srgbClr val="FFFFFF"/>
          </a:solidFill>
          <a:ln w="12700">
            <a:solidFill>
              <a:srgbClr val="CBD4E1"/>
            </a:solidFill>
            <a:prstDash val="solid"/>
          </a:ln>
        </p:spPr>
      </p:sp>
      <p:sp>
        <p:nvSpPr>
          <p:cNvPr id="40" name="Shape 38"/>
          <p:cNvSpPr/>
          <p:nvPr/>
        </p:nvSpPr>
        <p:spPr>
          <a:xfrm>
            <a:off x="411480" y="2542032"/>
            <a:ext cx="5669280" cy="292608"/>
          </a:xfrm>
          <a:prstGeom prst="rect">
            <a:avLst/>
          </a:prstGeom>
          <a:solidFill>
            <a:srgbClr val="1F7A4D"/>
          </a:solidFill>
          <a:ln/>
        </p:spPr>
      </p:sp>
      <p:sp>
        <p:nvSpPr>
          <p:cNvPr id="41" name="Text 39"/>
          <p:cNvSpPr txBox="1"/>
          <p:nvPr/>
        </p:nvSpPr>
        <p:spPr>
          <a:xfrm>
            <a:off x="594360" y="2578608"/>
            <a:ext cx="5303520" cy="219456"/>
          </a:xfrm>
          <a:prstGeom prst="rect">
            <a:avLst/>
          </a:prstGeom>
          <a:noFill/>
          <a:ln/>
        </p:spPr>
        <p:txBody>
          <a:bodyPr wrap="square" lIns="0" tIns="0" rIns="0" bIns="0" rtlCol="0" anchor="ctr"/>
          <a:lstStyle/>
          <a:p>
            <a:pPr algn="l" indent="0" marL="0">
              <a:buNone/>
            </a:pPr>
            <a:r>
              <a:rPr lang="en-US" sz="950" b="1" dirty="0">
                <a:solidFill>
                  <a:srgbClr val="FFFFFF"/>
                </a:solidFill>
                <a:latin typeface="Segoe UI" pitchFamily="34" charset="0"/>
                <a:ea typeface="Segoe UI" pitchFamily="34" charset="-122"/>
                <a:cs typeface="Segoe UI" pitchFamily="34" charset="-120"/>
              </a:rPr>
              <a:t>ECS RUNTIME</a:t>
            </a:r>
            <a:endParaRPr lang="en-US" sz="950" dirty="0"/>
          </a:p>
        </p:txBody>
      </p:sp>
      <p:sp>
        <p:nvSpPr>
          <p:cNvPr id="42" name="Text 40"/>
          <p:cNvSpPr txBox="1"/>
          <p:nvPr/>
        </p:nvSpPr>
        <p:spPr>
          <a:xfrm>
            <a:off x="3840480" y="2578608"/>
            <a:ext cx="2103120" cy="219456"/>
          </a:xfrm>
          <a:prstGeom prst="rect">
            <a:avLst/>
          </a:prstGeom>
          <a:noFill/>
          <a:ln/>
        </p:spPr>
        <p:txBody>
          <a:bodyPr wrap="square" lIns="0" tIns="0" rIns="0" bIns="0" rtlCol="0" anchor="ctr"/>
          <a:lstStyle/>
          <a:p>
            <a:pPr algn="r" indent="0" marL="0">
              <a:buNone/>
            </a:pPr>
            <a:r>
              <a:rPr lang="en-US" sz="800" dirty="0">
                <a:solidFill>
                  <a:srgbClr val="C8E4D5"/>
                </a:solidFill>
                <a:latin typeface="Segoe UI" pitchFamily="34" charset="0"/>
                <a:ea typeface="Segoe UI" pitchFamily="34" charset="-122"/>
                <a:cs typeface="Segoe UI" pitchFamily="34" charset="-120"/>
              </a:rPr>
              <a:t>Fargate — no servers to patch</a:t>
            </a:r>
            <a:endParaRPr lang="en-US" sz="800" dirty="0"/>
          </a:p>
        </p:txBody>
      </p:sp>
      <p:sp>
        <p:nvSpPr>
          <p:cNvPr id="43" name="Shape 41"/>
          <p:cNvSpPr/>
          <p:nvPr/>
        </p:nvSpPr>
        <p:spPr>
          <a:xfrm>
            <a:off x="548640" y="2926080"/>
            <a:ext cx="5394960" cy="224028"/>
          </a:xfrm>
          <a:prstGeom prst="rect">
            <a:avLst/>
          </a:prstGeom>
          <a:solidFill>
            <a:srgbClr val="F0F8F4"/>
          </a:solidFill>
          <a:ln/>
        </p:spPr>
      </p:sp>
      <p:sp>
        <p:nvSpPr>
          <p:cNvPr id="44" name="Text 42"/>
          <p:cNvSpPr txBox="1"/>
          <p:nvPr/>
        </p:nvSpPr>
        <p:spPr>
          <a:xfrm>
            <a:off x="640080" y="2926080"/>
            <a:ext cx="1325880" cy="224028"/>
          </a:xfrm>
          <a:prstGeom prst="rect">
            <a:avLst/>
          </a:prstGeom>
          <a:noFill/>
          <a:ln/>
        </p:spPr>
        <p:txBody>
          <a:bodyPr wrap="square" lIns="0" tIns="0" rIns="0" bIns="0" rtlCol="0" anchor="ctr"/>
          <a:lstStyle/>
          <a:p>
            <a:pPr indent="0" marL="0">
              <a:buNone/>
            </a:pPr>
            <a:r>
              <a:rPr lang="en-US" sz="800" b="1" dirty="0">
                <a:solidFill>
                  <a:srgbClr val="1F7A4D"/>
                </a:solidFill>
                <a:latin typeface="Segoe UI" pitchFamily="34" charset="0"/>
                <a:ea typeface="Segoe UI" pitchFamily="34" charset="-122"/>
                <a:cs typeface="Segoe UI" pitchFamily="34" charset="-120"/>
              </a:rPr>
              <a:t>ECS cluster</a:t>
            </a:r>
            <a:endParaRPr lang="en-US" sz="800" dirty="0"/>
          </a:p>
        </p:txBody>
      </p:sp>
      <p:sp>
        <p:nvSpPr>
          <p:cNvPr id="45" name="Text 43"/>
          <p:cNvSpPr txBox="1"/>
          <p:nvPr/>
        </p:nvSpPr>
        <p:spPr>
          <a:xfrm>
            <a:off x="1993392" y="2926080"/>
            <a:ext cx="3886200" cy="224028"/>
          </a:xfrm>
          <a:prstGeom prst="rect">
            <a:avLst/>
          </a:prstGeom>
          <a:noFill/>
          <a:ln/>
        </p:spPr>
        <p:txBody>
          <a:bodyPr wrap="square" lIns="0" tIns="0" rIns="0" bIns="0" rtlCol="0" anchor="ctr"/>
          <a:lstStyle/>
          <a:p>
            <a:pPr indent="0" marL="0">
              <a:buNone/>
            </a:pPr>
            <a:r>
              <a:rPr lang="en-US" sz="780" dirty="0">
                <a:solidFill>
                  <a:srgbClr val="354052"/>
                </a:solidFill>
                <a:latin typeface="Segoe UI" pitchFamily="34" charset="0"/>
                <a:ea typeface="Segoe UI" pitchFamily="34" charset="-122"/>
                <a:cs typeface="Segoe UI" pitchFamily="34" charset="-120"/>
              </a:rPr>
              <a:t>salescoach-cluster — Fargate launch type</a:t>
            </a:r>
            <a:endParaRPr lang="en-US" sz="780" dirty="0"/>
          </a:p>
        </p:txBody>
      </p:sp>
      <p:sp>
        <p:nvSpPr>
          <p:cNvPr id="46" name="Text 44"/>
          <p:cNvSpPr txBox="1"/>
          <p:nvPr/>
        </p:nvSpPr>
        <p:spPr>
          <a:xfrm>
            <a:off x="640080" y="3159252"/>
            <a:ext cx="1325880" cy="224028"/>
          </a:xfrm>
          <a:prstGeom prst="rect">
            <a:avLst/>
          </a:prstGeom>
          <a:noFill/>
          <a:ln/>
        </p:spPr>
        <p:txBody>
          <a:bodyPr wrap="square" lIns="0" tIns="0" rIns="0" bIns="0" rtlCol="0" anchor="ctr"/>
          <a:lstStyle/>
          <a:p>
            <a:pPr indent="0" marL="0">
              <a:buNone/>
            </a:pPr>
            <a:r>
              <a:rPr lang="en-US" sz="800" b="1" dirty="0">
                <a:solidFill>
                  <a:srgbClr val="1F7A4D"/>
                </a:solidFill>
                <a:latin typeface="Segoe UI" pitchFamily="34" charset="0"/>
                <a:ea typeface="Segoe UI" pitchFamily="34" charset="-122"/>
                <a:cs typeface="Segoe UI" pitchFamily="34" charset="-120"/>
              </a:rPr>
              <a:t>ECS service</a:t>
            </a:r>
            <a:endParaRPr lang="en-US" sz="800" dirty="0"/>
          </a:p>
        </p:txBody>
      </p:sp>
      <p:sp>
        <p:nvSpPr>
          <p:cNvPr id="47" name="Text 45"/>
          <p:cNvSpPr txBox="1"/>
          <p:nvPr/>
        </p:nvSpPr>
        <p:spPr>
          <a:xfrm>
            <a:off x="1993392" y="3159252"/>
            <a:ext cx="3886200" cy="224028"/>
          </a:xfrm>
          <a:prstGeom prst="rect">
            <a:avLst/>
          </a:prstGeom>
          <a:noFill/>
          <a:ln/>
        </p:spPr>
        <p:txBody>
          <a:bodyPr wrap="square" lIns="0" tIns="0" rIns="0" bIns="0" rtlCol="0" anchor="ctr"/>
          <a:lstStyle/>
          <a:p>
            <a:pPr indent="0" marL="0">
              <a:buNone/>
            </a:pPr>
            <a:r>
              <a:rPr lang="en-US" sz="780" dirty="0">
                <a:solidFill>
                  <a:srgbClr val="354052"/>
                </a:solidFill>
                <a:latin typeface="Segoe UI" pitchFamily="34" charset="0"/>
                <a:ea typeface="Segoe UI" pitchFamily="34" charset="-122"/>
                <a:cs typeface="Segoe UI" pitchFamily="34" charset="-120"/>
              </a:rPr>
              <a:t>Desired count 2 across two Availability Zones</a:t>
            </a:r>
            <a:endParaRPr lang="en-US" sz="780" dirty="0"/>
          </a:p>
        </p:txBody>
      </p:sp>
      <p:sp>
        <p:nvSpPr>
          <p:cNvPr id="48" name="Shape 46"/>
          <p:cNvSpPr/>
          <p:nvPr/>
        </p:nvSpPr>
        <p:spPr>
          <a:xfrm>
            <a:off x="548640" y="3392424"/>
            <a:ext cx="5394960" cy="224028"/>
          </a:xfrm>
          <a:prstGeom prst="rect">
            <a:avLst/>
          </a:prstGeom>
          <a:solidFill>
            <a:srgbClr val="F0F8F4"/>
          </a:solidFill>
          <a:ln/>
        </p:spPr>
      </p:sp>
      <p:sp>
        <p:nvSpPr>
          <p:cNvPr id="49" name="Text 47"/>
          <p:cNvSpPr txBox="1"/>
          <p:nvPr/>
        </p:nvSpPr>
        <p:spPr>
          <a:xfrm>
            <a:off x="640080" y="3392424"/>
            <a:ext cx="1325880" cy="224028"/>
          </a:xfrm>
          <a:prstGeom prst="rect">
            <a:avLst/>
          </a:prstGeom>
          <a:noFill/>
          <a:ln/>
        </p:spPr>
        <p:txBody>
          <a:bodyPr wrap="square" lIns="0" tIns="0" rIns="0" bIns="0" rtlCol="0" anchor="ctr"/>
          <a:lstStyle/>
          <a:p>
            <a:pPr indent="0" marL="0">
              <a:buNone/>
            </a:pPr>
            <a:r>
              <a:rPr lang="en-US" sz="800" b="1" dirty="0">
                <a:solidFill>
                  <a:srgbClr val="1F7A4D"/>
                </a:solidFill>
                <a:latin typeface="Segoe UI" pitchFamily="34" charset="0"/>
                <a:ea typeface="Segoe UI" pitchFamily="34" charset="-122"/>
                <a:cs typeface="Segoe UI" pitchFamily="34" charset="-120"/>
              </a:rPr>
              <a:t>Task definition</a:t>
            </a:r>
            <a:endParaRPr lang="en-US" sz="800" dirty="0"/>
          </a:p>
        </p:txBody>
      </p:sp>
      <p:sp>
        <p:nvSpPr>
          <p:cNvPr id="50" name="Text 48"/>
          <p:cNvSpPr txBox="1"/>
          <p:nvPr/>
        </p:nvSpPr>
        <p:spPr>
          <a:xfrm>
            <a:off x="1993392" y="3392424"/>
            <a:ext cx="3886200" cy="224028"/>
          </a:xfrm>
          <a:prstGeom prst="rect">
            <a:avLst/>
          </a:prstGeom>
          <a:noFill/>
          <a:ln/>
        </p:spPr>
        <p:txBody>
          <a:bodyPr wrap="square" lIns="0" tIns="0" rIns="0" bIns="0" rtlCol="0" anchor="ctr"/>
          <a:lstStyle/>
          <a:p>
            <a:pPr indent="0" marL="0">
              <a:buNone/>
            </a:pPr>
            <a:r>
              <a:rPr lang="en-US" sz="780" dirty="0">
                <a:solidFill>
                  <a:srgbClr val="354052"/>
                </a:solidFill>
                <a:latin typeface="Segoe UI" pitchFamily="34" charset="0"/>
                <a:ea typeface="Segoe UI" pitchFamily="34" charset="-122"/>
                <a:cs typeface="Segoe UI" pitchFamily="34" charset="-120"/>
              </a:rPr>
              <a:t>One container, port 8000, uvicorn entrypoint</a:t>
            </a:r>
            <a:endParaRPr lang="en-US" sz="780" dirty="0"/>
          </a:p>
        </p:txBody>
      </p:sp>
      <p:sp>
        <p:nvSpPr>
          <p:cNvPr id="51" name="Text 49"/>
          <p:cNvSpPr txBox="1"/>
          <p:nvPr/>
        </p:nvSpPr>
        <p:spPr>
          <a:xfrm>
            <a:off x="640080" y="3625596"/>
            <a:ext cx="1325880" cy="224028"/>
          </a:xfrm>
          <a:prstGeom prst="rect">
            <a:avLst/>
          </a:prstGeom>
          <a:noFill/>
          <a:ln/>
        </p:spPr>
        <p:txBody>
          <a:bodyPr wrap="square" lIns="0" tIns="0" rIns="0" bIns="0" rtlCol="0" anchor="ctr"/>
          <a:lstStyle/>
          <a:p>
            <a:pPr indent="0" marL="0">
              <a:buNone/>
            </a:pPr>
            <a:r>
              <a:rPr lang="en-US" sz="800" b="1" dirty="0">
                <a:solidFill>
                  <a:srgbClr val="1F7A4D"/>
                </a:solidFill>
                <a:latin typeface="Segoe UI" pitchFamily="34" charset="0"/>
                <a:ea typeface="Segoe UI" pitchFamily="34" charset="-122"/>
                <a:cs typeface="Segoe UI" pitchFamily="34" charset="-120"/>
              </a:rPr>
              <a:t>Image</a:t>
            </a:r>
            <a:endParaRPr lang="en-US" sz="800" dirty="0"/>
          </a:p>
        </p:txBody>
      </p:sp>
      <p:sp>
        <p:nvSpPr>
          <p:cNvPr id="52" name="Text 50"/>
          <p:cNvSpPr txBox="1"/>
          <p:nvPr/>
        </p:nvSpPr>
        <p:spPr>
          <a:xfrm>
            <a:off x="1993392" y="3625596"/>
            <a:ext cx="3886200" cy="224028"/>
          </a:xfrm>
          <a:prstGeom prst="rect">
            <a:avLst/>
          </a:prstGeom>
          <a:noFill/>
          <a:ln/>
        </p:spPr>
        <p:txBody>
          <a:bodyPr wrap="square" lIns="0" tIns="0" rIns="0" bIns="0" rtlCol="0" anchor="ctr"/>
          <a:lstStyle/>
          <a:p>
            <a:pPr indent="0" marL="0">
              <a:buNone/>
            </a:pPr>
            <a:r>
              <a:rPr lang="en-US" sz="780" dirty="0">
                <a:solidFill>
                  <a:srgbClr val="354052"/>
                </a:solidFill>
                <a:latin typeface="Segoe UI" pitchFamily="34" charset="0"/>
                <a:ea typeface="Segoe UI" pitchFamily="34" charset="-122"/>
                <a:cs typeface="Segoe UI" pitchFamily="34" charset="-120"/>
              </a:rPr>
              <a:t>ECR  ·  salescoach-ai:&lt;git-sha&gt;  (immutable tags)</a:t>
            </a:r>
            <a:endParaRPr lang="en-US" sz="780" dirty="0"/>
          </a:p>
        </p:txBody>
      </p:sp>
      <p:sp>
        <p:nvSpPr>
          <p:cNvPr id="53" name="Shape 51"/>
          <p:cNvSpPr/>
          <p:nvPr/>
        </p:nvSpPr>
        <p:spPr>
          <a:xfrm>
            <a:off x="548640" y="3858768"/>
            <a:ext cx="5394960" cy="224028"/>
          </a:xfrm>
          <a:prstGeom prst="rect">
            <a:avLst/>
          </a:prstGeom>
          <a:solidFill>
            <a:srgbClr val="F0F8F4"/>
          </a:solidFill>
          <a:ln/>
        </p:spPr>
      </p:sp>
      <p:sp>
        <p:nvSpPr>
          <p:cNvPr id="54" name="Text 52"/>
          <p:cNvSpPr txBox="1"/>
          <p:nvPr/>
        </p:nvSpPr>
        <p:spPr>
          <a:xfrm>
            <a:off x="640080" y="3858768"/>
            <a:ext cx="1325880" cy="224028"/>
          </a:xfrm>
          <a:prstGeom prst="rect">
            <a:avLst/>
          </a:prstGeom>
          <a:noFill/>
          <a:ln/>
        </p:spPr>
        <p:txBody>
          <a:bodyPr wrap="square" lIns="0" tIns="0" rIns="0" bIns="0" rtlCol="0" anchor="ctr"/>
          <a:lstStyle/>
          <a:p>
            <a:pPr indent="0" marL="0">
              <a:buNone/>
            </a:pPr>
            <a:r>
              <a:rPr lang="en-US" sz="800" b="1" dirty="0">
                <a:solidFill>
                  <a:srgbClr val="1F7A4D"/>
                </a:solidFill>
                <a:latin typeface="Segoe UI" pitchFamily="34" charset="0"/>
                <a:ea typeface="Segoe UI" pitchFamily="34" charset="-122"/>
                <a:cs typeface="Segoe UI" pitchFamily="34" charset="-120"/>
              </a:rPr>
              <a:t>Configuration</a:t>
            </a:r>
            <a:endParaRPr lang="en-US" sz="800" dirty="0"/>
          </a:p>
        </p:txBody>
      </p:sp>
      <p:sp>
        <p:nvSpPr>
          <p:cNvPr id="55" name="Text 53"/>
          <p:cNvSpPr txBox="1"/>
          <p:nvPr/>
        </p:nvSpPr>
        <p:spPr>
          <a:xfrm>
            <a:off x="1993392" y="3858768"/>
            <a:ext cx="3886200" cy="224028"/>
          </a:xfrm>
          <a:prstGeom prst="rect">
            <a:avLst/>
          </a:prstGeom>
          <a:noFill/>
          <a:ln/>
        </p:spPr>
        <p:txBody>
          <a:bodyPr wrap="square" lIns="0" tIns="0" rIns="0" bIns="0" rtlCol="0" anchor="ctr"/>
          <a:lstStyle/>
          <a:p>
            <a:pPr indent="0" marL="0">
              <a:buNone/>
            </a:pPr>
            <a:r>
              <a:rPr lang="en-US" sz="780" dirty="0">
                <a:solidFill>
                  <a:srgbClr val="354052"/>
                </a:solidFill>
                <a:latin typeface="Segoe UI" pitchFamily="34" charset="0"/>
                <a:ea typeface="Segoe UI" pitchFamily="34" charset="-122"/>
                <a:cs typeface="Segoe UI" pitchFamily="34" charset="-120"/>
              </a:rPr>
              <a:t>Environment injected from Secrets Manager &amp; SSM</a:t>
            </a:r>
            <a:endParaRPr lang="en-US" sz="780" dirty="0"/>
          </a:p>
        </p:txBody>
      </p:sp>
      <p:sp>
        <p:nvSpPr>
          <p:cNvPr id="56" name="Text 54"/>
          <p:cNvSpPr txBox="1"/>
          <p:nvPr/>
        </p:nvSpPr>
        <p:spPr>
          <a:xfrm>
            <a:off x="640080" y="4091940"/>
            <a:ext cx="1325880" cy="224028"/>
          </a:xfrm>
          <a:prstGeom prst="rect">
            <a:avLst/>
          </a:prstGeom>
          <a:noFill/>
          <a:ln/>
        </p:spPr>
        <p:txBody>
          <a:bodyPr wrap="square" lIns="0" tIns="0" rIns="0" bIns="0" rtlCol="0" anchor="ctr"/>
          <a:lstStyle/>
          <a:p>
            <a:pPr indent="0" marL="0">
              <a:buNone/>
            </a:pPr>
            <a:r>
              <a:rPr lang="en-US" sz="800" b="1" dirty="0">
                <a:solidFill>
                  <a:srgbClr val="1F7A4D"/>
                </a:solidFill>
                <a:latin typeface="Segoe UI" pitchFamily="34" charset="0"/>
                <a:ea typeface="Segoe UI" pitchFamily="34" charset="-122"/>
                <a:cs typeface="Segoe UI" pitchFamily="34" charset="-120"/>
              </a:rPr>
              <a:t>Autoscaling</a:t>
            </a:r>
            <a:endParaRPr lang="en-US" sz="800" dirty="0"/>
          </a:p>
        </p:txBody>
      </p:sp>
      <p:sp>
        <p:nvSpPr>
          <p:cNvPr id="57" name="Text 55"/>
          <p:cNvSpPr txBox="1"/>
          <p:nvPr/>
        </p:nvSpPr>
        <p:spPr>
          <a:xfrm>
            <a:off x="1993392" y="4091940"/>
            <a:ext cx="3886200" cy="224028"/>
          </a:xfrm>
          <a:prstGeom prst="rect">
            <a:avLst/>
          </a:prstGeom>
          <a:noFill/>
          <a:ln/>
        </p:spPr>
        <p:txBody>
          <a:bodyPr wrap="square" lIns="0" tIns="0" rIns="0" bIns="0" rtlCol="0" anchor="ctr"/>
          <a:lstStyle/>
          <a:p>
            <a:pPr indent="0" marL="0">
              <a:buNone/>
            </a:pPr>
            <a:r>
              <a:rPr lang="en-US" sz="780" dirty="0">
                <a:solidFill>
                  <a:srgbClr val="354052"/>
                </a:solidFill>
                <a:latin typeface="Segoe UI" pitchFamily="34" charset="0"/>
                <a:ea typeface="Segoe UI" pitchFamily="34" charset="-122"/>
                <a:cs typeface="Segoe UI" pitchFamily="34" charset="-120"/>
              </a:rPr>
              <a:t>Target-tracking on CPU — scales the service in and out</a:t>
            </a:r>
            <a:endParaRPr lang="en-US" sz="780" dirty="0"/>
          </a:p>
        </p:txBody>
      </p:sp>
      <p:sp>
        <p:nvSpPr>
          <p:cNvPr id="58" name="Shape 56"/>
          <p:cNvSpPr/>
          <p:nvPr/>
        </p:nvSpPr>
        <p:spPr>
          <a:xfrm>
            <a:off x="548640" y="4325112"/>
            <a:ext cx="5394960" cy="224028"/>
          </a:xfrm>
          <a:prstGeom prst="rect">
            <a:avLst/>
          </a:prstGeom>
          <a:solidFill>
            <a:srgbClr val="F0F8F4"/>
          </a:solidFill>
          <a:ln/>
        </p:spPr>
      </p:sp>
      <p:sp>
        <p:nvSpPr>
          <p:cNvPr id="59" name="Text 57"/>
          <p:cNvSpPr txBox="1"/>
          <p:nvPr/>
        </p:nvSpPr>
        <p:spPr>
          <a:xfrm>
            <a:off x="640080" y="4325112"/>
            <a:ext cx="1325880" cy="224028"/>
          </a:xfrm>
          <a:prstGeom prst="rect">
            <a:avLst/>
          </a:prstGeom>
          <a:noFill/>
          <a:ln/>
        </p:spPr>
        <p:txBody>
          <a:bodyPr wrap="square" lIns="0" tIns="0" rIns="0" bIns="0" rtlCol="0" anchor="ctr"/>
          <a:lstStyle/>
          <a:p>
            <a:pPr indent="0" marL="0">
              <a:buNone/>
            </a:pPr>
            <a:r>
              <a:rPr lang="en-US" sz="800" b="1" dirty="0">
                <a:solidFill>
                  <a:srgbClr val="1F7A4D"/>
                </a:solidFill>
                <a:latin typeface="Segoe UI" pitchFamily="34" charset="0"/>
                <a:ea typeface="Segoe UI" pitchFamily="34" charset="-122"/>
                <a:cs typeface="Segoe UI" pitchFamily="34" charset="-120"/>
              </a:rPr>
              <a:t>Deployment</a:t>
            </a:r>
            <a:endParaRPr lang="en-US" sz="800" dirty="0"/>
          </a:p>
        </p:txBody>
      </p:sp>
      <p:sp>
        <p:nvSpPr>
          <p:cNvPr id="60" name="Text 58"/>
          <p:cNvSpPr txBox="1"/>
          <p:nvPr/>
        </p:nvSpPr>
        <p:spPr>
          <a:xfrm>
            <a:off x="1993392" y="4325112"/>
            <a:ext cx="3886200" cy="224028"/>
          </a:xfrm>
          <a:prstGeom prst="rect">
            <a:avLst/>
          </a:prstGeom>
          <a:noFill/>
          <a:ln/>
        </p:spPr>
        <p:txBody>
          <a:bodyPr wrap="square" lIns="0" tIns="0" rIns="0" bIns="0" rtlCol="0" anchor="ctr"/>
          <a:lstStyle/>
          <a:p>
            <a:pPr indent="0" marL="0">
              <a:buNone/>
            </a:pPr>
            <a:r>
              <a:rPr lang="en-US" sz="780" dirty="0">
                <a:solidFill>
                  <a:srgbClr val="354052"/>
                </a:solidFill>
                <a:latin typeface="Segoe UI" pitchFamily="34" charset="0"/>
                <a:ea typeface="Segoe UI" pitchFamily="34" charset="-122"/>
                <a:cs typeface="Segoe UI" pitchFamily="34" charset="-120"/>
              </a:rPr>
              <a:t>Rolling update, health-check gated, automatic rollback</a:t>
            </a:r>
            <a:endParaRPr lang="en-US" sz="780" dirty="0"/>
          </a:p>
        </p:txBody>
      </p:sp>
      <p:sp>
        <p:nvSpPr>
          <p:cNvPr id="61" name="Shape 59"/>
          <p:cNvSpPr/>
          <p:nvPr/>
        </p:nvSpPr>
        <p:spPr>
          <a:xfrm>
            <a:off x="6263640" y="2542032"/>
            <a:ext cx="5532120" cy="2084832"/>
          </a:xfrm>
          <a:prstGeom prst="roundRect">
            <a:avLst>
              <a:gd name="adj" fmla="val 1754"/>
            </a:avLst>
          </a:prstGeom>
          <a:solidFill>
            <a:srgbClr val="FFFFFF"/>
          </a:solidFill>
          <a:ln w="12700">
            <a:solidFill>
              <a:srgbClr val="CBD4E1"/>
            </a:solidFill>
            <a:prstDash val="solid"/>
          </a:ln>
        </p:spPr>
      </p:sp>
      <p:sp>
        <p:nvSpPr>
          <p:cNvPr id="62" name="Shape 60"/>
          <p:cNvSpPr/>
          <p:nvPr/>
        </p:nvSpPr>
        <p:spPr>
          <a:xfrm>
            <a:off x="6263640" y="2542032"/>
            <a:ext cx="5532120" cy="292608"/>
          </a:xfrm>
          <a:prstGeom prst="rect">
            <a:avLst/>
          </a:prstGeom>
          <a:solidFill>
            <a:srgbClr val="0B2E5C"/>
          </a:solidFill>
          <a:ln/>
        </p:spPr>
      </p:sp>
      <p:sp>
        <p:nvSpPr>
          <p:cNvPr id="63" name="Text 61"/>
          <p:cNvSpPr txBox="1"/>
          <p:nvPr/>
        </p:nvSpPr>
        <p:spPr>
          <a:xfrm>
            <a:off x="6446520" y="2578608"/>
            <a:ext cx="5120640" cy="219456"/>
          </a:xfrm>
          <a:prstGeom prst="rect">
            <a:avLst/>
          </a:prstGeom>
          <a:noFill/>
          <a:ln/>
        </p:spPr>
        <p:txBody>
          <a:bodyPr wrap="square" lIns="0" tIns="0" rIns="0" bIns="0" rtlCol="0" anchor="ctr"/>
          <a:lstStyle/>
          <a:p>
            <a:pPr algn="l" indent="0" marL="0">
              <a:buNone/>
            </a:pPr>
            <a:r>
              <a:rPr lang="en-US" sz="950" b="1" dirty="0">
                <a:solidFill>
                  <a:srgbClr val="FFFFFF"/>
                </a:solidFill>
                <a:latin typeface="Segoe UI" pitchFamily="34" charset="0"/>
                <a:ea typeface="Segoe UI" pitchFamily="34" charset="-122"/>
                <a:cs typeface="Segoe UI" pitchFamily="34" charset="-120"/>
              </a:rPr>
              <a:t>NETWORKING &amp; THE ENDPOINT</a:t>
            </a:r>
            <a:endParaRPr lang="en-US" sz="950" dirty="0"/>
          </a:p>
        </p:txBody>
      </p:sp>
      <p:sp>
        <p:nvSpPr>
          <p:cNvPr id="64" name="Shape 62"/>
          <p:cNvSpPr/>
          <p:nvPr/>
        </p:nvSpPr>
        <p:spPr>
          <a:xfrm>
            <a:off x="6400800" y="2926080"/>
            <a:ext cx="5257800" cy="224028"/>
          </a:xfrm>
          <a:prstGeom prst="rect">
            <a:avLst/>
          </a:prstGeom>
          <a:solidFill>
            <a:srgbClr val="EDF3FB"/>
          </a:solidFill>
          <a:ln/>
        </p:spPr>
      </p:sp>
      <p:sp>
        <p:nvSpPr>
          <p:cNvPr id="65" name="Text 63"/>
          <p:cNvSpPr txBox="1"/>
          <p:nvPr/>
        </p:nvSpPr>
        <p:spPr>
          <a:xfrm>
            <a:off x="6492240" y="2926080"/>
            <a:ext cx="1280160" cy="224028"/>
          </a:xfrm>
          <a:prstGeom prst="rect">
            <a:avLst/>
          </a:prstGeom>
          <a:noFill/>
          <a:ln/>
        </p:spPr>
        <p:txBody>
          <a:bodyPr wrap="square" lIns="0" tIns="0" rIns="0" bIns="0" rtlCol="0" anchor="ctr"/>
          <a:lstStyle/>
          <a:p>
            <a:pPr indent="0" marL="0">
              <a:buNone/>
            </a:pPr>
            <a:r>
              <a:rPr lang="en-US" sz="800" b="1" dirty="0">
                <a:solidFill>
                  <a:srgbClr val="0B2E5C"/>
                </a:solidFill>
                <a:latin typeface="Segoe UI" pitchFamily="34" charset="0"/>
                <a:ea typeface="Segoe UI" pitchFamily="34" charset="-122"/>
                <a:cs typeface="Segoe UI" pitchFamily="34" charset="-120"/>
              </a:rPr>
              <a:t>VPC</a:t>
            </a:r>
            <a:endParaRPr lang="en-US" sz="800" dirty="0"/>
          </a:p>
        </p:txBody>
      </p:sp>
      <p:sp>
        <p:nvSpPr>
          <p:cNvPr id="66" name="Text 64"/>
          <p:cNvSpPr txBox="1"/>
          <p:nvPr/>
        </p:nvSpPr>
        <p:spPr>
          <a:xfrm>
            <a:off x="7799832" y="2926080"/>
            <a:ext cx="3794760" cy="224028"/>
          </a:xfrm>
          <a:prstGeom prst="rect">
            <a:avLst/>
          </a:prstGeom>
          <a:noFill/>
          <a:ln/>
        </p:spPr>
        <p:txBody>
          <a:bodyPr wrap="square" lIns="0" tIns="0" rIns="0" bIns="0" rtlCol="0" anchor="ctr"/>
          <a:lstStyle/>
          <a:p>
            <a:pPr indent="0" marL="0">
              <a:buNone/>
            </a:pPr>
            <a:r>
              <a:rPr lang="en-US" sz="780" dirty="0">
                <a:solidFill>
                  <a:srgbClr val="354052"/>
                </a:solidFill>
                <a:latin typeface="Segoe UI" pitchFamily="34" charset="0"/>
                <a:ea typeface="Segoe UI" pitchFamily="34" charset="-122"/>
                <a:cs typeface="Segoe UI" pitchFamily="34" charset="-120"/>
              </a:rPr>
              <a:t>Two AZs — ALB in public subnets, tasks in private subnets</a:t>
            </a:r>
            <a:endParaRPr lang="en-US" sz="780" dirty="0"/>
          </a:p>
        </p:txBody>
      </p:sp>
      <p:sp>
        <p:nvSpPr>
          <p:cNvPr id="67" name="Text 65"/>
          <p:cNvSpPr txBox="1"/>
          <p:nvPr/>
        </p:nvSpPr>
        <p:spPr>
          <a:xfrm>
            <a:off x="6492240" y="3159252"/>
            <a:ext cx="1280160" cy="224028"/>
          </a:xfrm>
          <a:prstGeom prst="rect">
            <a:avLst/>
          </a:prstGeom>
          <a:noFill/>
          <a:ln/>
        </p:spPr>
        <p:txBody>
          <a:bodyPr wrap="square" lIns="0" tIns="0" rIns="0" bIns="0" rtlCol="0" anchor="ctr"/>
          <a:lstStyle/>
          <a:p>
            <a:pPr indent="0" marL="0">
              <a:buNone/>
            </a:pPr>
            <a:r>
              <a:rPr lang="en-US" sz="800" b="1" dirty="0">
                <a:solidFill>
                  <a:srgbClr val="0B2E5C"/>
                </a:solidFill>
                <a:latin typeface="Segoe UI" pitchFamily="34" charset="0"/>
                <a:ea typeface="Segoe UI" pitchFamily="34" charset="-122"/>
                <a:cs typeface="Segoe UI" pitchFamily="34" charset="-120"/>
              </a:rPr>
              <a:t>Egress</a:t>
            </a:r>
            <a:endParaRPr lang="en-US" sz="800" dirty="0"/>
          </a:p>
        </p:txBody>
      </p:sp>
      <p:sp>
        <p:nvSpPr>
          <p:cNvPr id="68" name="Text 66"/>
          <p:cNvSpPr txBox="1"/>
          <p:nvPr/>
        </p:nvSpPr>
        <p:spPr>
          <a:xfrm>
            <a:off x="7799832" y="3159252"/>
            <a:ext cx="3794760" cy="224028"/>
          </a:xfrm>
          <a:prstGeom prst="rect">
            <a:avLst/>
          </a:prstGeom>
          <a:noFill/>
          <a:ln/>
        </p:spPr>
        <p:txBody>
          <a:bodyPr wrap="square" lIns="0" tIns="0" rIns="0" bIns="0" rtlCol="0" anchor="ctr"/>
          <a:lstStyle/>
          <a:p>
            <a:pPr indent="0" marL="0">
              <a:buNone/>
            </a:pPr>
            <a:r>
              <a:rPr lang="en-US" sz="780" dirty="0">
                <a:solidFill>
                  <a:srgbClr val="354052"/>
                </a:solidFill>
                <a:latin typeface="Segoe UI" pitchFamily="34" charset="0"/>
                <a:ea typeface="Segoe UI" pitchFamily="34" charset="-122"/>
                <a:cs typeface="Segoe UI" pitchFamily="34" charset="-120"/>
              </a:rPr>
              <a:t>NAT gateway for Bedrock, Cognito and AWS API calls</a:t>
            </a:r>
            <a:endParaRPr lang="en-US" sz="780" dirty="0"/>
          </a:p>
        </p:txBody>
      </p:sp>
      <p:sp>
        <p:nvSpPr>
          <p:cNvPr id="69" name="Shape 67"/>
          <p:cNvSpPr/>
          <p:nvPr/>
        </p:nvSpPr>
        <p:spPr>
          <a:xfrm>
            <a:off x="6400800" y="3392424"/>
            <a:ext cx="5257800" cy="224028"/>
          </a:xfrm>
          <a:prstGeom prst="rect">
            <a:avLst/>
          </a:prstGeom>
          <a:solidFill>
            <a:srgbClr val="EDF3FB"/>
          </a:solidFill>
          <a:ln/>
        </p:spPr>
      </p:sp>
      <p:sp>
        <p:nvSpPr>
          <p:cNvPr id="70" name="Text 68"/>
          <p:cNvSpPr txBox="1"/>
          <p:nvPr/>
        </p:nvSpPr>
        <p:spPr>
          <a:xfrm>
            <a:off x="6492240" y="3392424"/>
            <a:ext cx="1280160" cy="224028"/>
          </a:xfrm>
          <a:prstGeom prst="rect">
            <a:avLst/>
          </a:prstGeom>
          <a:noFill/>
          <a:ln/>
        </p:spPr>
        <p:txBody>
          <a:bodyPr wrap="square" lIns="0" tIns="0" rIns="0" bIns="0" rtlCol="0" anchor="ctr"/>
          <a:lstStyle/>
          <a:p>
            <a:pPr indent="0" marL="0">
              <a:buNone/>
            </a:pPr>
            <a:r>
              <a:rPr lang="en-US" sz="800" b="1" dirty="0">
                <a:solidFill>
                  <a:srgbClr val="0B2E5C"/>
                </a:solidFill>
                <a:latin typeface="Segoe UI" pitchFamily="34" charset="0"/>
                <a:ea typeface="Segoe UI" pitchFamily="34" charset="-122"/>
                <a:cs typeface="Segoe UI" pitchFamily="34" charset="-120"/>
              </a:rPr>
              <a:t>Load balancer</a:t>
            </a:r>
            <a:endParaRPr lang="en-US" sz="800" dirty="0"/>
          </a:p>
        </p:txBody>
      </p:sp>
      <p:sp>
        <p:nvSpPr>
          <p:cNvPr id="71" name="Text 69"/>
          <p:cNvSpPr txBox="1"/>
          <p:nvPr/>
        </p:nvSpPr>
        <p:spPr>
          <a:xfrm>
            <a:off x="7799832" y="3392424"/>
            <a:ext cx="3794760" cy="224028"/>
          </a:xfrm>
          <a:prstGeom prst="rect">
            <a:avLst/>
          </a:prstGeom>
          <a:noFill/>
          <a:ln/>
        </p:spPr>
        <p:txBody>
          <a:bodyPr wrap="square" lIns="0" tIns="0" rIns="0" bIns="0" rtlCol="0" anchor="ctr"/>
          <a:lstStyle/>
          <a:p>
            <a:pPr indent="0" marL="0">
              <a:buNone/>
            </a:pPr>
            <a:r>
              <a:rPr lang="en-US" sz="780" dirty="0">
                <a:solidFill>
                  <a:srgbClr val="354052"/>
                </a:solidFill>
                <a:latin typeface="Segoe UI" pitchFamily="34" charset="0"/>
                <a:ea typeface="Segoe UI" pitchFamily="34" charset="-122"/>
                <a:cs typeface="Segoe UI" pitchFamily="34" charset="-120"/>
              </a:rPr>
              <a:t>Application Load Balancer, HTTPS :443, ACM certificate</a:t>
            </a:r>
            <a:endParaRPr lang="en-US" sz="780" dirty="0"/>
          </a:p>
        </p:txBody>
      </p:sp>
      <p:sp>
        <p:nvSpPr>
          <p:cNvPr id="72" name="Text 70"/>
          <p:cNvSpPr txBox="1"/>
          <p:nvPr/>
        </p:nvSpPr>
        <p:spPr>
          <a:xfrm>
            <a:off x="6492240" y="3625596"/>
            <a:ext cx="1280160" cy="224028"/>
          </a:xfrm>
          <a:prstGeom prst="rect">
            <a:avLst/>
          </a:prstGeom>
          <a:noFill/>
          <a:ln/>
        </p:spPr>
        <p:txBody>
          <a:bodyPr wrap="square" lIns="0" tIns="0" rIns="0" bIns="0" rtlCol="0" anchor="ctr"/>
          <a:lstStyle/>
          <a:p>
            <a:pPr indent="0" marL="0">
              <a:buNone/>
            </a:pPr>
            <a:r>
              <a:rPr lang="en-US" sz="800" b="1" dirty="0">
                <a:solidFill>
                  <a:srgbClr val="0B2E5C"/>
                </a:solidFill>
                <a:latin typeface="Segoe UI" pitchFamily="34" charset="0"/>
                <a:ea typeface="Segoe UI" pitchFamily="34" charset="-122"/>
                <a:cs typeface="Segoe UI" pitchFamily="34" charset="-120"/>
              </a:rPr>
              <a:t>Target group</a:t>
            </a:r>
            <a:endParaRPr lang="en-US" sz="800" dirty="0"/>
          </a:p>
        </p:txBody>
      </p:sp>
      <p:sp>
        <p:nvSpPr>
          <p:cNvPr id="73" name="Text 71"/>
          <p:cNvSpPr txBox="1"/>
          <p:nvPr/>
        </p:nvSpPr>
        <p:spPr>
          <a:xfrm>
            <a:off x="7799832" y="3625596"/>
            <a:ext cx="3794760" cy="224028"/>
          </a:xfrm>
          <a:prstGeom prst="rect">
            <a:avLst/>
          </a:prstGeom>
          <a:noFill/>
          <a:ln/>
        </p:spPr>
        <p:txBody>
          <a:bodyPr wrap="square" lIns="0" tIns="0" rIns="0" bIns="0" rtlCol="0" anchor="ctr"/>
          <a:lstStyle/>
          <a:p>
            <a:pPr indent="0" marL="0">
              <a:buNone/>
            </a:pPr>
            <a:r>
              <a:rPr lang="en-US" sz="780" dirty="0">
                <a:solidFill>
                  <a:srgbClr val="354052"/>
                </a:solidFill>
                <a:latin typeface="Segoe UI" pitchFamily="34" charset="0"/>
                <a:ea typeface="Segoe UI" pitchFamily="34" charset="-122"/>
                <a:cs typeface="Segoe UI" pitchFamily="34" charset="-120"/>
              </a:rPr>
              <a:t>IP targets on :8000, health check GET /  (200 expected)</a:t>
            </a:r>
            <a:endParaRPr lang="en-US" sz="780" dirty="0"/>
          </a:p>
        </p:txBody>
      </p:sp>
      <p:sp>
        <p:nvSpPr>
          <p:cNvPr id="74" name="Shape 72"/>
          <p:cNvSpPr/>
          <p:nvPr/>
        </p:nvSpPr>
        <p:spPr>
          <a:xfrm>
            <a:off x="6400800" y="3858768"/>
            <a:ext cx="5257800" cy="224028"/>
          </a:xfrm>
          <a:prstGeom prst="rect">
            <a:avLst/>
          </a:prstGeom>
          <a:solidFill>
            <a:srgbClr val="EDF3FB"/>
          </a:solidFill>
          <a:ln/>
        </p:spPr>
      </p:sp>
      <p:sp>
        <p:nvSpPr>
          <p:cNvPr id="75" name="Text 73"/>
          <p:cNvSpPr txBox="1"/>
          <p:nvPr/>
        </p:nvSpPr>
        <p:spPr>
          <a:xfrm>
            <a:off x="6492240" y="3858768"/>
            <a:ext cx="1280160" cy="224028"/>
          </a:xfrm>
          <a:prstGeom prst="rect">
            <a:avLst/>
          </a:prstGeom>
          <a:noFill/>
          <a:ln/>
        </p:spPr>
        <p:txBody>
          <a:bodyPr wrap="square" lIns="0" tIns="0" rIns="0" bIns="0" rtlCol="0" anchor="ctr"/>
          <a:lstStyle/>
          <a:p>
            <a:pPr indent="0" marL="0">
              <a:buNone/>
            </a:pPr>
            <a:r>
              <a:rPr lang="en-US" sz="800" b="1" dirty="0">
                <a:solidFill>
                  <a:srgbClr val="0B2E5C"/>
                </a:solidFill>
                <a:latin typeface="Segoe UI" pitchFamily="34" charset="0"/>
                <a:ea typeface="Segoe UI" pitchFamily="34" charset="-122"/>
                <a:cs typeface="Segoe UI" pitchFamily="34" charset="-120"/>
              </a:rPr>
              <a:t>Task role</a:t>
            </a:r>
            <a:endParaRPr lang="en-US" sz="800" dirty="0"/>
          </a:p>
        </p:txBody>
      </p:sp>
      <p:sp>
        <p:nvSpPr>
          <p:cNvPr id="76" name="Text 74"/>
          <p:cNvSpPr txBox="1"/>
          <p:nvPr/>
        </p:nvSpPr>
        <p:spPr>
          <a:xfrm>
            <a:off x="7799832" y="3858768"/>
            <a:ext cx="3794760" cy="224028"/>
          </a:xfrm>
          <a:prstGeom prst="rect">
            <a:avLst/>
          </a:prstGeom>
          <a:noFill/>
          <a:ln/>
        </p:spPr>
        <p:txBody>
          <a:bodyPr wrap="square" lIns="0" tIns="0" rIns="0" bIns="0" rtlCol="0" anchor="ctr"/>
          <a:lstStyle/>
          <a:p>
            <a:pPr indent="0" marL="0">
              <a:buNone/>
            </a:pPr>
            <a:r>
              <a:rPr lang="en-US" sz="780" dirty="0">
                <a:solidFill>
                  <a:srgbClr val="354052"/>
                </a:solidFill>
                <a:latin typeface="Segoe UI" pitchFamily="34" charset="0"/>
                <a:ea typeface="Segoe UI" pitchFamily="34" charset="-122"/>
                <a:cs typeface="Segoe UI" pitchFamily="34" charset="-120"/>
              </a:rPr>
              <a:t>Bedrock · Cognito · CloudWatch · X-Ray  (+ phase-2 grants)</a:t>
            </a:r>
            <a:endParaRPr lang="en-US" sz="780" dirty="0"/>
          </a:p>
        </p:txBody>
      </p:sp>
      <p:sp>
        <p:nvSpPr>
          <p:cNvPr id="77" name="Text 75"/>
          <p:cNvSpPr txBox="1"/>
          <p:nvPr/>
        </p:nvSpPr>
        <p:spPr>
          <a:xfrm>
            <a:off x="6492240" y="4091940"/>
            <a:ext cx="1280160" cy="224028"/>
          </a:xfrm>
          <a:prstGeom prst="rect">
            <a:avLst/>
          </a:prstGeom>
          <a:noFill/>
          <a:ln/>
        </p:spPr>
        <p:txBody>
          <a:bodyPr wrap="square" lIns="0" tIns="0" rIns="0" bIns="0" rtlCol="0" anchor="ctr"/>
          <a:lstStyle/>
          <a:p>
            <a:pPr indent="0" marL="0">
              <a:buNone/>
            </a:pPr>
            <a:r>
              <a:rPr lang="en-US" sz="800" b="1" dirty="0">
                <a:solidFill>
                  <a:srgbClr val="0B2E5C"/>
                </a:solidFill>
                <a:latin typeface="Segoe UI" pitchFamily="34" charset="0"/>
                <a:ea typeface="Segoe UI" pitchFamily="34" charset="-122"/>
                <a:cs typeface="Segoe UI" pitchFamily="34" charset="-120"/>
              </a:rPr>
              <a:t>Execution role</a:t>
            </a:r>
            <a:endParaRPr lang="en-US" sz="800" dirty="0"/>
          </a:p>
        </p:txBody>
      </p:sp>
      <p:sp>
        <p:nvSpPr>
          <p:cNvPr id="78" name="Text 76"/>
          <p:cNvSpPr txBox="1"/>
          <p:nvPr/>
        </p:nvSpPr>
        <p:spPr>
          <a:xfrm>
            <a:off x="7799832" y="4091940"/>
            <a:ext cx="3794760" cy="224028"/>
          </a:xfrm>
          <a:prstGeom prst="rect">
            <a:avLst/>
          </a:prstGeom>
          <a:noFill/>
          <a:ln/>
        </p:spPr>
        <p:txBody>
          <a:bodyPr wrap="square" lIns="0" tIns="0" rIns="0" bIns="0" rtlCol="0" anchor="ctr"/>
          <a:lstStyle/>
          <a:p>
            <a:pPr indent="0" marL="0">
              <a:buNone/>
            </a:pPr>
            <a:r>
              <a:rPr lang="en-US" sz="780" dirty="0">
                <a:solidFill>
                  <a:srgbClr val="354052"/>
                </a:solidFill>
                <a:latin typeface="Segoe UI" pitchFamily="34" charset="0"/>
                <a:ea typeface="Segoe UI" pitchFamily="34" charset="-122"/>
                <a:cs typeface="Segoe UI" pitchFamily="34" charset="-120"/>
              </a:rPr>
              <a:t>Pulls the image from ECR, reads secrets at start-up</a:t>
            </a:r>
            <a:endParaRPr lang="en-US" sz="780" dirty="0"/>
          </a:p>
        </p:txBody>
      </p:sp>
      <p:sp>
        <p:nvSpPr>
          <p:cNvPr id="79" name="Shape 77"/>
          <p:cNvSpPr/>
          <p:nvPr/>
        </p:nvSpPr>
        <p:spPr>
          <a:xfrm>
            <a:off x="6400800" y="4325112"/>
            <a:ext cx="5257800" cy="224028"/>
          </a:xfrm>
          <a:prstGeom prst="rect">
            <a:avLst/>
          </a:prstGeom>
          <a:solidFill>
            <a:srgbClr val="EDF3FB"/>
          </a:solidFill>
          <a:ln/>
        </p:spPr>
      </p:sp>
      <p:sp>
        <p:nvSpPr>
          <p:cNvPr id="80" name="Text 78"/>
          <p:cNvSpPr txBox="1"/>
          <p:nvPr/>
        </p:nvSpPr>
        <p:spPr>
          <a:xfrm>
            <a:off x="6492240" y="4325112"/>
            <a:ext cx="1280160" cy="224028"/>
          </a:xfrm>
          <a:prstGeom prst="rect">
            <a:avLst/>
          </a:prstGeom>
          <a:noFill/>
          <a:ln/>
        </p:spPr>
        <p:txBody>
          <a:bodyPr wrap="square" lIns="0" tIns="0" rIns="0" bIns="0" rtlCol="0" anchor="ctr"/>
          <a:lstStyle/>
          <a:p>
            <a:pPr indent="0" marL="0">
              <a:buNone/>
            </a:pPr>
            <a:r>
              <a:rPr lang="en-US" sz="800" b="1" dirty="0">
                <a:solidFill>
                  <a:srgbClr val="0B2E5C"/>
                </a:solidFill>
                <a:latin typeface="Segoe UI" pitchFamily="34" charset="0"/>
                <a:ea typeface="Segoe UI" pitchFamily="34" charset="-122"/>
                <a:cs typeface="Segoe UI" pitchFamily="34" charset="-120"/>
              </a:rPr>
              <a:t>Logging</a:t>
            </a:r>
            <a:endParaRPr lang="en-US" sz="800" dirty="0"/>
          </a:p>
        </p:txBody>
      </p:sp>
      <p:sp>
        <p:nvSpPr>
          <p:cNvPr id="81" name="Text 79"/>
          <p:cNvSpPr txBox="1"/>
          <p:nvPr/>
        </p:nvSpPr>
        <p:spPr>
          <a:xfrm>
            <a:off x="7799832" y="4325112"/>
            <a:ext cx="3794760" cy="224028"/>
          </a:xfrm>
          <a:prstGeom prst="rect">
            <a:avLst/>
          </a:prstGeom>
          <a:noFill/>
          <a:ln/>
        </p:spPr>
        <p:txBody>
          <a:bodyPr wrap="square" lIns="0" tIns="0" rIns="0" bIns="0" rtlCol="0" anchor="ctr"/>
          <a:lstStyle/>
          <a:p>
            <a:pPr indent="0" marL="0">
              <a:buNone/>
            </a:pPr>
            <a:r>
              <a:rPr lang="en-US" sz="780" dirty="0">
                <a:solidFill>
                  <a:srgbClr val="354052"/>
                </a:solidFill>
                <a:latin typeface="Segoe UI" pitchFamily="34" charset="0"/>
                <a:ea typeface="Segoe UI" pitchFamily="34" charset="-122"/>
                <a:cs typeface="Segoe UI" pitchFamily="34" charset="-120"/>
              </a:rPr>
              <a:t>awslogs driver → CloudWatch  /ecs/salescoach-ai</a:t>
            </a:r>
            <a:endParaRPr lang="en-US" sz="780" dirty="0"/>
          </a:p>
        </p:txBody>
      </p:sp>
      <p:sp>
        <p:nvSpPr>
          <p:cNvPr id="82" name="Shape 80"/>
          <p:cNvSpPr/>
          <p:nvPr/>
        </p:nvSpPr>
        <p:spPr>
          <a:xfrm>
            <a:off x="411480" y="4700016"/>
            <a:ext cx="7818120" cy="1207008"/>
          </a:xfrm>
          <a:prstGeom prst="roundRect">
            <a:avLst>
              <a:gd name="adj" fmla="val 3030"/>
            </a:avLst>
          </a:prstGeom>
          <a:solidFill>
            <a:srgbClr val="EDF3FB"/>
          </a:solidFill>
          <a:ln w="12700">
            <a:solidFill>
              <a:srgbClr val="C3D6EE"/>
            </a:solidFill>
            <a:prstDash val="solid"/>
          </a:ln>
        </p:spPr>
      </p:sp>
      <p:sp>
        <p:nvSpPr>
          <p:cNvPr id="83" name="Text 81"/>
          <p:cNvSpPr txBox="1"/>
          <p:nvPr/>
        </p:nvSpPr>
        <p:spPr>
          <a:xfrm>
            <a:off x="640080" y="4754880"/>
            <a:ext cx="3657600" cy="219456"/>
          </a:xfrm>
          <a:prstGeom prst="rect">
            <a:avLst/>
          </a:prstGeom>
          <a:noFill/>
          <a:ln/>
        </p:spPr>
        <p:txBody>
          <a:bodyPr wrap="square" lIns="0" tIns="0" rIns="0" bIns="0" rtlCol="0" anchor="ctr"/>
          <a:lstStyle/>
          <a:p>
            <a:pPr algn="l" indent="0" marL="0">
              <a:buNone/>
            </a:pPr>
            <a:r>
              <a:rPr lang="en-US" sz="950" b="1" dirty="0">
                <a:solidFill>
                  <a:srgbClr val="0A5CB8"/>
                </a:solidFill>
                <a:latin typeface="Segoe UI" pitchFamily="34" charset="0"/>
                <a:ea typeface="Segoe UI" pitchFamily="34" charset="-122"/>
                <a:cs typeface="Segoe UI" pitchFamily="34" charset="-120"/>
              </a:rPr>
              <a:t>MANAGED SERVICES THE TASK CONNECTS TO</a:t>
            </a:r>
            <a:endParaRPr lang="en-US" sz="950" dirty="0"/>
          </a:p>
        </p:txBody>
      </p:sp>
      <p:sp>
        <p:nvSpPr>
          <p:cNvPr id="84" name="Text 82"/>
          <p:cNvSpPr txBox="1"/>
          <p:nvPr/>
        </p:nvSpPr>
        <p:spPr>
          <a:xfrm>
            <a:off x="4160520" y="4754880"/>
            <a:ext cx="3931920" cy="219456"/>
          </a:xfrm>
          <a:prstGeom prst="rect">
            <a:avLst/>
          </a:prstGeom>
          <a:noFill/>
          <a:ln/>
        </p:spPr>
        <p:txBody>
          <a:bodyPr wrap="square" lIns="0" tIns="0" rIns="0" bIns="0" rtlCol="0" anchor="ctr"/>
          <a:lstStyle/>
          <a:p>
            <a:pPr algn="r" indent="0" marL="0">
              <a:buNone/>
            </a:pPr>
            <a:r>
              <a:rPr lang="en-US" sz="660" dirty="0">
                <a:solidFill>
                  <a:srgbClr val="5B6577"/>
                </a:solidFill>
                <a:latin typeface="Segoe UI" pitchFamily="34" charset="0"/>
                <a:ea typeface="Segoe UI" pitchFamily="34" charset="-122"/>
                <a:cs typeface="Segoe UI" pitchFamily="34" charset="-120"/>
              </a:rPr>
              <a:t>IN USE = called in code   ·   READY = client written   ·   PLANNED = configured only</a:t>
            </a:r>
            <a:endParaRPr lang="en-US" sz="660" dirty="0"/>
          </a:p>
        </p:txBody>
      </p:sp>
      <p:sp>
        <p:nvSpPr>
          <p:cNvPr id="85" name="Shape 83"/>
          <p:cNvSpPr/>
          <p:nvPr/>
        </p:nvSpPr>
        <p:spPr>
          <a:xfrm>
            <a:off x="566928" y="5029200"/>
            <a:ext cx="932688" cy="237744"/>
          </a:xfrm>
          <a:prstGeom prst="roundRect">
            <a:avLst>
              <a:gd name="adj" fmla="val 7692"/>
            </a:avLst>
          </a:prstGeom>
          <a:solidFill>
            <a:srgbClr val="1F7A4D"/>
          </a:solidFill>
          <a:ln/>
        </p:spPr>
      </p:sp>
      <p:sp>
        <p:nvSpPr>
          <p:cNvPr id="86" name="Text 84"/>
          <p:cNvSpPr txBox="1"/>
          <p:nvPr/>
        </p:nvSpPr>
        <p:spPr>
          <a:xfrm>
            <a:off x="566928" y="5029200"/>
            <a:ext cx="932688" cy="237744"/>
          </a:xfrm>
          <a:prstGeom prst="rect">
            <a:avLst/>
          </a:prstGeom>
          <a:noFill/>
          <a:ln/>
        </p:spPr>
        <p:txBody>
          <a:bodyPr wrap="square" lIns="0" tIns="0" rIns="0" bIns="0" rtlCol="0" anchor="ctr"/>
          <a:lstStyle/>
          <a:p>
            <a:pPr algn="ctr" indent="0" marL="0">
              <a:buNone/>
            </a:pPr>
            <a:r>
              <a:rPr lang="en-US" sz="680" b="1" dirty="0">
                <a:solidFill>
                  <a:srgbClr val="FFFFFF"/>
                </a:solidFill>
                <a:latin typeface="Segoe UI" pitchFamily="34" charset="0"/>
                <a:ea typeface="Segoe UI" pitchFamily="34" charset="-122"/>
                <a:cs typeface="Segoe UI" pitchFamily="34" charset="-120"/>
              </a:rPr>
              <a:t>IN USE</a:t>
            </a:r>
            <a:endParaRPr lang="en-US" sz="680" dirty="0"/>
          </a:p>
        </p:txBody>
      </p:sp>
      <p:sp>
        <p:nvSpPr>
          <p:cNvPr id="87" name="Shape 85"/>
          <p:cNvSpPr/>
          <p:nvPr/>
        </p:nvSpPr>
        <p:spPr>
          <a:xfrm>
            <a:off x="1591056" y="5029200"/>
            <a:ext cx="1250899" cy="237744"/>
          </a:xfrm>
          <a:prstGeom prst="roundRect">
            <a:avLst>
              <a:gd name="adj" fmla="val 7692"/>
            </a:avLst>
          </a:prstGeom>
          <a:solidFill>
            <a:srgbClr val="F0F8F4"/>
          </a:solidFill>
          <a:ln w="9525">
            <a:solidFill>
              <a:srgbClr val="A9D6BC"/>
            </a:solidFill>
            <a:prstDash val="solid"/>
          </a:ln>
        </p:spPr>
      </p:sp>
      <p:sp>
        <p:nvSpPr>
          <p:cNvPr id="88" name="Text 86"/>
          <p:cNvSpPr txBox="1"/>
          <p:nvPr/>
        </p:nvSpPr>
        <p:spPr>
          <a:xfrm>
            <a:off x="1618488" y="5029200"/>
            <a:ext cx="1196035" cy="237744"/>
          </a:xfrm>
          <a:prstGeom prst="rect">
            <a:avLst/>
          </a:prstGeom>
          <a:noFill/>
          <a:ln/>
        </p:spPr>
        <p:txBody>
          <a:bodyPr wrap="none" lIns="0" tIns="0" rIns="0" bIns="0" rtlCol="0" anchor="ctr"/>
          <a:lstStyle/>
          <a:p>
            <a:pPr algn="ctr" indent="0" marL="0">
              <a:buNone/>
            </a:pPr>
            <a:r>
              <a:rPr lang="en-US" sz="680" b="1" dirty="0">
                <a:solidFill>
                  <a:srgbClr val="1F7A4D"/>
                </a:solidFill>
                <a:latin typeface="Segoe UI" pitchFamily="34" charset="0"/>
                <a:ea typeface="Segoe UI" pitchFamily="34" charset="-122"/>
                <a:cs typeface="Segoe UI" pitchFamily="34" charset="-120"/>
              </a:rPr>
              <a:t>Amazon RDS</a:t>
            </a:r>
            <a:endParaRPr lang="en-US" sz="680" dirty="0"/>
          </a:p>
        </p:txBody>
      </p:sp>
      <p:sp>
        <p:nvSpPr>
          <p:cNvPr id="89" name="Shape 87"/>
          <p:cNvSpPr/>
          <p:nvPr/>
        </p:nvSpPr>
        <p:spPr>
          <a:xfrm>
            <a:off x="2905963" y="5029200"/>
            <a:ext cx="1250899" cy="237744"/>
          </a:xfrm>
          <a:prstGeom prst="roundRect">
            <a:avLst>
              <a:gd name="adj" fmla="val 7692"/>
            </a:avLst>
          </a:prstGeom>
          <a:solidFill>
            <a:srgbClr val="F0F8F4"/>
          </a:solidFill>
          <a:ln w="9525">
            <a:solidFill>
              <a:srgbClr val="A9D6BC"/>
            </a:solidFill>
            <a:prstDash val="solid"/>
          </a:ln>
        </p:spPr>
      </p:sp>
      <p:sp>
        <p:nvSpPr>
          <p:cNvPr id="90" name="Text 88"/>
          <p:cNvSpPr txBox="1"/>
          <p:nvPr/>
        </p:nvSpPr>
        <p:spPr>
          <a:xfrm>
            <a:off x="2933395" y="5029200"/>
            <a:ext cx="1196035" cy="237744"/>
          </a:xfrm>
          <a:prstGeom prst="rect">
            <a:avLst/>
          </a:prstGeom>
          <a:noFill/>
          <a:ln/>
        </p:spPr>
        <p:txBody>
          <a:bodyPr wrap="none" lIns="0" tIns="0" rIns="0" bIns="0" rtlCol="0" anchor="ctr"/>
          <a:lstStyle/>
          <a:p>
            <a:pPr algn="ctr" indent="0" marL="0">
              <a:buNone/>
            </a:pPr>
            <a:r>
              <a:rPr lang="en-US" sz="680" b="1" dirty="0">
                <a:solidFill>
                  <a:srgbClr val="1F7A4D"/>
                </a:solidFill>
                <a:latin typeface="Segoe UI" pitchFamily="34" charset="0"/>
                <a:ea typeface="Segoe UI" pitchFamily="34" charset="-122"/>
                <a:cs typeface="Segoe UI" pitchFamily="34" charset="-120"/>
              </a:rPr>
              <a:t>Amazon Bedrock</a:t>
            </a:r>
            <a:endParaRPr lang="en-US" sz="680" dirty="0"/>
          </a:p>
        </p:txBody>
      </p:sp>
      <p:sp>
        <p:nvSpPr>
          <p:cNvPr id="91" name="Shape 89"/>
          <p:cNvSpPr/>
          <p:nvPr/>
        </p:nvSpPr>
        <p:spPr>
          <a:xfrm>
            <a:off x="4220870" y="5029200"/>
            <a:ext cx="1250899" cy="237744"/>
          </a:xfrm>
          <a:prstGeom prst="roundRect">
            <a:avLst>
              <a:gd name="adj" fmla="val 7692"/>
            </a:avLst>
          </a:prstGeom>
          <a:solidFill>
            <a:srgbClr val="F0F8F4"/>
          </a:solidFill>
          <a:ln w="9525">
            <a:solidFill>
              <a:srgbClr val="A9D6BC"/>
            </a:solidFill>
            <a:prstDash val="solid"/>
          </a:ln>
        </p:spPr>
      </p:sp>
      <p:sp>
        <p:nvSpPr>
          <p:cNvPr id="92" name="Text 90"/>
          <p:cNvSpPr txBox="1"/>
          <p:nvPr/>
        </p:nvSpPr>
        <p:spPr>
          <a:xfrm>
            <a:off x="4248302" y="5029200"/>
            <a:ext cx="1196035" cy="237744"/>
          </a:xfrm>
          <a:prstGeom prst="rect">
            <a:avLst/>
          </a:prstGeom>
          <a:noFill/>
          <a:ln/>
        </p:spPr>
        <p:txBody>
          <a:bodyPr wrap="none" lIns="0" tIns="0" rIns="0" bIns="0" rtlCol="0" anchor="ctr"/>
          <a:lstStyle/>
          <a:p>
            <a:pPr algn="ctr" indent="0" marL="0">
              <a:buNone/>
            </a:pPr>
            <a:r>
              <a:rPr lang="en-US" sz="680" b="1" dirty="0">
                <a:solidFill>
                  <a:srgbClr val="1F7A4D"/>
                </a:solidFill>
                <a:latin typeface="Segoe UI" pitchFamily="34" charset="0"/>
                <a:ea typeface="Segoe UI" pitchFamily="34" charset="-122"/>
                <a:cs typeface="Segoe UI" pitchFamily="34" charset="-120"/>
              </a:rPr>
              <a:t>Amazon Cognito</a:t>
            </a:r>
            <a:endParaRPr lang="en-US" sz="680" dirty="0"/>
          </a:p>
        </p:txBody>
      </p:sp>
      <p:sp>
        <p:nvSpPr>
          <p:cNvPr id="93" name="Shape 91"/>
          <p:cNvSpPr/>
          <p:nvPr/>
        </p:nvSpPr>
        <p:spPr>
          <a:xfrm>
            <a:off x="5535778" y="5029200"/>
            <a:ext cx="1250899" cy="237744"/>
          </a:xfrm>
          <a:prstGeom prst="roundRect">
            <a:avLst>
              <a:gd name="adj" fmla="val 7692"/>
            </a:avLst>
          </a:prstGeom>
          <a:solidFill>
            <a:srgbClr val="F0F8F4"/>
          </a:solidFill>
          <a:ln w="9525">
            <a:solidFill>
              <a:srgbClr val="A9D6BC"/>
            </a:solidFill>
            <a:prstDash val="solid"/>
          </a:ln>
        </p:spPr>
      </p:sp>
      <p:sp>
        <p:nvSpPr>
          <p:cNvPr id="94" name="Text 92"/>
          <p:cNvSpPr txBox="1"/>
          <p:nvPr/>
        </p:nvSpPr>
        <p:spPr>
          <a:xfrm>
            <a:off x="5563210" y="5029200"/>
            <a:ext cx="1196035" cy="237744"/>
          </a:xfrm>
          <a:prstGeom prst="rect">
            <a:avLst/>
          </a:prstGeom>
          <a:noFill/>
          <a:ln/>
        </p:spPr>
        <p:txBody>
          <a:bodyPr wrap="none" lIns="0" tIns="0" rIns="0" bIns="0" rtlCol="0" anchor="ctr"/>
          <a:lstStyle/>
          <a:p>
            <a:pPr algn="ctr" indent="0" marL="0">
              <a:buNone/>
            </a:pPr>
            <a:r>
              <a:rPr lang="en-US" sz="680" b="1" dirty="0">
                <a:solidFill>
                  <a:srgbClr val="1F7A4D"/>
                </a:solidFill>
                <a:latin typeface="Segoe UI" pitchFamily="34" charset="0"/>
                <a:ea typeface="Segoe UI" pitchFamily="34" charset="-122"/>
                <a:cs typeface="Segoe UI" pitchFamily="34" charset="-120"/>
              </a:rPr>
              <a:t>CloudWatch</a:t>
            </a:r>
            <a:endParaRPr lang="en-US" sz="680" dirty="0"/>
          </a:p>
        </p:txBody>
      </p:sp>
      <p:sp>
        <p:nvSpPr>
          <p:cNvPr id="95" name="Shape 93"/>
          <p:cNvSpPr/>
          <p:nvPr/>
        </p:nvSpPr>
        <p:spPr>
          <a:xfrm>
            <a:off x="6850685" y="5029200"/>
            <a:ext cx="1250899" cy="237744"/>
          </a:xfrm>
          <a:prstGeom prst="roundRect">
            <a:avLst>
              <a:gd name="adj" fmla="val 7692"/>
            </a:avLst>
          </a:prstGeom>
          <a:solidFill>
            <a:srgbClr val="F0F8F4"/>
          </a:solidFill>
          <a:ln w="9525">
            <a:solidFill>
              <a:srgbClr val="A9D6BC"/>
            </a:solidFill>
            <a:prstDash val="solid"/>
          </a:ln>
        </p:spPr>
      </p:sp>
      <p:sp>
        <p:nvSpPr>
          <p:cNvPr id="96" name="Text 94"/>
          <p:cNvSpPr txBox="1"/>
          <p:nvPr/>
        </p:nvSpPr>
        <p:spPr>
          <a:xfrm>
            <a:off x="6878117" y="5029200"/>
            <a:ext cx="1196035" cy="237744"/>
          </a:xfrm>
          <a:prstGeom prst="rect">
            <a:avLst/>
          </a:prstGeom>
          <a:noFill/>
          <a:ln/>
        </p:spPr>
        <p:txBody>
          <a:bodyPr wrap="none" lIns="0" tIns="0" rIns="0" bIns="0" rtlCol="0" anchor="ctr"/>
          <a:lstStyle/>
          <a:p>
            <a:pPr algn="ctr" indent="0" marL="0">
              <a:buNone/>
            </a:pPr>
            <a:r>
              <a:rPr lang="en-US" sz="680" b="1" dirty="0">
                <a:solidFill>
                  <a:srgbClr val="1F7A4D"/>
                </a:solidFill>
                <a:latin typeface="Segoe UI" pitchFamily="34" charset="0"/>
                <a:ea typeface="Segoe UI" pitchFamily="34" charset="-122"/>
                <a:cs typeface="Segoe UI" pitchFamily="34" charset="-120"/>
              </a:rPr>
              <a:t>AWS X-Ray</a:t>
            </a:r>
            <a:endParaRPr lang="en-US" sz="680" dirty="0"/>
          </a:p>
        </p:txBody>
      </p:sp>
      <p:sp>
        <p:nvSpPr>
          <p:cNvPr id="97" name="Shape 95"/>
          <p:cNvSpPr/>
          <p:nvPr/>
        </p:nvSpPr>
        <p:spPr>
          <a:xfrm>
            <a:off x="566928" y="5303520"/>
            <a:ext cx="932688" cy="237744"/>
          </a:xfrm>
          <a:prstGeom prst="roundRect">
            <a:avLst>
              <a:gd name="adj" fmla="val 7692"/>
            </a:avLst>
          </a:prstGeom>
          <a:solidFill>
            <a:srgbClr val="0A5CB8"/>
          </a:solidFill>
          <a:ln/>
        </p:spPr>
      </p:sp>
      <p:sp>
        <p:nvSpPr>
          <p:cNvPr id="98" name="Text 96"/>
          <p:cNvSpPr txBox="1"/>
          <p:nvPr/>
        </p:nvSpPr>
        <p:spPr>
          <a:xfrm>
            <a:off x="566928" y="5303520"/>
            <a:ext cx="932688" cy="237744"/>
          </a:xfrm>
          <a:prstGeom prst="rect">
            <a:avLst/>
          </a:prstGeom>
          <a:noFill/>
          <a:ln/>
        </p:spPr>
        <p:txBody>
          <a:bodyPr wrap="square" lIns="0" tIns="0" rIns="0" bIns="0" rtlCol="0" anchor="ctr"/>
          <a:lstStyle/>
          <a:p>
            <a:pPr algn="ctr" indent="0" marL="0">
              <a:buNone/>
            </a:pPr>
            <a:r>
              <a:rPr lang="en-US" sz="680" b="1" dirty="0">
                <a:solidFill>
                  <a:srgbClr val="FFFFFF"/>
                </a:solidFill>
                <a:latin typeface="Segoe UI" pitchFamily="34" charset="0"/>
                <a:ea typeface="Segoe UI" pitchFamily="34" charset="-122"/>
                <a:cs typeface="Segoe UI" pitchFamily="34" charset="-120"/>
              </a:rPr>
              <a:t>READY</a:t>
            </a:r>
            <a:endParaRPr lang="en-US" sz="680" dirty="0"/>
          </a:p>
        </p:txBody>
      </p:sp>
      <p:sp>
        <p:nvSpPr>
          <p:cNvPr id="99" name="Shape 97"/>
          <p:cNvSpPr/>
          <p:nvPr/>
        </p:nvSpPr>
        <p:spPr>
          <a:xfrm>
            <a:off x="1591056" y="5303520"/>
            <a:ext cx="875211" cy="237744"/>
          </a:xfrm>
          <a:prstGeom prst="roundRect">
            <a:avLst>
              <a:gd name="adj" fmla="val 7692"/>
            </a:avLst>
          </a:prstGeom>
          <a:solidFill>
            <a:srgbClr val="EDF3FB"/>
          </a:solidFill>
          <a:ln w="9525">
            <a:solidFill>
              <a:srgbClr val="C3D6EE"/>
            </a:solidFill>
            <a:prstDash val="solid"/>
          </a:ln>
        </p:spPr>
      </p:sp>
      <p:sp>
        <p:nvSpPr>
          <p:cNvPr id="100" name="Text 98"/>
          <p:cNvSpPr txBox="1"/>
          <p:nvPr/>
        </p:nvSpPr>
        <p:spPr>
          <a:xfrm>
            <a:off x="1618488" y="5303520"/>
            <a:ext cx="820347" cy="237744"/>
          </a:xfrm>
          <a:prstGeom prst="rect">
            <a:avLst/>
          </a:prstGeom>
          <a:noFill/>
          <a:ln/>
        </p:spPr>
        <p:txBody>
          <a:bodyPr wrap="none" lIns="0" tIns="0" rIns="0" bIns="0" rtlCol="0" anchor="ctr"/>
          <a:lstStyle/>
          <a:p>
            <a:pPr algn="ctr" indent="0" marL="0">
              <a:buNone/>
            </a:pPr>
            <a:r>
              <a:rPr lang="en-US" sz="680" b="1" dirty="0">
                <a:solidFill>
                  <a:srgbClr val="0A5CB8"/>
                </a:solidFill>
                <a:latin typeface="Segoe UI" pitchFamily="34" charset="0"/>
                <a:ea typeface="Segoe UI" pitchFamily="34" charset="-122"/>
                <a:cs typeface="Segoe UI" pitchFamily="34" charset="-120"/>
              </a:rPr>
              <a:t>Amazon S3</a:t>
            </a:r>
            <a:endParaRPr lang="en-US" sz="680" dirty="0"/>
          </a:p>
        </p:txBody>
      </p:sp>
      <p:sp>
        <p:nvSpPr>
          <p:cNvPr id="101" name="Shape 99"/>
          <p:cNvSpPr/>
          <p:nvPr/>
        </p:nvSpPr>
        <p:spPr>
          <a:xfrm>
            <a:off x="2530275" y="5303520"/>
            <a:ext cx="875211" cy="237744"/>
          </a:xfrm>
          <a:prstGeom prst="roundRect">
            <a:avLst>
              <a:gd name="adj" fmla="val 7692"/>
            </a:avLst>
          </a:prstGeom>
          <a:solidFill>
            <a:srgbClr val="EDF3FB"/>
          </a:solidFill>
          <a:ln w="9525">
            <a:solidFill>
              <a:srgbClr val="C3D6EE"/>
            </a:solidFill>
            <a:prstDash val="solid"/>
          </a:ln>
        </p:spPr>
      </p:sp>
      <p:sp>
        <p:nvSpPr>
          <p:cNvPr id="102" name="Text 100"/>
          <p:cNvSpPr txBox="1"/>
          <p:nvPr/>
        </p:nvSpPr>
        <p:spPr>
          <a:xfrm>
            <a:off x="2557707" y="5303520"/>
            <a:ext cx="820347" cy="237744"/>
          </a:xfrm>
          <a:prstGeom prst="rect">
            <a:avLst/>
          </a:prstGeom>
          <a:noFill/>
          <a:ln/>
        </p:spPr>
        <p:txBody>
          <a:bodyPr wrap="none" lIns="0" tIns="0" rIns="0" bIns="0" rtlCol="0" anchor="ctr"/>
          <a:lstStyle/>
          <a:p>
            <a:pPr algn="ctr" indent="0" marL="0">
              <a:buNone/>
            </a:pPr>
            <a:r>
              <a:rPr lang="en-US" sz="680" b="1" dirty="0">
                <a:solidFill>
                  <a:srgbClr val="0A5CB8"/>
                </a:solidFill>
                <a:latin typeface="Segoe UI" pitchFamily="34" charset="0"/>
                <a:ea typeface="Segoe UI" pitchFamily="34" charset="-122"/>
                <a:cs typeface="Segoe UI" pitchFamily="34" charset="-120"/>
              </a:rPr>
              <a:t>DynamoDB</a:t>
            </a:r>
            <a:endParaRPr lang="en-US" sz="680" dirty="0"/>
          </a:p>
        </p:txBody>
      </p:sp>
      <p:sp>
        <p:nvSpPr>
          <p:cNvPr id="103" name="Shape 101"/>
          <p:cNvSpPr/>
          <p:nvPr/>
        </p:nvSpPr>
        <p:spPr>
          <a:xfrm>
            <a:off x="3469495" y="5303520"/>
            <a:ext cx="875211" cy="237744"/>
          </a:xfrm>
          <a:prstGeom prst="roundRect">
            <a:avLst>
              <a:gd name="adj" fmla="val 7692"/>
            </a:avLst>
          </a:prstGeom>
          <a:solidFill>
            <a:srgbClr val="EDF3FB"/>
          </a:solidFill>
          <a:ln w="9525">
            <a:solidFill>
              <a:srgbClr val="C3D6EE"/>
            </a:solidFill>
            <a:prstDash val="solid"/>
          </a:ln>
        </p:spPr>
      </p:sp>
      <p:sp>
        <p:nvSpPr>
          <p:cNvPr id="104" name="Text 102"/>
          <p:cNvSpPr txBox="1"/>
          <p:nvPr/>
        </p:nvSpPr>
        <p:spPr>
          <a:xfrm>
            <a:off x="3496927" y="5303520"/>
            <a:ext cx="820347" cy="237744"/>
          </a:xfrm>
          <a:prstGeom prst="rect">
            <a:avLst/>
          </a:prstGeom>
          <a:noFill/>
          <a:ln/>
        </p:spPr>
        <p:txBody>
          <a:bodyPr wrap="none" lIns="0" tIns="0" rIns="0" bIns="0" rtlCol="0" anchor="ctr"/>
          <a:lstStyle/>
          <a:p>
            <a:pPr algn="ctr" indent="0" marL="0">
              <a:buNone/>
            </a:pPr>
            <a:r>
              <a:rPr lang="en-US" sz="680" b="1" dirty="0">
                <a:solidFill>
                  <a:srgbClr val="0A5CB8"/>
                </a:solidFill>
                <a:latin typeface="Segoe UI" pitchFamily="34" charset="0"/>
                <a:ea typeface="Segoe UI" pitchFamily="34" charset="-122"/>
                <a:cs typeface="Segoe UI" pitchFamily="34" charset="-120"/>
              </a:rPr>
              <a:t>SageMaker</a:t>
            </a:r>
            <a:endParaRPr lang="en-US" sz="680" dirty="0"/>
          </a:p>
        </p:txBody>
      </p:sp>
      <p:sp>
        <p:nvSpPr>
          <p:cNvPr id="105" name="Shape 103"/>
          <p:cNvSpPr/>
          <p:nvPr/>
        </p:nvSpPr>
        <p:spPr>
          <a:xfrm>
            <a:off x="4408714" y="5303520"/>
            <a:ext cx="875211" cy="237744"/>
          </a:xfrm>
          <a:prstGeom prst="roundRect">
            <a:avLst>
              <a:gd name="adj" fmla="val 7692"/>
            </a:avLst>
          </a:prstGeom>
          <a:solidFill>
            <a:srgbClr val="EDF3FB"/>
          </a:solidFill>
          <a:ln w="9525">
            <a:solidFill>
              <a:srgbClr val="C3D6EE"/>
            </a:solidFill>
            <a:prstDash val="solid"/>
          </a:ln>
        </p:spPr>
      </p:sp>
      <p:sp>
        <p:nvSpPr>
          <p:cNvPr id="106" name="Text 104"/>
          <p:cNvSpPr txBox="1"/>
          <p:nvPr/>
        </p:nvSpPr>
        <p:spPr>
          <a:xfrm>
            <a:off x="4436146" y="5303520"/>
            <a:ext cx="820347" cy="237744"/>
          </a:xfrm>
          <a:prstGeom prst="rect">
            <a:avLst/>
          </a:prstGeom>
          <a:noFill/>
          <a:ln/>
        </p:spPr>
        <p:txBody>
          <a:bodyPr wrap="none" lIns="0" tIns="0" rIns="0" bIns="0" rtlCol="0" anchor="ctr"/>
          <a:lstStyle/>
          <a:p>
            <a:pPr algn="ctr" indent="0" marL="0">
              <a:buNone/>
            </a:pPr>
            <a:r>
              <a:rPr lang="en-US" sz="680" b="1" dirty="0">
                <a:solidFill>
                  <a:srgbClr val="0A5CB8"/>
                </a:solidFill>
                <a:latin typeface="Segoe UI" pitchFamily="34" charset="0"/>
                <a:ea typeface="Segoe UI" pitchFamily="34" charset="-122"/>
                <a:cs typeface="Segoe UI" pitchFamily="34" charset="-120"/>
              </a:rPr>
              <a:t>Amazon SNS</a:t>
            </a:r>
            <a:endParaRPr lang="en-US" sz="680" dirty="0"/>
          </a:p>
        </p:txBody>
      </p:sp>
      <p:sp>
        <p:nvSpPr>
          <p:cNvPr id="107" name="Shape 105"/>
          <p:cNvSpPr/>
          <p:nvPr/>
        </p:nvSpPr>
        <p:spPr>
          <a:xfrm>
            <a:off x="5347934" y="5303520"/>
            <a:ext cx="875211" cy="237744"/>
          </a:xfrm>
          <a:prstGeom prst="roundRect">
            <a:avLst>
              <a:gd name="adj" fmla="val 7692"/>
            </a:avLst>
          </a:prstGeom>
          <a:solidFill>
            <a:srgbClr val="EDF3FB"/>
          </a:solidFill>
          <a:ln w="9525">
            <a:solidFill>
              <a:srgbClr val="C3D6EE"/>
            </a:solidFill>
            <a:prstDash val="solid"/>
          </a:ln>
        </p:spPr>
      </p:sp>
      <p:sp>
        <p:nvSpPr>
          <p:cNvPr id="108" name="Text 106"/>
          <p:cNvSpPr txBox="1"/>
          <p:nvPr/>
        </p:nvSpPr>
        <p:spPr>
          <a:xfrm>
            <a:off x="5375366" y="5303520"/>
            <a:ext cx="820347" cy="237744"/>
          </a:xfrm>
          <a:prstGeom prst="rect">
            <a:avLst/>
          </a:prstGeom>
          <a:noFill/>
          <a:ln/>
        </p:spPr>
        <p:txBody>
          <a:bodyPr wrap="none" lIns="0" tIns="0" rIns="0" bIns="0" rtlCol="0" anchor="ctr"/>
          <a:lstStyle/>
          <a:p>
            <a:pPr algn="ctr" indent="0" marL="0">
              <a:buNone/>
            </a:pPr>
            <a:r>
              <a:rPr lang="en-US" sz="680" b="1" dirty="0">
                <a:solidFill>
                  <a:srgbClr val="0A5CB8"/>
                </a:solidFill>
                <a:latin typeface="Segoe UI" pitchFamily="34" charset="0"/>
                <a:ea typeface="Segoe UI" pitchFamily="34" charset="-122"/>
                <a:cs typeface="Segoe UI" pitchFamily="34" charset="-120"/>
              </a:rPr>
              <a:t>AWS KMS</a:t>
            </a:r>
            <a:endParaRPr lang="en-US" sz="680" dirty="0"/>
          </a:p>
        </p:txBody>
      </p:sp>
      <p:sp>
        <p:nvSpPr>
          <p:cNvPr id="109" name="Shape 107"/>
          <p:cNvSpPr/>
          <p:nvPr/>
        </p:nvSpPr>
        <p:spPr>
          <a:xfrm>
            <a:off x="6287153" y="5303520"/>
            <a:ext cx="875211" cy="237744"/>
          </a:xfrm>
          <a:prstGeom prst="roundRect">
            <a:avLst>
              <a:gd name="adj" fmla="val 7692"/>
            </a:avLst>
          </a:prstGeom>
          <a:solidFill>
            <a:srgbClr val="EDF3FB"/>
          </a:solidFill>
          <a:ln w="9525">
            <a:solidFill>
              <a:srgbClr val="C3D6EE"/>
            </a:solidFill>
            <a:prstDash val="solid"/>
          </a:ln>
        </p:spPr>
      </p:sp>
      <p:sp>
        <p:nvSpPr>
          <p:cNvPr id="110" name="Text 108"/>
          <p:cNvSpPr txBox="1"/>
          <p:nvPr/>
        </p:nvSpPr>
        <p:spPr>
          <a:xfrm>
            <a:off x="6314585" y="5303520"/>
            <a:ext cx="820347" cy="237744"/>
          </a:xfrm>
          <a:prstGeom prst="rect">
            <a:avLst/>
          </a:prstGeom>
          <a:noFill/>
          <a:ln/>
        </p:spPr>
        <p:txBody>
          <a:bodyPr wrap="none" lIns="0" tIns="0" rIns="0" bIns="0" rtlCol="0" anchor="ctr"/>
          <a:lstStyle/>
          <a:p>
            <a:pPr algn="ctr" indent="0" marL="0">
              <a:buNone/>
            </a:pPr>
            <a:r>
              <a:rPr lang="en-US" sz="680" b="1" dirty="0">
                <a:solidFill>
                  <a:srgbClr val="0A5CB8"/>
                </a:solidFill>
                <a:latin typeface="Segoe UI" pitchFamily="34" charset="0"/>
                <a:ea typeface="Segoe UI" pitchFamily="34" charset="-122"/>
                <a:cs typeface="Segoe UI" pitchFamily="34" charset="-120"/>
              </a:rPr>
              <a:t>Secrets Mgr</a:t>
            </a:r>
            <a:endParaRPr lang="en-US" sz="680" dirty="0"/>
          </a:p>
        </p:txBody>
      </p:sp>
      <p:sp>
        <p:nvSpPr>
          <p:cNvPr id="111" name="Shape 109"/>
          <p:cNvSpPr/>
          <p:nvPr/>
        </p:nvSpPr>
        <p:spPr>
          <a:xfrm>
            <a:off x="7226373" y="5303520"/>
            <a:ext cx="875211" cy="237744"/>
          </a:xfrm>
          <a:prstGeom prst="roundRect">
            <a:avLst>
              <a:gd name="adj" fmla="val 7692"/>
            </a:avLst>
          </a:prstGeom>
          <a:solidFill>
            <a:srgbClr val="EDF3FB"/>
          </a:solidFill>
          <a:ln w="9525">
            <a:solidFill>
              <a:srgbClr val="C3D6EE"/>
            </a:solidFill>
            <a:prstDash val="solid"/>
          </a:ln>
        </p:spPr>
      </p:sp>
      <p:sp>
        <p:nvSpPr>
          <p:cNvPr id="112" name="Text 110"/>
          <p:cNvSpPr txBox="1"/>
          <p:nvPr/>
        </p:nvSpPr>
        <p:spPr>
          <a:xfrm>
            <a:off x="7253805" y="5303520"/>
            <a:ext cx="820347" cy="237744"/>
          </a:xfrm>
          <a:prstGeom prst="rect">
            <a:avLst/>
          </a:prstGeom>
          <a:noFill/>
          <a:ln/>
        </p:spPr>
        <p:txBody>
          <a:bodyPr wrap="none" lIns="0" tIns="0" rIns="0" bIns="0" rtlCol="0" anchor="ctr"/>
          <a:lstStyle/>
          <a:p>
            <a:pPr algn="ctr" indent="0" marL="0">
              <a:buNone/>
            </a:pPr>
            <a:r>
              <a:rPr lang="en-US" sz="680" b="1" dirty="0">
                <a:solidFill>
                  <a:srgbClr val="0A5CB8"/>
                </a:solidFill>
                <a:latin typeface="Segoe UI" pitchFamily="34" charset="0"/>
                <a:ea typeface="Segoe UI" pitchFamily="34" charset="-122"/>
                <a:cs typeface="Segoe UI" pitchFamily="34" charset="-120"/>
              </a:rPr>
              <a:t>EventBridge</a:t>
            </a:r>
            <a:endParaRPr lang="en-US" sz="680" dirty="0"/>
          </a:p>
        </p:txBody>
      </p:sp>
      <p:sp>
        <p:nvSpPr>
          <p:cNvPr id="113" name="Shape 111"/>
          <p:cNvSpPr/>
          <p:nvPr/>
        </p:nvSpPr>
        <p:spPr>
          <a:xfrm>
            <a:off x="566928" y="5577840"/>
            <a:ext cx="932688" cy="237744"/>
          </a:xfrm>
          <a:prstGeom prst="roundRect">
            <a:avLst>
              <a:gd name="adj" fmla="val 7692"/>
            </a:avLst>
          </a:prstGeom>
          <a:solidFill>
            <a:srgbClr val="B4690E"/>
          </a:solidFill>
          <a:ln/>
        </p:spPr>
      </p:sp>
      <p:sp>
        <p:nvSpPr>
          <p:cNvPr id="114" name="Text 112"/>
          <p:cNvSpPr txBox="1"/>
          <p:nvPr/>
        </p:nvSpPr>
        <p:spPr>
          <a:xfrm>
            <a:off x="566928" y="5577840"/>
            <a:ext cx="932688" cy="237744"/>
          </a:xfrm>
          <a:prstGeom prst="rect">
            <a:avLst/>
          </a:prstGeom>
          <a:noFill/>
          <a:ln/>
        </p:spPr>
        <p:txBody>
          <a:bodyPr wrap="square" lIns="0" tIns="0" rIns="0" bIns="0" rtlCol="0" anchor="ctr"/>
          <a:lstStyle/>
          <a:p>
            <a:pPr algn="ctr" indent="0" marL="0">
              <a:buNone/>
            </a:pPr>
            <a:r>
              <a:rPr lang="en-US" sz="680" b="1" dirty="0">
                <a:solidFill>
                  <a:srgbClr val="FFFFFF"/>
                </a:solidFill>
                <a:latin typeface="Segoe UI" pitchFamily="34" charset="0"/>
                <a:ea typeface="Segoe UI" pitchFamily="34" charset="-122"/>
                <a:cs typeface="Segoe UI" pitchFamily="34" charset="-120"/>
              </a:rPr>
              <a:t>PLANNED</a:t>
            </a:r>
            <a:endParaRPr lang="en-US" sz="680" dirty="0"/>
          </a:p>
        </p:txBody>
      </p:sp>
      <p:sp>
        <p:nvSpPr>
          <p:cNvPr id="115" name="Shape 113"/>
          <p:cNvSpPr/>
          <p:nvPr/>
        </p:nvSpPr>
        <p:spPr>
          <a:xfrm>
            <a:off x="1591056" y="5577840"/>
            <a:ext cx="1280160" cy="237744"/>
          </a:xfrm>
          <a:prstGeom prst="roundRect">
            <a:avLst>
              <a:gd name="adj" fmla="val 7692"/>
            </a:avLst>
          </a:prstGeom>
          <a:solidFill>
            <a:srgbClr val="FDF6EC"/>
          </a:solidFill>
          <a:ln w="9525">
            <a:solidFill>
              <a:srgbClr val="E8CFA8"/>
            </a:solidFill>
            <a:prstDash val="dash"/>
          </a:ln>
        </p:spPr>
      </p:sp>
      <p:sp>
        <p:nvSpPr>
          <p:cNvPr id="116" name="Text 114"/>
          <p:cNvSpPr txBox="1"/>
          <p:nvPr/>
        </p:nvSpPr>
        <p:spPr>
          <a:xfrm>
            <a:off x="1618488" y="5577840"/>
            <a:ext cx="1225296" cy="237744"/>
          </a:xfrm>
          <a:prstGeom prst="rect">
            <a:avLst/>
          </a:prstGeom>
          <a:noFill/>
          <a:ln/>
        </p:spPr>
        <p:txBody>
          <a:bodyPr wrap="none" lIns="0" tIns="0" rIns="0" bIns="0" rtlCol="0" anchor="ctr"/>
          <a:lstStyle/>
          <a:p>
            <a:pPr algn="ctr" indent="0" marL="0">
              <a:buNone/>
            </a:pPr>
            <a:r>
              <a:rPr lang="en-US" sz="680" b="1" dirty="0">
                <a:solidFill>
                  <a:srgbClr val="B4690E"/>
                </a:solidFill>
                <a:latin typeface="Segoe UI" pitchFamily="34" charset="0"/>
                <a:ea typeface="Segoe UI" pitchFamily="34" charset="-122"/>
                <a:cs typeface="Segoe UI" pitchFamily="34" charset="-120"/>
              </a:rPr>
              <a:t>ElastiCache / Redis</a:t>
            </a:r>
            <a:endParaRPr lang="en-US" sz="680" dirty="0"/>
          </a:p>
        </p:txBody>
      </p:sp>
      <p:sp>
        <p:nvSpPr>
          <p:cNvPr id="117" name="Shape 115"/>
          <p:cNvSpPr/>
          <p:nvPr/>
        </p:nvSpPr>
        <p:spPr>
          <a:xfrm>
            <a:off x="2935224" y="5577840"/>
            <a:ext cx="1280160" cy="237744"/>
          </a:xfrm>
          <a:prstGeom prst="roundRect">
            <a:avLst>
              <a:gd name="adj" fmla="val 7692"/>
            </a:avLst>
          </a:prstGeom>
          <a:solidFill>
            <a:srgbClr val="FDF6EC"/>
          </a:solidFill>
          <a:ln w="9525">
            <a:solidFill>
              <a:srgbClr val="E8CFA8"/>
            </a:solidFill>
            <a:prstDash val="dash"/>
          </a:ln>
        </p:spPr>
      </p:sp>
      <p:sp>
        <p:nvSpPr>
          <p:cNvPr id="118" name="Text 116"/>
          <p:cNvSpPr txBox="1"/>
          <p:nvPr/>
        </p:nvSpPr>
        <p:spPr>
          <a:xfrm>
            <a:off x="2962656" y="5577840"/>
            <a:ext cx="1225296" cy="237744"/>
          </a:xfrm>
          <a:prstGeom prst="rect">
            <a:avLst/>
          </a:prstGeom>
          <a:noFill/>
          <a:ln/>
        </p:spPr>
        <p:txBody>
          <a:bodyPr wrap="none" lIns="0" tIns="0" rIns="0" bIns="0" rtlCol="0" anchor="ctr"/>
          <a:lstStyle/>
          <a:p>
            <a:pPr algn="ctr" indent="0" marL="0">
              <a:buNone/>
            </a:pPr>
            <a:r>
              <a:rPr lang="en-US" sz="680" b="1" dirty="0">
                <a:solidFill>
                  <a:srgbClr val="B4690E"/>
                </a:solidFill>
                <a:latin typeface="Segoe UI" pitchFamily="34" charset="0"/>
                <a:ea typeface="Segoe UI" pitchFamily="34" charset="-122"/>
                <a:cs typeface="Segoe UI" pitchFamily="34" charset="-120"/>
              </a:rPr>
              <a:t>OpenSearch</a:t>
            </a:r>
            <a:endParaRPr lang="en-US" sz="680" dirty="0"/>
          </a:p>
        </p:txBody>
      </p:sp>
      <p:sp>
        <p:nvSpPr>
          <p:cNvPr id="119" name="Shape 117"/>
          <p:cNvSpPr/>
          <p:nvPr/>
        </p:nvSpPr>
        <p:spPr>
          <a:xfrm>
            <a:off x="8412480" y="4700016"/>
            <a:ext cx="3383280" cy="1207008"/>
          </a:xfrm>
          <a:prstGeom prst="roundRect">
            <a:avLst>
              <a:gd name="adj" fmla="val 3030"/>
            </a:avLst>
          </a:prstGeom>
          <a:solidFill>
            <a:srgbClr val="FFFBF3"/>
          </a:solidFill>
          <a:ln w="12700">
            <a:solidFill>
              <a:srgbClr val="B4690E"/>
            </a:solidFill>
            <a:prstDash val="dash"/>
          </a:ln>
        </p:spPr>
      </p:sp>
      <p:sp>
        <p:nvSpPr>
          <p:cNvPr id="120" name="Text 118"/>
          <p:cNvSpPr txBox="1"/>
          <p:nvPr/>
        </p:nvSpPr>
        <p:spPr>
          <a:xfrm>
            <a:off x="8613648" y="4754880"/>
            <a:ext cx="3017520" cy="219456"/>
          </a:xfrm>
          <a:prstGeom prst="rect">
            <a:avLst/>
          </a:prstGeom>
          <a:noFill/>
          <a:ln/>
        </p:spPr>
        <p:txBody>
          <a:bodyPr wrap="square" lIns="0" tIns="0" rIns="0" bIns="0" rtlCol="0" anchor="ctr"/>
          <a:lstStyle/>
          <a:p>
            <a:pPr algn="l" indent="0" marL="0">
              <a:buNone/>
            </a:pPr>
            <a:r>
              <a:rPr lang="en-US" sz="950" b="1" dirty="0">
                <a:solidFill>
                  <a:srgbClr val="B4690E"/>
                </a:solidFill>
                <a:latin typeface="Segoe UI" pitchFamily="34" charset="0"/>
                <a:ea typeface="Segoe UI" pitchFamily="34" charset="-122"/>
                <a:cs typeface="Segoe UI" pitchFamily="34" charset="-120"/>
              </a:rPr>
              <a:t>STILL TO CONFIRM</a:t>
            </a:r>
            <a:endParaRPr lang="en-US" sz="950" dirty="0"/>
          </a:p>
        </p:txBody>
      </p:sp>
      <p:sp>
        <p:nvSpPr>
          <p:cNvPr id="121" name="Text 119"/>
          <p:cNvSpPr txBox="1"/>
          <p:nvPr/>
        </p:nvSpPr>
        <p:spPr>
          <a:xfrm>
            <a:off x="8613648" y="5047488"/>
            <a:ext cx="3017520" cy="192024"/>
          </a:xfrm>
          <a:prstGeom prst="rect">
            <a:avLst/>
          </a:prstGeom>
          <a:noFill/>
          <a:ln/>
        </p:spPr>
        <p:txBody>
          <a:bodyPr wrap="square" lIns="0" tIns="0" rIns="0" bIns="0" rtlCol="0" anchor="ctr"/>
          <a:lstStyle/>
          <a:p>
            <a:pPr indent="0" marL="0">
              <a:buNone/>
            </a:pPr>
            <a:r>
              <a:rPr lang="en-US" sz="700" b="1" dirty="0">
                <a:solidFill>
                  <a:srgbClr val="B4690E"/>
                </a:solidFill>
                <a:latin typeface="Segoe UI" pitchFamily="34" charset="0"/>
                <a:ea typeface="Segoe UI" pitchFamily="34" charset="-122"/>
                <a:cs typeface="Segoe UI" pitchFamily="34" charset="-120"/>
              </a:rPr>
              <a:t>▪  AWS account &amp; region</a:t>
            </a:r>
            <a:endParaRPr lang="en-US" sz="700" dirty="0"/>
          </a:p>
        </p:txBody>
      </p:sp>
      <p:sp>
        <p:nvSpPr>
          <p:cNvPr id="122" name="Text 120"/>
          <p:cNvSpPr txBox="1"/>
          <p:nvPr/>
        </p:nvSpPr>
        <p:spPr>
          <a:xfrm>
            <a:off x="8613648" y="5239512"/>
            <a:ext cx="3017520" cy="192024"/>
          </a:xfrm>
          <a:prstGeom prst="rect">
            <a:avLst/>
          </a:prstGeom>
          <a:noFill/>
          <a:ln/>
        </p:spPr>
        <p:txBody>
          <a:bodyPr wrap="square" lIns="0" tIns="0" rIns="0" bIns="0" rtlCol="0" anchor="ctr"/>
          <a:lstStyle/>
          <a:p>
            <a:pPr indent="0" marL="0">
              <a:buNone/>
            </a:pPr>
            <a:r>
              <a:rPr lang="en-US" sz="700" b="1" dirty="0">
                <a:solidFill>
                  <a:srgbClr val="B4690E"/>
                </a:solidFill>
                <a:latin typeface="Segoe UI" pitchFamily="34" charset="0"/>
                <a:ea typeface="Segoe UI" pitchFamily="34" charset="-122"/>
                <a:cs typeface="Segoe UI" pitchFamily="34" charset="-120"/>
              </a:rPr>
              <a:t>▪  Domain name and ACM certificate</a:t>
            </a:r>
            <a:endParaRPr lang="en-US" sz="700" dirty="0"/>
          </a:p>
        </p:txBody>
      </p:sp>
      <p:sp>
        <p:nvSpPr>
          <p:cNvPr id="123" name="Text 121"/>
          <p:cNvSpPr txBox="1"/>
          <p:nvPr/>
        </p:nvSpPr>
        <p:spPr>
          <a:xfrm>
            <a:off x="8613648" y="5431536"/>
            <a:ext cx="3017520" cy="192024"/>
          </a:xfrm>
          <a:prstGeom prst="rect">
            <a:avLst/>
          </a:prstGeom>
          <a:noFill/>
          <a:ln/>
        </p:spPr>
        <p:txBody>
          <a:bodyPr wrap="square" lIns="0" tIns="0" rIns="0" bIns="0" rtlCol="0" anchor="ctr"/>
          <a:lstStyle/>
          <a:p>
            <a:pPr indent="0" marL="0">
              <a:buNone/>
            </a:pPr>
            <a:r>
              <a:rPr lang="en-US" sz="700" b="1" dirty="0">
                <a:solidFill>
                  <a:srgbClr val="B4690E"/>
                </a:solidFill>
                <a:latin typeface="Segoe UI" pitchFamily="34" charset="0"/>
                <a:ea typeface="Segoe UI" pitchFamily="34" charset="-122"/>
                <a:cs typeface="Segoe UI" pitchFamily="34" charset="-120"/>
              </a:rPr>
              <a:t>▪  Task size (vCPU / memory) and desired count</a:t>
            </a:r>
            <a:endParaRPr lang="en-US" sz="700" dirty="0"/>
          </a:p>
        </p:txBody>
      </p:sp>
      <p:sp>
        <p:nvSpPr>
          <p:cNvPr id="124" name="Text 122"/>
          <p:cNvSpPr txBox="1"/>
          <p:nvPr/>
        </p:nvSpPr>
        <p:spPr>
          <a:xfrm>
            <a:off x="8613648" y="5623560"/>
            <a:ext cx="3017520" cy="192024"/>
          </a:xfrm>
          <a:prstGeom prst="rect">
            <a:avLst/>
          </a:prstGeom>
          <a:noFill/>
          <a:ln/>
        </p:spPr>
        <p:txBody>
          <a:bodyPr wrap="square" lIns="0" tIns="0" rIns="0" bIns="0" rtlCol="0" anchor="ctr"/>
          <a:lstStyle/>
          <a:p>
            <a:pPr indent="0" marL="0">
              <a:buNone/>
            </a:pPr>
            <a:r>
              <a:rPr lang="en-US" sz="700" b="1" dirty="0">
                <a:solidFill>
                  <a:srgbClr val="B4690E"/>
                </a:solidFill>
                <a:latin typeface="Segoe UI" pitchFamily="34" charset="0"/>
                <a:ea typeface="Segoe UI" pitchFamily="34" charset="-122"/>
                <a:cs typeface="Segoe UI" pitchFamily="34" charset="-120"/>
              </a:rPr>
              <a:t>▪  RDS instance class (ElastiCache when enabled)</a:t>
            </a:r>
            <a:endParaRPr lang="en-US" sz="700" dirty="0"/>
          </a:p>
        </p:txBody>
      </p:sp>
      <p:sp>
        <p:nvSpPr>
          <p:cNvPr id="125" name="Shape 123"/>
          <p:cNvSpPr/>
          <p:nvPr/>
        </p:nvSpPr>
        <p:spPr>
          <a:xfrm>
            <a:off x="411480" y="5980176"/>
            <a:ext cx="11384280" cy="457200"/>
          </a:xfrm>
          <a:prstGeom prst="roundRect">
            <a:avLst>
              <a:gd name="adj" fmla="val 8000"/>
            </a:avLst>
          </a:prstGeom>
          <a:solidFill>
            <a:srgbClr val="F0F8F4"/>
          </a:solidFill>
          <a:ln w="12700">
            <a:solidFill>
              <a:srgbClr val="A9D6BC"/>
            </a:solidFill>
            <a:prstDash val="solid"/>
          </a:ln>
        </p:spPr>
      </p:sp>
      <p:sp>
        <p:nvSpPr>
          <p:cNvPr id="126" name="Text 124"/>
          <p:cNvSpPr txBox="1"/>
          <p:nvPr/>
        </p:nvSpPr>
        <p:spPr>
          <a:xfrm>
            <a:off x="640080" y="5980176"/>
            <a:ext cx="1371600" cy="457200"/>
          </a:xfrm>
          <a:prstGeom prst="rect">
            <a:avLst/>
          </a:prstGeom>
          <a:noFill/>
          <a:ln/>
        </p:spPr>
        <p:txBody>
          <a:bodyPr wrap="square" lIns="0" tIns="0" rIns="0" bIns="0" rtlCol="0" anchor="ctr"/>
          <a:lstStyle/>
          <a:p>
            <a:pPr indent="0" marL="0">
              <a:buNone/>
            </a:pPr>
            <a:r>
              <a:rPr lang="en-US" sz="900" b="1" dirty="0">
                <a:solidFill>
                  <a:srgbClr val="1F7A4D"/>
                </a:solidFill>
                <a:latin typeface="Segoe UI" pitchFamily="34" charset="0"/>
                <a:ea typeface="Segoe UI" pitchFamily="34" charset="-122"/>
                <a:cs typeface="Segoe UI" pitchFamily="34" charset="-120"/>
              </a:rPr>
              <a:t>LIVE ENDPOINT</a:t>
            </a:r>
            <a:endParaRPr lang="en-US" sz="900" dirty="0"/>
          </a:p>
        </p:txBody>
      </p:sp>
      <p:sp>
        <p:nvSpPr>
          <p:cNvPr id="127" name="Shape 125"/>
          <p:cNvSpPr/>
          <p:nvPr/>
        </p:nvSpPr>
        <p:spPr>
          <a:xfrm>
            <a:off x="2011680" y="6044184"/>
            <a:ext cx="3749040" cy="329184"/>
          </a:xfrm>
          <a:prstGeom prst="roundRect">
            <a:avLst>
              <a:gd name="adj" fmla="val 8333"/>
            </a:avLst>
          </a:prstGeom>
          <a:solidFill>
            <a:srgbClr val="FFF4E0"/>
          </a:solidFill>
          <a:ln w="12700">
            <a:solidFill>
              <a:srgbClr val="B4690E"/>
            </a:solidFill>
            <a:prstDash val="dash"/>
          </a:ln>
        </p:spPr>
      </p:sp>
      <p:sp>
        <p:nvSpPr>
          <p:cNvPr id="128" name="Text 126"/>
          <p:cNvSpPr txBox="1"/>
          <p:nvPr/>
        </p:nvSpPr>
        <p:spPr>
          <a:xfrm>
            <a:off x="2103120" y="6044184"/>
            <a:ext cx="3566160" cy="329184"/>
          </a:xfrm>
          <a:prstGeom prst="rect">
            <a:avLst/>
          </a:prstGeom>
          <a:noFill/>
          <a:ln/>
        </p:spPr>
        <p:txBody>
          <a:bodyPr wrap="square" lIns="0" tIns="0" rIns="0" bIns="0" rtlCol="0" anchor="ctr"/>
          <a:lstStyle/>
          <a:p>
            <a:pPr indent="0" marL="0">
              <a:buNone/>
            </a:pPr>
            <a:r>
              <a:rPr lang="en-US" sz="900" b="1" dirty="0">
                <a:solidFill>
                  <a:srgbClr val="B4690E"/>
                </a:solidFill>
                <a:latin typeface="Consolas" pitchFamily="34" charset="0"/>
                <a:ea typeface="Consolas" pitchFamily="34" charset="-122"/>
                <a:cs typeface="Consolas" pitchFamily="34" charset="-120"/>
              </a:rPr>
              <a:t>https://[ ________________ ]</a:t>
            </a:r>
            <a:endParaRPr lang="en-US" sz="900" dirty="0"/>
          </a:p>
        </p:txBody>
      </p:sp>
      <p:sp>
        <p:nvSpPr>
          <p:cNvPr id="129" name="Text 127"/>
          <p:cNvSpPr txBox="1"/>
          <p:nvPr/>
        </p:nvSpPr>
        <p:spPr>
          <a:xfrm>
            <a:off x="5943600" y="5980176"/>
            <a:ext cx="5669280" cy="457200"/>
          </a:xfrm>
          <a:prstGeom prst="rect">
            <a:avLst/>
          </a:prstGeom>
          <a:noFill/>
          <a:ln/>
        </p:spPr>
        <p:txBody>
          <a:bodyPr wrap="square" lIns="0" tIns="0" rIns="0" bIns="0" rtlCol="0" anchor="ctr"/>
          <a:lstStyle/>
          <a:p>
            <a:pPr indent="0" marL="0">
              <a:buNone/>
            </a:pPr>
            <a:r>
              <a:rPr lang="en-US" sz="800" dirty="0">
                <a:solidFill>
                  <a:srgbClr val="354052"/>
                </a:solidFill>
                <a:latin typeface="Segoe UI" pitchFamily="34" charset="0"/>
                <a:ea typeface="Segoe UI" pitchFamily="34" charset="-122"/>
                <a:cs typeface="Segoe UI" pitchFamily="34" charset="-120"/>
              </a:rPr>
              <a:t>Serves the web UI, the REST API and the Swagger reference at /docs. One immutable image is promoted through the environments, so what is tested is exactly what runs.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B2E5C"/>
          </a:solidFill>
          <a:ln/>
        </p:spPr>
      </p:sp>
      <p:sp>
        <p:nvSpPr>
          <p:cNvPr id="3" name="Text 1"/>
          <p:cNvSpPr txBox="1"/>
          <p:nvPr/>
        </p:nvSpPr>
        <p:spPr>
          <a:xfrm>
            <a:off x="411480" y="128016"/>
            <a:ext cx="640080" cy="530352"/>
          </a:xfrm>
          <a:prstGeom prst="rect">
            <a:avLst/>
          </a:prstGeom>
          <a:noFill/>
          <a:ln/>
        </p:spPr>
        <p:txBody>
          <a:bodyPr wrap="square" lIns="0" tIns="0" rIns="0" bIns="0" rtlCol="0" anchor="ctr"/>
          <a:lstStyle/>
          <a:p>
            <a:pPr algn="l" indent="0" marL="0">
              <a:buNone/>
            </a:pPr>
            <a:r>
              <a:rPr lang="en-US" sz="2600" b="1" dirty="0">
                <a:solidFill>
                  <a:srgbClr val="3D6FA8"/>
                </a:solidFill>
                <a:latin typeface="Segoe UI" pitchFamily="34" charset="0"/>
                <a:ea typeface="Segoe UI" pitchFamily="34" charset="-122"/>
                <a:cs typeface="Segoe UI" pitchFamily="34" charset="-120"/>
              </a:rPr>
              <a:t>05</a:t>
            </a:r>
            <a:endParaRPr lang="en-US" sz="2600" dirty="0"/>
          </a:p>
        </p:txBody>
      </p:sp>
      <p:sp>
        <p:nvSpPr>
          <p:cNvPr id="4" name="Text 2"/>
          <p:cNvSpPr txBox="1"/>
          <p:nvPr/>
        </p:nvSpPr>
        <p:spPr>
          <a:xfrm>
            <a:off x="1051560" y="109728"/>
            <a:ext cx="8412480" cy="329184"/>
          </a:xfrm>
          <a:prstGeom prst="rect">
            <a:avLst/>
          </a:prstGeom>
          <a:noFill/>
          <a:ln/>
        </p:spPr>
        <p:txBody>
          <a:bodyPr wrap="square" lIns="0" tIns="0" rIns="0" bIns="0" rtlCol="0" anchor="ctr"/>
          <a:lstStyle/>
          <a:p>
            <a:pPr indent="0" marL="0">
              <a:buNone/>
            </a:pPr>
            <a:r>
              <a:rPr lang="en-US" sz="2100" b="1" dirty="0">
                <a:solidFill>
                  <a:srgbClr val="FFFFFF"/>
                </a:solidFill>
                <a:latin typeface="Segoe UI" pitchFamily="34" charset="0"/>
                <a:ea typeface="Segoe UI" pitchFamily="34" charset="-122"/>
                <a:cs typeface="Segoe UI" pitchFamily="34" charset="-120"/>
              </a:rPr>
              <a:t>Source Code Repository</a:t>
            </a:r>
            <a:endParaRPr lang="en-US" sz="2100" dirty="0"/>
          </a:p>
        </p:txBody>
      </p:sp>
      <p:sp>
        <p:nvSpPr>
          <p:cNvPr id="5" name="Text 3"/>
          <p:cNvSpPr txBox="1"/>
          <p:nvPr/>
        </p:nvSpPr>
        <p:spPr>
          <a:xfrm>
            <a:off x="1051560" y="429768"/>
            <a:ext cx="9601200" cy="256032"/>
          </a:xfrm>
          <a:prstGeom prst="rect">
            <a:avLst/>
          </a:prstGeom>
          <a:noFill/>
          <a:ln/>
        </p:spPr>
        <p:txBody>
          <a:bodyPr wrap="square" lIns="0" tIns="0" rIns="0" bIns="0" rtlCol="0" anchor="ctr"/>
          <a:lstStyle/>
          <a:p>
            <a:pPr indent="0" marL="0">
              <a:buNone/>
            </a:pPr>
            <a:r>
              <a:rPr lang="en-US" sz="1050" dirty="0">
                <a:solidFill>
                  <a:srgbClr val="A9C0DE"/>
                </a:solidFill>
                <a:latin typeface="Segoe UI" pitchFamily="34" charset="0"/>
                <a:ea typeface="Segoe UI" pitchFamily="34" charset="-122"/>
                <a:cs typeface="Segoe UI" pitchFamily="34" charset="-120"/>
              </a:rPr>
              <a:t>Where the code lives, how it is organised, and how to get access</a:t>
            </a:r>
            <a:endParaRPr lang="en-US" sz="1050" dirty="0"/>
          </a:p>
        </p:txBody>
      </p:sp>
      <p:sp>
        <p:nvSpPr>
          <p:cNvPr id="6" name="Text 4"/>
          <p:cNvSpPr txBox="1"/>
          <p:nvPr/>
        </p:nvSpPr>
        <p:spPr>
          <a:xfrm>
            <a:off x="9357055" y="256032"/>
            <a:ext cx="2423160" cy="274320"/>
          </a:xfrm>
          <a:prstGeom prst="rect">
            <a:avLst/>
          </a:prstGeom>
          <a:noFill/>
          <a:ln/>
        </p:spPr>
        <p:txBody>
          <a:bodyPr wrap="square" lIns="0" tIns="0" rIns="0" bIns="0" rtlCol="0" anchor="ctr"/>
          <a:lstStyle/>
          <a:p>
            <a:pPr algn="r" indent="0" marL="0">
              <a:buNone/>
            </a:pPr>
            <a:r>
              <a:rPr lang="en-US" sz="1000" dirty="0">
                <a:solidFill>
                  <a:srgbClr val="7FA3CC"/>
                </a:solidFill>
                <a:latin typeface="Segoe UI" pitchFamily="34" charset="0"/>
                <a:ea typeface="Segoe UI" pitchFamily="34" charset="-122"/>
                <a:cs typeface="Segoe UI" pitchFamily="34" charset="-120"/>
              </a:rPr>
              <a:t>GCash Sales Coach AI</a:t>
            </a:r>
            <a:endParaRPr lang="en-US" sz="1000" dirty="0"/>
          </a:p>
        </p:txBody>
      </p:sp>
      <p:sp>
        <p:nvSpPr>
          <p:cNvPr id="7" name="Text 5"/>
          <p:cNvSpPr txBox="1"/>
          <p:nvPr/>
        </p:nvSpPr>
        <p:spPr>
          <a:xfrm>
            <a:off x="11140135" y="6473952"/>
            <a:ext cx="640080" cy="237744"/>
          </a:xfrm>
          <a:prstGeom prst="rect">
            <a:avLst/>
          </a:prstGeom>
          <a:noFill/>
          <a:ln/>
        </p:spPr>
        <p:txBody>
          <a:bodyPr wrap="square" lIns="0" tIns="0" rIns="0" bIns="0" rtlCol="0" anchor="ctr"/>
          <a:lstStyle/>
          <a:p>
            <a:pPr algn="r" indent="0" marL="0">
              <a:buNone/>
            </a:pPr>
            <a:r>
              <a:rPr lang="en-US" sz="900" dirty="0">
                <a:solidFill>
                  <a:srgbClr val="8A94A6"/>
                </a:solidFill>
                <a:latin typeface="Segoe UI" pitchFamily="34" charset="0"/>
                <a:ea typeface="Segoe UI" pitchFamily="34" charset="-122"/>
                <a:cs typeface="Segoe UI" pitchFamily="34" charset="-120"/>
              </a:rPr>
              <a:t>5 / 6</a:t>
            </a:r>
            <a:endParaRPr lang="en-US" sz="900" dirty="0"/>
          </a:p>
        </p:txBody>
      </p:sp>
      <p:sp>
        <p:nvSpPr>
          <p:cNvPr id="8" name="Shape 6"/>
          <p:cNvSpPr/>
          <p:nvPr/>
        </p:nvSpPr>
        <p:spPr>
          <a:xfrm>
            <a:off x="411480" y="1024128"/>
            <a:ext cx="11384280" cy="1143000"/>
          </a:xfrm>
          <a:prstGeom prst="roundRect">
            <a:avLst>
              <a:gd name="adj" fmla="val 3200"/>
            </a:avLst>
          </a:prstGeom>
          <a:solidFill>
            <a:srgbClr val="FFFBF3"/>
          </a:solidFill>
          <a:ln w="12700">
            <a:solidFill>
              <a:srgbClr val="B4690E"/>
            </a:solidFill>
            <a:prstDash val="dash"/>
          </a:ln>
        </p:spPr>
      </p:sp>
      <p:sp>
        <p:nvSpPr>
          <p:cNvPr id="9" name="Text 7"/>
          <p:cNvSpPr txBox="1"/>
          <p:nvPr/>
        </p:nvSpPr>
        <p:spPr>
          <a:xfrm>
            <a:off x="640080" y="1133856"/>
            <a:ext cx="3657600" cy="219456"/>
          </a:xfrm>
          <a:prstGeom prst="rect">
            <a:avLst/>
          </a:prstGeom>
          <a:noFill/>
          <a:ln/>
        </p:spPr>
        <p:txBody>
          <a:bodyPr wrap="square" lIns="0" tIns="0" rIns="0" bIns="0" rtlCol="0" anchor="ctr"/>
          <a:lstStyle/>
          <a:p>
            <a:pPr algn="l" indent="0" marL="0">
              <a:buNone/>
            </a:pPr>
            <a:r>
              <a:rPr lang="en-US" sz="1000" b="1" dirty="0">
                <a:solidFill>
                  <a:srgbClr val="B4690E"/>
                </a:solidFill>
                <a:latin typeface="Segoe UI" pitchFamily="34" charset="0"/>
                <a:ea typeface="Segoe UI" pitchFamily="34" charset="-122"/>
                <a:cs typeface="Segoe UI" pitchFamily="34" charset="-120"/>
              </a:rPr>
              <a:t>REPOSITORY DETAILS</a:t>
            </a:r>
            <a:endParaRPr lang="en-US" sz="1000" dirty="0"/>
          </a:p>
        </p:txBody>
      </p:sp>
      <p:sp>
        <p:nvSpPr>
          <p:cNvPr id="10" name="Text 8"/>
          <p:cNvSpPr txBox="1"/>
          <p:nvPr/>
        </p:nvSpPr>
        <p:spPr>
          <a:xfrm>
            <a:off x="640080" y="1417320"/>
            <a:ext cx="1600200" cy="274320"/>
          </a:xfrm>
          <a:prstGeom prst="rect">
            <a:avLst/>
          </a:prstGeom>
          <a:noFill/>
          <a:ln/>
        </p:spPr>
        <p:txBody>
          <a:bodyPr wrap="square" lIns="0" tIns="0" rIns="0" bIns="0" rtlCol="0" anchor="ctr"/>
          <a:lstStyle/>
          <a:p>
            <a:pPr indent="0" marL="0">
              <a:buNone/>
            </a:pPr>
            <a:r>
              <a:rPr lang="en-US" sz="860" b="1" dirty="0">
                <a:solidFill>
                  <a:srgbClr val="0B2E5C"/>
                </a:solidFill>
                <a:latin typeface="Segoe UI" pitchFamily="34" charset="0"/>
                <a:ea typeface="Segoe UI" pitchFamily="34" charset="-122"/>
                <a:cs typeface="Segoe UI" pitchFamily="34" charset="-120"/>
              </a:rPr>
              <a:t>Repository URL</a:t>
            </a:r>
            <a:endParaRPr lang="en-US" sz="860" dirty="0"/>
          </a:p>
        </p:txBody>
      </p:sp>
      <p:sp>
        <p:nvSpPr>
          <p:cNvPr id="11" name="Shape 9"/>
          <p:cNvSpPr/>
          <p:nvPr/>
        </p:nvSpPr>
        <p:spPr>
          <a:xfrm>
            <a:off x="2286000" y="1417320"/>
            <a:ext cx="3794760" cy="274320"/>
          </a:xfrm>
          <a:prstGeom prst="roundRect">
            <a:avLst>
              <a:gd name="adj" fmla="val 10000"/>
            </a:avLst>
          </a:prstGeom>
          <a:solidFill>
            <a:srgbClr val="FFF4E0"/>
          </a:solidFill>
          <a:ln w="9525">
            <a:solidFill>
              <a:srgbClr val="B4690E"/>
            </a:solidFill>
            <a:prstDash val="dash"/>
          </a:ln>
        </p:spPr>
      </p:sp>
      <p:sp>
        <p:nvSpPr>
          <p:cNvPr id="12" name="Text 10"/>
          <p:cNvSpPr txBox="1"/>
          <p:nvPr/>
        </p:nvSpPr>
        <p:spPr>
          <a:xfrm>
            <a:off x="2377440" y="1417320"/>
            <a:ext cx="3611880" cy="274320"/>
          </a:xfrm>
          <a:prstGeom prst="rect">
            <a:avLst/>
          </a:prstGeom>
          <a:noFill/>
          <a:ln/>
        </p:spPr>
        <p:txBody>
          <a:bodyPr wrap="square" lIns="0" tIns="0" rIns="0" bIns="0" rtlCol="0" anchor="ctr"/>
          <a:lstStyle/>
          <a:p>
            <a:pPr indent="0" marL="0">
              <a:buNone/>
            </a:pPr>
            <a:r>
              <a:rPr lang="en-US" sz="800" b="1" dirty="0">
                <a:solidFill>
                  <a:srgbClr val="B4690E"/>
                </a:solidFill>
                <a:latin typeface="Segoe UI" pitchFamily="34" charset="0"/>
                <a:ea typeface="Segoe UI" pitchFamily="34" charset="-122"/>
                <a:cs typeface="Segoe UI" pitchFamily="34" charset="-120"/>
              </a:rPr>
              <a:t>[ https://github.com/____________/salescoach-ai ]</a:t>
            </a:r>
            <a:endParaRPr lang="en-US" sz="800" dirty="0"/>
          </a:p>
        </p:txBody>
      </p:sp>
      <p:sp>
        <p:nvSpPr>
          <p:cNvPr id="13" name="Text 11"/>
          <p:cNvSpPr txBox="1"/>
          <p:nvPr/>
        </p:nvSpPr>
        <p:spPr>
          <a:xfrm>
            <a:off x="6309360" y="1417320"/>
            <a:ext cx="1600200" cy="274320"/>
          </a:xfrm>
          <a:prstGeom prst="rect">
            <a:avLst/>
          </a:prstGeom>
          <a:noFill/>
          <a:ln/>
        </p:spPr>
        <p:txBody>
          <a:bodyPr wrap="square" lIns="0" tIns="0" rIns="0" bIns="0" rtlCol="0" anchor="ctr"/>
          <a:lstStyle/>
          <a:p>
            <a:pPr indent="0" marL="0">
              <a:buNone/>
            </a:pPr>
            <a:r>
              <a:rPr lang="en-US" sz="860" b="1" dirty="0">
                <a:solidFill>
                  <a:srgbClr val="0B2E5C"/>
                </a:solidFill>
                <a:latin typeface="Segoe UI" pitchFamily="34" charset="0"/>
                <a:ea typeface="Segoe UI" pitchFamily="34" charset="-122"/>
                <a:cs typeface="Segoe UI" pitchFamily="34" charset="-120"/>
              </a:rPr>
              <a:t>Visibility / access</a:t>
            </a:r>
            <a:endParaRPr lang="en-US" sz="860" dirty="0"/>
          </a:p>
        </p:txBody>
      </p:sp>
      <p:sp>
        <p:nvSpPr>
          <p:cNvPr id="14" name="Shape 12"/>
          <p:cNvSpPr/>
          <p:nvPr/>
        </p:nvSpPr>
        <p:spPr>
          <a:xfrm>
            <a:off x="7955280" y="1417320"/>
            <a:ext cx="3794760" cy="274320"/>
          </a:xfrm>
          <a:prstGeom prst="roundRect">
            <a:avLst>
              <a:gd name="adj" fmla="val 10000"/>
            </a:avLst>
          </a:prstGeom>
          <a:solidFill>
            <a:srgbClr val="FFF4E0"/>
          </a:solidFill>
          <a:ln w="9525">
            <a:solidFill>
              <a:srgbClr val="B4690E"/>
            </a:solidFill>
            <a:prstDash val="dash"/>
          </a:ln>
        </p:spPr>
      </p:sp>
      <p:sp>
        <p:nvSpPr>
          <p:cNvPr id="15" name="Text 13"/>
          <p:cNvSpPr txBox="1"/>
          <p:nvPr/>
        </p:nvSpPr>
        <p:spPr>
          <a:xfrm>
            <a:off x="8046720" y="1417320"/>
            <a:ext cx="3611880" cy="274320"/>
          </a:xfrm>
          <a:prstGeom prst="rect">
            <a:avLst/>
          </a:prstGeom>
          <a:noFill/>
          <a:ln/>
        </p:spPr>
        <p:txBody>
          <a:bodyPr wrap="square" lIns="0" tIns="0" rIns="0" bIns="0" rtlCol="0" anchor="ctr"/>
          <a:lstStyle/>
          <a:p>
            <a:pPr indent="0" marL="0">
              <a:buNone/>
            </a:pPr>
            <a:r>
              <a:rPr lang="en-US" sz="800" b="1" dirty="0">
                <a:solidFill>
                  <a:srgbClr val="B4690E"/>
                </a:solidFill>
                <a:latin typeface="Segoe UI" pitchFamily="34" charset="0"/>
                <a:ea typeface="Segoe UI" pitchFamily="34" charset="-122"/>
                <a:cs typeface="Segoe UI" pitchFamily="34" charset="-120"/>
              </a:rPr>
              <a:t>[ Private — access via ____________ ]</a:t>
            </a:r>
            <a:endParaRPr lang="en-US" sz="800" dirty="0"/>
          </a:p>
        </p:txBody>
      </p:sp>
      <p:sp>
        <p:nvSpPr>
          <p:cNvPr id="16" name="Text 14"/>
          <p:cNvSpPr txBox="1"/>
          <p:nvPr/>
        </p:nvSpPr>
        <p:spPr>
          <a:xfrm>
            <a:off x="640080" y="1746504"/>
            <a:ext cx="1600200" cy="274320"/>
          </a:xfrm>
          <a:prstGeom prst="rect">
            <a:avLst/>
          </a:prstGeom>
          <a:noFill/>
          <a:ln/>
        </p:spPr>
        <p:txBody>
          <a:bodyPr wrap="square" lIns="0" tIns="0" rIns="0" bIns="0" rtlCol="0" anchor="ctr"/>
          <a:lstStyle/>
          <a:p>
            <a:pPr indent="0" marL="0">
              <a:buNone/>
            </a:pPr>
            <a:r>
              <a:rPr lang="en-US" sz="860" b="1" dirty="0">
                <a:solidFill>
                  <a:srgbClr val="0B2E5C"/>
                </a:solidFill>
                <a:latin typeface="Segoe UI" pitchFamily="34" charset="0"/>
                <a:ea typeface="Segoe UI" pitchFamily="34" charset="-122"/>
                <a:cs typeface="Segoe UI" pitchFamily="34" charset="-120"/>
              </a:rPr>
              <a:t>Default branch</a:t>
            </a:r>
            <a:endParaRPr lang="en-US" sz="860" dirty="0"/>
          </a:p>
        </p:txBody>
      </p:sp>
      <p:sp>
        <p:nvSpPr>
          <p:cNvPr id="17" name="Shape 15"/>
          <p:cNvSpPr/>
          <p:nvPr/>
        </p:nvSpPr>
        <p:spPr>
          <a:xfrm>
            <a:off x="2286000" y="1746504"/>
            <a:ext cx="3794760" cy="274320"/>
          </a:xfrm>
          <a:prstGeom prst="roundRect">
            <a:avLst>
              <a:gd name="adj" fmla="val 10000"/>
            </a:avLst>
          </a:prstGeom>
          <a:solidFill>
            <a:srgbClr val="FFF4E0"/>
          </a:solidFill>
          <a:ln w="9525">
            <a:solidFill>
              <a:srgbClr val="B4690E"/>
            </a:solidFill>
            <a:prstDash val="dash"/>
          </a:ln>
        </p:spPr>
      </p:sp>
      <p:sp>
        <p:nvSpPr>
          <p:cNvPr id="18" name="Text 16"/>
          <p:cNvSpPr txBox="1"/>
          <p:nvPr/>
        </p:nvSpPr>
        <p:spPr>
          <a:xfrm>
            <a:off x="2377440" y="1746504"/>
            <a:ext cx="3611880" cy="274320"/>
          </a:xfrm>
          <a:prstGeom prst="rect">
            <a:avLst/>
          </a:prstGeom>
          <a:noFill/>
          <a:ln/>
        </p:spPr>
        <p:txBody>
          <a:bodyPr wrap="square" lIns="0" tIns="0" rIns="0" bIns="0" rtlCol="0" anchor="ctr"/>
          <a:lstStyle/>
          <a:p>
            <a:pPr indent="0" marL="0">
              <a:buNone/>
            </a:pPr>
            <a:r>
              <a:rPr lang="en-US" sz="800" b="1" dirty="0">
                <a:solidFill>
                  <a:srgbClr val="B4690E"/>
                </a:solidFill>
                <a:latin typeface="Segoe UI" pitchFamily="34" charset="0"/>
                <a:ea typeface="Segoe UI" pitchFamily="34" charset="-122"/>
                <a:cs typeface="Segoe UI" pitchFamily="34" charset="-120"/>
              </a:rPr>
              <a:t>[ main ]</a:t>
            </a:r>
            <a:endParaRPr lang="en-US" sz="800" dirty="0"/>
          </a:p>
        </p:txBody>
      </p:sp>
      <p:sp>
        <p:nvSpPr>
          <p:cNvPr id="19" name="Text 17"/>
          <p:cNvSpPr txBox="1"/>
          <p:nvPr/>
        </p:nvSpPr>
        <p:spPr>
          <a:xfrm>
            <a:off x="6309360" y="1746504"/>
            <a:ext cx="1600200" cy="274320"/>
          </a:xfrm>
          <a:prstGeom prst="rect">
            <a:avLst/>
          </a:prstGeom>
          <a:noFill/>
          <a:ln/>
        </p:spPr>
        <p:txBody>
          <a:bodyPr wrap="square" lIns="0" tIns="0" rIns="0" bIns="0" rtlCol="0" anchor="ctr"/>
          <a:lstStyle/>
          <a:p>
            <a:pPr indent="0" marL="0">
              <a:buNone/>
            </a:pPr>
            <a:r>
              <a:rPr lang="en-US" sz="860" b="1" dirty="0">
                <a:solidFill>
                  <a:srgbClr val="0B2E5C"/>
                </a:solidFill>
                <a:latin typeface="Segoe UI" pitchFamily="34" charset="0"/>
                <a:ea typeface="Segoe UI" pitchFamily="34" charset="-122"/>
                <a:cs typeface="Segoe UI" pitchFamily="34" charset="-120"/>
              </a:rPr>
              <a:t>Branching model</a:t>
            </a:r>
            <a:endParaRPr lang="en-US" sz="860" dirty="0"/>
          </a:p>
        </p:txBody>
      </p:sp>
      <p:sp>
        <p:nvSpPr>
          <p:cNvPr id="20" name="Shape 18"/>
          <p:cNvSpPr/>
          <p:nvPr/>
        </p:nvSpPr>
        <p:spPr>
          <a:xfrm>
            <a:off x="7955280" y="1746504"/>
            <a:ext cx="3794760" cy="274320"/>
          </a:xfrm>
          <a:prstGeom prst="roundRect">
            <a:avLst>
              <a:gd name="adj" fmla="val 10000"/>
            </a:avLst>
          </a:prstGeom>
          <a:solidFill>
            <a:srgbClr val="FFF4E0"/>
          </a:solidFill>
          <a:ln w="9525">
            <a:solidFill>
              <a:srgbClr val="B4690E"/>
            </a:solidFill>
            <a:prstDash val="dash"/>
          </a:ln>
        </p:spPr>
      </p:sp>
      <p:sp>
        <p:nvSpPr>
          <p:cNvPr id="21" name="Text 19"/>
          <p:cNvSpPr txBox="1"/>
          <p:nvPr/>
        </p:nvSpPr>
        <p:spPr>
          <a:xfrm>
            <a:off x="8046720" y="1746504"/>
            <a:ext cx="3611880" cy="274320"/>
          </a:xfrm>
          <a:prstGeom prst="rect">
            <a:avLst/>
          </a:prstGeom>
          <a:noFill/>
          <a:ln/>
        </p:spPr>
        <p:txBody>
          <a:bodyPr wrap="square" lIns="0" tIns="0" rIns="0" bIns="0" rtlCol="0" anchor="ctr"/>
          <a:lstStyle/>
          <a:p>
            <a:pPr indent="0" marL="0">
              <a:buNone/>
            </a:pPr>
            <a:r>
              <a:rPr lang="en-US" sz="800" b="1" dirty="0">
                <a:solidFill>
                  <a:srgbClr val="B4690E"/>
                </a:solidFill>
                <a:latin typeface="Segoe UI" pitchFamily="34" charset="0"/>
                <a:ea typeface="Segoe UI" pitchFamily="34" charset="-122"/>
                <a:cs typeface="Segoe UI" pitchFamily="34" charset="-120"/>
              </a:rPr>
              <a:t>[ trunk / gitflow — TBC ]</a:t>
            </a:r>
            <a:endParaRPr lang="en-US" sz="800" dirty="0"/>
          </a:p>
        </p:txBody>
      </p:sp>
      <p:sp>
        <p:nvSpPr>
          <p:cNvPr id="22" name="Shape 20"/>
          <p:cNvSpPr/>
          <p:nvPr/>
        </p:nvSpPr>
        <p:spPr>
          <a:xfrm>
            <a:off x="411480" y="2331720"/>
            <a:ext cx="5669280" cy="2788920"/>
          </a:xfrm>
          <a:prstGeom prst="roundRect">
            <a:avLst>
              <a:gd name="adj" fmla="val 1311"/>
            </a:avLst>
          </a:prstGeom>
          <a:solidFill>
            <a:srgbClr val="FFFFFF"/>
          </a:solidFill>
          <a:ln w="12700">
            <a:solidFill>
              <a:srgbClr val="CBD4E1"/>
            </a:solidFill>
            <a:prstDash val="solid"/>
          </a:ln>
        </p:spPr>
      </p:sp>
      <p:sp>
        <p:nvSpPr>
          <p:cNvPr id="23" name="Shape 21"/>
          <p:cNvSpPr/>
          <p:nvPr/>
        </p:nvSpPr>
        <p:spPr>
          <a:xfrm>
            <a:off x="411480" y="2331720"/>
            <a:ext cx="5669280" cy="310896"/>
          </a:xfrm>
          <a:prstGeom prst="rect">
            <a:avLst/>
          </a:prstGeom>
          <a:solidFill>
            <a:srgbClr val="0B2E5C"/>
          </a:solidFill>
          <a:ln/>
        </p:spPr>
      </p:sp>
      <p:sp>
        <p:nvSpPr>
          <p:cNvPr id="24" name="Text 22"/>
          <p:cNvSpPr txBox="1"/>
          <p:nvPr/>
        </p:nvSpPr>
        <p:spPr>
          <a:xfrm>
            <a:off x="594360" y="2377440"/>
            <a:ext cx="5303520" cy="219456"/>
          </a:xfrm>
          <a:prstGeom prst="rect">
            <a:avLst/>
          </a:prstGeom>
          <a:noFill/>
          <a:ln/>
        </p:spPr>
        <p:txBody>
          <a:bodyPr wrap="square" lIns="0" tIns="0" rIns="0" bIns="0" rtlCol="0" anchor="ctr"/>
          <a:lstStyle/>
          <a:p>
            <a:pPr algn="l" indent="0" marL="0">
              <a:buNone/>
            </a:pPr>
            <a:r>
              <a:rPr lang="en-US" sz="950" b="1" dirty="0">
                <a:solidFill>
                  <a:srgbClr val="FFFFFF"/>
                </a:solidFill>
                <a:latin typeface="Segoe UI" pitchFamily="34" charset="0"/>
                <a:ea typeface="Segoe UI" pitchFamily="34" charset="-122"/>
                <a:cs typeface="Segoe UI" pitchFamily="34" charset="-120"/>
              </a:rPr>
              <a:t>REPOSITORY STRUCTURE</a:t>
            </a:r>
            <a:endParaRPr lang="en-US" sz="950" dirty="0"/>
          </a:p>
        </p:txBody>
      </p:sp>
      <p:sp>
        <p:nvSpPr>
          <p:cNvPr id="25" name="Text 23"/>
          <p:cNvSpPr txBox="1"/>
          <p:nvPr/>
        </p:nvSpPr>
        <p:spPr>
          <a:xfrm>
            <a:off x="621792" y="2743200"/>
            <a:ext cx="1572768" cy="237744"/>
          </a:xfrm>
          <a:prstGeom prst="rect">
            <a:avLst/>
          </a:prstGeom>
          <a:noFill/>
          <a:ln/>
        </p:spPr>
        <p:txBody>
          <a:bodyPr wrap="square" lIns="0" tIns="0" rIns="0" bIns="0" rtlCol="0" anchor="ctr"/>
          <a:lstStyle/>
          <a:p>
            <a:pPr indent="0" marL="0">
              <a:buNone/>
            </a:pPr>
            <a:r>
              <a:rPr lang="en-US" sz="820" b="1" dirty="0">
                <a:solidFill>
                  <a:srgbClr val="0A5CB8"/>
                </a:solidFill>
                <a:latin typeface="Consolas" pitchFamily="34" charset="0"/>
                <a:ea typeface="Consolas" pitchFamily="34" charset="-122"/>
                <a:cs typeface="Consolas" pitchFamily="34" charset="-120"/>
              </a:rPr>
              <a:t>app/</a:t>
            </a:r>
            <a:endParaRPr lang="en-US" sz="820" dirty="0"/>
          </a:p>
        </p:txBody>
      </p:sp>
      <p:sp>
        <p:nvSpPr>
          <p:cNvPr id="26" name="Text 24"/>
          <p:cNvSpPr txBox="1"/>
          <p:nvPr/>
        </p:nvSpPr>
        <p:spPr>
          <a:xfrm>
            <a:off x="2212848" y="2743200"/>
            <a:ext cx="3703320" cy="237744"/>
          </a:xfrm>
          <a:prstGeom prst="rect">
            <a:avLst/>
          </a:prstGeom>
          <a:noFill/>
          <a:ln/>
        </p:spPr>
        <p:txBody>
          <a:bodyPr wrap="square" lIns="0" tIns="0" rIns="0" bIns="0" rtlCol="0" anchor="ctr"/>
          <a:lstStyle/>
          <a:p>
            <a:pPr indent="0" marL="0">
              <a:buNone/>
            </a:pPr>
            <a:r>
              <a:rPr lang="en-US" sz="780" dirty="0">
                <a:solidFill>
                  <a:srgbClr val="354052"/>
                </a:solidFill>
                <a:latin typeface="Segoe UI" pitchFamily="34" charset="0"/>
                <a:ea typeface="Segoe UI" pitchFamily="34" charset="-122"/>
                <a:cs typeface="Segoe UI" pitchFamily="34" charset="-120"/>
              </a:rPr>
              <a:t>FastAPI application — routes, middleware, models, schemas, UI</a:t>
            </a:r>
            <a:endParaRPr lang="en-US" sz="780" dirty="0"/>
          </a:p>
        </p:txBody>
      </p:sp>
      <p:sp>
        <p:nvSpPr>
          <p:cNvPr id="27" name="Text 25"/>
          <p:cNvSpPr txBox="1"/>
          <p:nvPr/>
        </p:nvSpPr>
        <p:spPr>
          <a:xfrm>
            <a:off x="621792" y="3003804"/>
            <a:ext cx="1572768" cy="237744"/>
          </a:xfrm>
          <a:prstGeom prst="rect">
            <a:avLst/>
          </a:prstGeom>
          <a:noFill/>
          <a:ln/>
        </p:spPr>
        <p:txBody>
          <a:bodyPr wrap="square" lIns="0" tIns="0" rIns="0" bIns="0" rtlCol="0" anchor="ctr"/>
          <a:lstStyle/>
          <a:p>
            <a:pPr indent="0" marL="0">
              <a:buNone/>
            </a:pPr>
            <a:r>
              <a:rPr lang="en-US" sz="820" b="1" dirty="0">
                <a:solidFill>
                  <a:srgbClr val="0A5CB8"/>
                </a:solidFill>
                <a:latin typeface="Consolas" pitchFamily="34" charset="0"/>
                <a:ea typeface="Consolas" pitchFamily="34" charset="-122"/>
                <a:cs typeface="Consolas" pitchFamily="34" charset="-120"/>
              </a:rPr>
              <a:t>app/api/routes/</a:t>
            </a:r>
            <a:endParaRPr lang="en-US" sz="820" dirty="0"/>
          </a:p>
        </p:txBody>
      </p:sp>
      <p:sp>
        <p:nvSpPr>
          <p:cNvPr id="28" name="Text 26"/>
          <p:cNvSpPr txBox="1"/>
          <p:nvPr/>
        </p:nvSpPr>
        <p:spPr>
          <a:xfrm>
            <a:off x="2212848" y="3003804"/>
            <a:ext cx="3703320" cy="237744"/>
          </a:xfrm>
          <a:prstGeom prst="rect">
            <a:avLst/>
          </a:prstGeom>
          <a:noFill/>
          <a:ln/>
        </p:spPr>
        <p:txBody>
          <a:bodyPr wrap="square" lIns="0" tIns="0" rIns="0" bIns="0" rtlCol="0" anchor="ctr"/>
          <a:lstStyle/>
          <a:p>
            <a:pPr indent="0" marL="0">
              <a:buNone/>
            </a:pPr>
            <a:r>
              <a:rPr lang="en-US" sz="780" dirty="0">
                <a:solidFill>
                  <a:srgbClr val="354052"/>
                </a:solidFill>
                <a:latin typeface="Segoe UI" pitchFamily="34" charset="0"/>
                <a:ea typeface="Segoe UI" pitchFamily="34" charset="-122"/>
                <a:cs typeface="Segoe UI" pitchFamily="34" charset="-120"/>
              </a:rPr>
              <a:t>8 route modules: auth, outlets, briefs, actions, ask, manager, admin, ui</a:t>
            </a:r>
            <a:endParaRPr lang="en-US" sz="780" dirty="0"/>
          </a:p>
        </p:txBody>
      </p:sp>
      <p:sp>
        <p:nvSpPr>
          <p:cNvPr id="29" name="Text 27"/>
          <p:cNvSpPr txBox="1"/>
          <p:nvPr/>
        </p:nvSpPr>
        <p:spPr>
          <a:xfrm>
            <a:off x="621792" y="3264408"/>
            <a:ext cx="1572768" cy="237744"/>
          </a:xfrm>
          <a:prstGeom prst="rect">
            <a:avLst/>
          </a:prstGeom>
          <a:noFill/>
          <a:ln/>
        </p:spPr>
        <p:txBody>
          <a:bodyPr wrap="square" lIns="0" tIns="0" rIns="0" bIns="0" rtlCol="0" anchor="ctr"/>
          <a:lstStyle/>
          <a:p>
            <a:pPr indent="0" marL="0">
              <a:buNone/>
            </a:pPr>
            <a:r>
              <a:rPr lang="en-US" sz="820" b="1" dirty="0">
                <a:solidFill>
                  <a:srgbClr val="0A5CB8"/>
                </a:solidFill>
                <a:latin typeface="Consolas" pitchFamily="34" charset="0"/>
                <a:ea typeface="Consolas" pitchFamily="34" charset="-122"/>
                <a:cs typeface="Consolas" pitchFamily="34" charset="-120"/>
              </a:rPr>
              <a:t>app/aws/</a:t>
            </a:r>
            <a:endParaRPr lang="en-US" sz="820" dirty="0"/>
          </a:p>
        </p:txBody>
      </p:sp>
      <p:sp>
        <p:nvSpPr>
          <p:cNvPr id="30" name="Text 28"/>
          <p:cNvSpPr txBox="1"/>
          <p:nvPr/>
        </p:nvSpPr>
        <p:spPr>
          <a:xfrm>
            <a:off x="2212848" y="3264408"/>
            <a:ext cx="3703320" cy="237744"/>
          </a:xfrm>
          <a:prstGeom prst="rect">
            <a:avLst/>
          </a:prstGeom>
          <a:noFill/>
          <a:ln/>
        </p:spPr>
        <p:txBody>
          <a:bodyPr wrap="square" lIns="0" tIns="0" rIns="0" bIns="0" rtlCol="0" anchor="ctr"/>
          <a:lstStyle/>
          <a:p>
            <a:pPr indent="0" marL="0">
              <a:buNone/>
            </a:pPr>
            <a:r>
              <a:rPr lang="en-US" sz="780" dirty="0">
                <a:solidFill>
                  <a:srgbClr val="354052"/>
                </a:solidFill>
                <a:latin typeface="Segoe UI" pitchFamily="34" charset="0"/>
                <a:ea typeface="Segoe UI" pitchFamily="34" charset="-122"/>
                <a:cs typeface="Segoe UI" pitchFamily="34" charset="-120"/>
              </a:rPr>
              <a:t>11 AWS service clients — Bedrock, SageMaker, S3, KMS and more</a:t>
            </a:r>
            <a:endParaRPr lang="en-US" sz="780" dirty="0"/>
          </a:p>
        </p:txBody>
      </p:sp>
      <p:sp>
        <p:nvSpPr>
          <p:cNvPr id="31" name="Text 29"/>
          <p:cNvSpPr txBox="1"/>
          <p:nvPr/>
        </p:nvSpPr>
        <p:spPr>
          <a:xfrm>
            <a:off x="621792" y="3525012"/>
            <a:ext cx="1572768" cy="237744"/>
          </a:xfrm>
          <a:prstGeom prst="rect">
            <a:avLst/>
          </a:prstGeom>
          <a:noFill/>
          <a:ln/>
        </p:spPr>
        <p:txBody>
          <a:bodyPr wrap="square" lIns="0" tIns="0" rIns="0" bIns="0" rtlCol="0" anchor="ctr"/>
          <a:lstStyle/>
          <a:p>
            <a:pPr indent="0" marL="0">
              <a:buNone/>
            </a:pPr>
            <a:r>
              <a:rPr lang="en-US" sz="820" b="1" dirty="0">
                <a:solidFill>
                  <a:srgbClr val="0A5CB8"/>
                </a:solidFill>
                <a:latin typeface="Consolas" pitchFamily="34" charset="0"/>
                <a:ea typeface="Consolas" pitchFamily="34" charset="-122"/>
                <a:cs typeface="Consolas" pitchFamily="34" charset="-120"/>
              </a:rPr>
              <a:t>app/models/</a:t>
            </a:r>
            <a:endParaRPr lang="en-US" sz="820" dirty="0"/>
          </a:p>
        </p:txBody>
      </p:sp>
      <p:sp>
        <p:nvSpPr>
          <p:cNvPr id="32" name="Text 30"/>
          <p:cNvSpPr txBox="1"/>
          <p:nvPr/>
        </p:nvSpPr>
        <p:spPr>
          <a:xfrm>
            <a:off x="2212848" y="3525012"/>
            <a:ext cx="3703320" cy="237744"/>
          </a:xfrm>
          <a:prstGeom prst="rect">
            <a:avLst/>
          </a:prstGeom>
          <a:noFill/>
          <a:ln/>
        </p:spPr>
        <p:txBody>
          <a:bodyPr wrap="square" lIns="0" tIns="0" rIns="0" bIns="0" rtlCol="0" anchor="ctr"/>
          <a:lstStyle/>
          <a:p>
            <a:pPr indent="0" marL="0">
              <a:buNone/>
            </a:pPr>
            <a:r>
              <a:rPr lang="en-US" sz="780" dirty="0">
                <a:solidFill>
                  <a:srgbClr val="354052"/>
                </a:solidFill>
                <a:latin typeface="Segoe UI" pitchFamily="34" charset="0"/>
                <a:ea typeface="Segoe UI" pitchFamily="34" charset="-122"/>
                <a:cs typeface="Segoe UI" pitchFamily="34" charset="-120"/>
              </a:rPr>
              <a:t>13 SQLAlchemy domain models</a:t>
            </a:r>
            <a:endParaRPr lang="en-US" sz="780" dirty="0"/>
          </a:p>
        </p:txBody>
      </p:sp>
      <p:sp>
        <p:nvSpPr>
          <p:cNvPr id="33" name="Text 31"/>
          <p:cNvSpPr txBox="1"/>
          <p:nvPr/>
        </p:nvSpPr>
        <p:spPr>
          <a:xfrm>
            <a:off x="621792" y="3785616"/>
            <a:ext cx="1572768" cy="237744"/>
          </a:xfrm>
          <a:prstGeom prst="rect">
            <a:avLst/>
          </a:prstGeom>
          <a:noFill/>
          <a:ln/>
        </p:spPr>
        <p:txBody>
          <a:bodyPr wrap="square" lIns="0" tIns="0" rIns="0" bIns="0" rtlCol="0" anchor="ctr"/>
          <a:lstStyle/>
          <a:p>
            <a:pPr indent="0" marL="0">
              <a:buNone/>
            </a:pPr>
            <a:r>
              <a:rPr lang="en-US" sz="820" b="1" dirty="0">
                <a:solidFill>
                  <a:srgbClr val="0A5CB8"/>
                </a:solidFill>
                <a:latin typeface="Consolas" pitchFamily="34" charset="0"/>
                <a:ea typeface="Consolas" pitchFamily="34" charset="-122"/>
                <a:cs typeface="Consolas" pitchFamily="34" charset="-120"/>
              </a:rPr>
              <a:t>app/ui/templates/</a:t>
            </a:r>
            <a:endParaRPr lang="en-US" sz="820" dirty="0"/>
          </a:p>
        </p:txBody>
      </p:sp>
      <p:sp>
        <p:nvSpPr>
          <p:cNvPr id="34" name="Text 32"/>
          <p:cNvSpPr txBox="1"/>
          <p:nvPr/>
        </p:nvSpPr>
        <p:spPr>
          <a:xfrm>
            <a:off x="2212848" y="3785616"/>
            <a:ext cx="3703320" cy="237744"/>
          </a:xfrm>
          <a:prstGeom prst="rect">
            <a:avLst/>
          </a:prstGeom>
          <a:noFill/>
          <a:ln/>
        </p:spPr>
        <p:txBody>
          <a:bodyPr wrap="square" lIns="0" tIns="0" rIns="0" bIns="0" rtlCol="0" anchor="ctr"/>
          <a:lstStyle/>
          <a:p>
            <a:pPr indent="0" marL="0">
              <a:buNone/>
            </a:pPr>
            <a:r>
              <a:rPr lang="en-US" sz="780" dirty="0">
                <a:solidFill>
                  <a:srgbClr val="354052"/>
                </a:solidFill>
                <a:latin typeface="Segoe UI" pitchFamily="34" charset="0"/>
                <a:ea typeface="Segoe UI" pitchFamily="34" charset="-122"/>
                <a:cs typeface="Segoe UI" pitchFamily="34" charset="-120"/>
              </a:rPr>
              <a:t>8 Jinja2 screens — dashboard, ask, briefs, admin</a:t>
            </a:r>
            <a:endParaRPr lang="en-US" sz="780" dirty="0"/>
          </a:p>
        </p:txBody>
      </p:sp>
      <p:sp>
        <p:nvSpPr>
          <p:cNvPr id="35" name="Text 33"/>
          <p:cNvSpPr txBox="1"/>
          <p:nvPr/>
        </p:nvSpPr>
        <p:spPr>
          <a:xfrm>
            <a:off x="621792" y="4046220"/>
            <a:ext cx="1572768" cy="237744"/>
          </a:xfrm>
          <a:prstGeom prst="rect">
            <a:avLst/>
          </a:prstGeom>
          <a:noFill/>
          <a:ln/>
        </p:spPr>
        <p:txBody>
          <a:bodyPr wrap="square" lIns="0" tIns="0" rIns="0" bIns="0" rtlCol="0" anchor="ctr"/>
          <a:lstStyle/>
          <a:p>
            <a:pPr indent="0" marL="0">
              <a:buNone/>
            </a:pPr>
            <a:r>
              <a:rPr lang="en-US" sz="820" b="1" dirty="0">
                <a:solidFill>
                  <a:srgbClr val="0A5CB8"/>
                </a:solidFill>
                <a:latin typeface="Consolas" pitchFamily="34" charset="0"/>
                <a:ea typeface="Consolas" pitchFamily="34" charset="-122"/>
                <a:cs typeface="Consolas" pitchFamily="34" charset="-120"/>
              </a:rPr>
              <a:t>agents/</a:t>
            </a:r>
            <a:endParaRPr lang="en-US" sz="820" dirty="0"/>
          </a:p>
        </p:txBody>
      </p:sp>
      <p:sp>
        <p:nvSpPr>
          <p:cNvPr id="36" name="Text 34"/>
          <p:cNvSpPr txBox="1"/>
          <p:nvPr/>
        </p:nvSpPr>
        <p:spPr>
          <a:xfrm>
            <a:off x="2212848" y="4046220"/>
            <a:ext cx="3703320" cy="237744"/>
          </a:xfrm>
          <a:prstGeom prst="rect">
            <a:avLst/>
          </a:prstGeom>
          <a:noFill/>
          <a:ln/>
        </p:spPr>
        <p:txBody>
          <a:bodyPr wrap="square" lIns="0" tIns="0" rIns="0" bIns="0" rtlCol="0" anchor="ctr"/>
          <a:lstStyle/>
          <a:p>
            <a:pPr indent="0" marL="0">
              <a:buNone/>
            </a:pPr>
            <a:r>
              <a:rPr lang="en-US" sz="780" dirty="0">
                <a:solidFill>
                  <a:srgbClr val="354052"/>
                </a:solidFill>
                <a:latin typeface="Segoe UI" pitchFamily="34" charset="0"/>
                <a:ea typeface="Segoe UI" pitchFamily="34" charset="-122"/>
                <a:cs typeface="Segoe UI" pitchFamily="34" charset="-120"/>
              </a:rPr>
              <a:t>LangGraph engine — 9 agents, prompts, tools, shared state</a:t>
            </a:r>
            <a:endParaRPr lang="en-US" sz="780" dirty="0"/>
          </a:p>
        </p:txBody>
      </p:sp>
      <p:sp>
        <p:nvSpPr>
          <p:cNvPr id="37" name="Text 35"/>
          <p:cNvSpPr txBox="1"/>
          <p:nvPr/>
        </p:nvSpPr>
        <p:spPr>
          <a:xfrm>
            <a:off x="621792" y="4306824"/>
            <a:ext cx="1572768" cy="237744"/>
          </a:xfrm>
          <a:prstGeom prst="rect">
            <a:avLst/>
          </a:prstGeom>
          <a:noFill/>
          <a:ln/>
        </p:spPr>
        <p:txBody>
          <a:bodyPr wrap="square" lIns="0" tIns="0" rIns="0" bIns="0" rtlCol="0" anchor="ctr"/>
          <a:lstStyle/>
          <a:p>
            <a:pPr indent="0" marL="0">
              <a:buNone/>
            </a:pPr>
            <a:r>
              <a:rPr lang="en-US" sz="820" b="1" dirty="0">
                <a:solidFill>
                  <a:srgbClr val="0A5CB8"/>
                </a:solidFill>
                <a:latin typeface="Consolas" pitchFamily="34" charset="0"/>
                <a:ea typeface="Consolas" pitchFamily="34" charset="-122"/>
                <a:cs typeface="Consolas" pitchFamily="34" charset="-120"/>
              </a:rPr>
              <a:t>knowledge_graph/</a:t>
            </a:r>
            <a:endParaRPr lang="en-US" sz="820" dirty="0"/>
          </a:p>
        </p:txBody>
      </p:sp>
      <p:sp>
        <p:nvSpPr>
          <p:cNvPr id="38" name="Text 36"/>
          <p:cNvSpPr txBox="1"/>
          <p:nvPr/>
        </p:nvSpPr>
        <p:spPr>
          <a:xfrm>
            <a:off x="2212848" y="4306824"/>
            <a:ext cx="3703320" cy="237744"/>
          </a:xfrm>
          <a:prstGeom prst="rect">
            <a:avLst/>
          </a:prstGeom>
          <a:noFill/>
          <a:ln/>
        </p:spPr>
        <p:txBody>
          <a:bodyPr wrap="square" lIns="0" tIns="0" rIns="0" bIns="0" rtlCol="0" anchor="ctr"/>
          <a:lstStyle/>
          <a:p>
            <a:pPr indent="0" marL="0">
              <a:buNone/>
            </a:pPr>
            <a:r>
              <a:rPr lang="en-US" sz="780" dirty="0">
                <a:solidFill>
                  <a:srgbClr val="354052"/>
                </a:solidFill>
                <a:latin typeface="Segoe UI" pitchFamily="34" charset="0"/>
                <a:ea typeface="Segoe UI" pitchFamily="34" charset="-122"/>
                <a:cs typeface="Segoe UI" pitchFamily="34" charset="-120"/>
              </a:rPr>
              <a:t>NetworkX graph builder and query helpers</a:t>
            </a:r>
            <a:endParaRPr lang="en-US" sz="780" dirty="0"/>
          </a:p>
        </p:txBody>
      </p:sp>
      <p:sp>
        <p:nvSpPr>
          <p:cNvPr id="39" name="Text 37"/>
          <p:cNvSpPr txBox="1"/>
          <p:nvPr/>
        </p:nvSpPr>
        <p:spPr>
          <a:xfrm>
            <a:off x="621792" y="4567428"/>
            <a:ext cx="1572768" cy="237744"/>
          </a:xfrm>
          <a:prstGeom prst="rect">
            <a:avLst/>
          </a:prstGeom>
          <a:noFill/>
          <a:ln/>
        </p:spPr>
        <p:txBody>
          <a:bodyPr wrap="square" lIns="0" tIns="0" rIns="0" bIns="0" rtlCol="0" anchor="ctr"/>
          <a:lstStyle/>
          <a:p>
            <a:pPr indent="0" marL="0">
              <a:buNone/>
            </a:pPr>
            <a:r>
              <a:rPr lang="en-US" sz="820" b="1" dirty="0">
                <a:solidFill>
                  <a:srgbClr val="0A5CB8"/>
                </a:solidFill>
                <a:latin typeface="Consolas" pitchFamily="34" charset="0"/>
                <a:ea typeface="Consolas" pitchFamily="34" charset="-122"/>
                <a:cs typeface="Consolas" pitchFamily="34" charset="-120"/>
              </a:rPr>
              <a:t>data/</a:t>
            </a:r>
            <a:endParaRPr lang="en-US" sz="820" dirty="0"/>
          </a:p>
        </p:txBody>
      </p:sp>
      <p:sp>
        <p:nvSpPr>
          <p:cNvPr id="40" name="Text 38"/>
          <p:cNvSpPr txBox="1"/>
          <p:nvPr/>
        </p:nvSpPr>
        <p:spPr>
          <a:xfrm>
            <a:off x="2212848" y="4567428"/>
            <a:ext cx="3703320" cy="237744"/>
          </a:xfrm>
          <a:prstGeom prst="rect">
            <a:avLst/>
          </a:prstGeom>
          <a:noFill/>
          <a:ln/>
        </p:spPr>
        <p:txBody>
          <a:bodyPr wrap="square" lIns="0" tIns="0" rIns="0" bIns="0" rtlCol="0" anchor="ctr"/>
          <a:lstStyle/>
          <a:p>
            <a:pPr indent="0" marL="0">
              <a:buNone/>
            </a:pPr>
            <a:r>
              <a:rPr lang="en-US" sz="780" dirty="0">
                <a:solidFill>
                  <a:srgbClr val="354052"/>
                </a:solidFill>
                <a:latin typeface="Segoe UI" pitchFamily="34" charset="0"/>
                <a:ea typeface="Segoe UI" pitchFamily="34" charset="-122"/>
                <a:cs typeface="Segoe UI" pitchFamily="34" charset="-120"/>
              </a:rPr>
              <a:t>Schema, generators, seeders and 13 seeded CSV datasets</a:t>
            </a:r>
            <a:endParaRPr lang="en-US" sz="780" dirty="0"/>
          </a:p>
        </p:txBody>
      </p:sp>
      <p:sp>
        <p:nvSpPr>
          <p:cNvPr id="41" name="Text 39"/>
          <p:cNvSpPr txBox="1"/>
          <p:nvPr/>
        </p:nvSpPr>
        <p:spPr>
          <a:xfrm>
            <a:off x="621792" y="4828032"/>
            <a:ext cx="1572768" cy="237744"/>
          </a:xfrm>
          <a:prstGeom prst="rect">
            <a:avLst/>
          </a:prstGeom>
          <a:noFill/>
          <a:ln/>
        </p:spPr>
        <p:txBody>
          <a:bodyPr wrap="square" lIns="0" tIns="0" rIns="0" bIns="0" rtlCol="0" anchor="ctr"/>
          <a:lstStyle/>
          <a:p>
            <a:pPr indent="0" marL="0">
              <a:buNone/>
            </a:pPr>
            <a:r>
              <a:rPr lang="en-US" sz="820" b="1" dirty="0">
                <a:solidFill>
                  <a:srgbClr val="0A5CB8"/>
                </a:solidFill>
                <a:latin typeface="Consolas" pitchFamily="34" charset="0"/>
                <a:ea typeface="Consolas" pitchFamily="34" charset="-122"/>
                <a:cs typeface="Consolas" pitchFamily="34" charset="-120"/>
              </a:rPr>
              <a:t>scripts/</a:t>
            </a:r>
            <a:endParaRPr lang="en-US" sz="820" dirty="0"/>
          </a:p>
        </p:txBody>
      </p:sp>
      <p:sp>
        <p:nvSpPr>
          <p:cNvPr id="42" name="Text 40"/>
          <p:cNvSpPr txBox="1"/>
          <p:nvPr/>
        </p:nvSpPr>
        <p:spPr>
          <a:xfrm>
            <a:off x="2212848" y="4828032"/>
            <a:ext cx="3703320" cy="237744"/>
          </a:xfrm>
          <a:prstGeom prst="rect">
            <a:avLst/>
          </a:prstGeom>
          <a:noFill/>
          <a:ln/>
        </p:spPr>
        <p:txBody>
          <a:bodyPr wrap="square" lIns="0" tIns="0" rIns="0" bIns="0" rtlCol="0" anchor="ctr"/>
          <a:lstStyle/>
          <a:p>
            <a:pPr indent="0" marL="0">
              <a:buNone/>
            </a:pPr>
            <a:r>
              <a:rPr lang="en-US" sz="780" dirty="0">
                <a:solidFill>
                  <a:srgbClr val="354052"/>
                </a:solidFill>
                <a:latin typeface="Segoe UI" pitchFamily="34" charset="0"/>
                <a:ea typeface="Segoe UI" pitchFamily="34" charset="-122"/>
                <a:cs typeface="Segoe UI" pitchFamily="34" charset="-120"/>
              </a:rPr>
              <a:t>Operational scripts — seed, build graph, warm cache</a:t>
            </a:r>
            <a:endParaRPr lang="en-US" sz="780" dirty="0"/>
          </a:p>
        </p:txBody>
      </p:sp>
      <p:sp>
        <p:nvSpPr>
          <p:cNvPr id="43" name="Shape 41"/>
          <p:cNvSpPr/>
          <p:nvPr/>
        </p:nvSpPr>
        <p:spPr>
          <a:xfrm>
            <a:off x="6263640" y="2331720"/>
            <a:ext cx="5532120" cy="2788920"/>
          </a:xfrm>
          <a:prstGeom prst="roundRect">
            <a:avLst>
              <a:gd name="adj" fmla="val 1311"/>
            </a:avLst>
          </a:prstGeom>
          <a:solidFill>
            <a:srgbClr val="FFFFFF"/>
          </a:solidFill>
          <a:ln w="12700">
            <a:solidFill>
              <a:srgbClr val="CBD4E1"/>
            </a:solidFill>
            <a:prstDash val="solid"/>
          </a:ln>
        </p:spPr>
      </p:sp>
      <p:sp>
        <p:nvSpPr>
          <p:cNvPr id="44" name="Shape 42"/>
          <p:cNvSpPr/>
          <p:nvPr/>
        </p:nvSpPr>
        <p:spPr>
          <a:xfrm>
            <a:off x="6263640" y="2331720"/>
            <a:ext cx="5532120" cy="310896"/>
          </a:xfrm>
          <a:prstGeom prst="rect">
            <a:avLst/>
          </a:prstGeom>
          <a:solidFill>
            <a:srgbClr val="0A5CB8"/>
          </a:solidFill>
          <a:ln/>
        </p:spPr>
      </p:sp>
      <p:sp>
        <p:nvSpPr>
          <p:cNvPr id="45" name="Text 43"/>
          <p:cNvSpPr txBox="1"/>
          <p:nvPr/>
        </p:nvSpPr>
        <p:spPr>
          <a:xfrm>
            <a:off x="6446520" y="2377440"/>
            <a:ext cx="5120640" cy="219456"/>
          </a:xfrm>
          <a:prstGeom prst="rect">
            <a:avLst/>
          </a:prstGeom>
          <a:noFill/>
          <a:ln/>
        </p:spPr>
        <p:txBody>
          <a:bodyPr wrap="square" lIns="0" tIns="0" rIns="0" bIns="0" rtlCol="0" anchor="ctr"/>
          <a:lstStyle/>
          <a:p>
            <a:pPr algn="l" indent="0" marL="0">
              <a:buNone/>
            </a:pPr>
            <a:r>
              <a:rPr lang="en-US" sz="950" b="1" dirty="0">
                <a:solidFill>
                  <a:srgbClr val="FFFFFF"/>
                </a:solidFill>
                <a:latin typeface="Segoe UI" pitchFamily="34" charset="0"/>
                <a:ea typeface="Segoe UI" pitchFamily="34" charset="-122"/>
                <a:cs typeface="Segoe UI" pitchFamily="34" charset="-120"/>
              </a:rPr>
              <a:t>BUILD &amp; DEPLOY PATH</a:t>
            </a:r>
            <a:endParaRPr lang="en-US" sz="950" dirty="0"/>
          </a:p>
        </p:txBody>
      </p:sp>
      <p:sp>
        <p:nvSpPr>
          <p:cNvPr id="46" name="Text 44"/>
          <p:cNvSpPr txBox="1"/>
          <p:nvPr/>
        </p:nvSpPr>
        <p:spPr>
          <a:xfrm>
            <a:off x="6473952" y="2724912"/>
            <a:ext cx="5166360" cy="219456"/>
          </a:xfrm>
          <a:prstGeom prst="rect">
            <a:avLst/>
          </a:prstGeom>
          <a:noFill/>
          <a:ln/>
        </p:spPr>
        <p:txBody>
          <a:bodyPr wrap="square" lIns="0" tIns="0" rIns="0" bIns="0" rtlCol="0" anchor="t"/>
          <a:lstStyle/>
          <a:p>
            <a:pPr algn="l" indent="0" marL="0">
              <a:lnSpc>
                <a:spcPct val="115000"/>
              </a:lnSpc>
              <a:buNone/>
            </a:pPr>
            <a:r>
              <a:rPr lang="en-US" sz="860" dirty="0">
                <a:solidFill>
                  <a:srgbClr val="5B6577"/>
                </a:solidFill>
                <a:latin typeface="Segoe UI" pitchFamily="34" charset="0"/>
                <a:ea typeface="Segoe UI" pitchFamily="34" charset="-122"/>
                <a:cs typeface="Segoe UI" pitchFamily="34" charset="-120"/>
              </a:rPr>
              <a:t>From a commit to a running ECS service:</a:t>
            </a:r>
            <a:endParaRPr lang="en-US" sz="860" dirty="0"/>
          </a:p>
        </p:txBody>
      </p:sp>
      <p:sp>
        <p:nvSpPr>
          <p:cNvPr id="47" name="Shape 45"/>
          <p:cNvSpPr/>
          <p:nvPr/>
        </p:nvSpPr>
        <p:spPr>
          <a:xfrm>
            <a:off x="6473952" y="3017520"/>
            <a:ext cx="5166360" cy="228600"/>
          </a:xfrm>
          <a:prstGeom prst="roundRect">
            <a:avLst>
              <a:gd name="adj" fmla="val 8000"/>
            </a:avLst>
          </a:prstGeom>
          <a:solidFill>
            <a:srgbClr val="F2F5F9"/>
          </a:solidFill>
          <a:ln w="9525">
            <a:solidFill>
              <a:srgbClr val="CBD4E1"/>
            </a:solidFill>
            <a:prstDash val="solid"/>
          </a:ln>
        </p:spPr>
      </p:sp>
      <p:sp>
        <p:nvSpPr>
          <p:cNvPr id="48" name="Text 46"/>
          <p:cNvSpPr txBox="1"/>
          <p:nvPr/>
        </p:nvSpPr>
        <p:spPr>
          <a:xfrm>
            <a:off x="6583680" y="3017520"/>
            <a:ext cx="4983480" cy="228600"/>
          </a:xfrm>
          <a:prstGeom prst="rect">
            <a:avLst/>
          </a:prstGeom>
          <a:noFill/>
          <a:ln/>
        </p:spPr>
        <p:txBody>
          <a:bodyPr wrap="square" lIns="0" tIns="0" rIns="0" bIns="0" rtlCol="0" anchor="ctr"/>
          <a:lstStyle/>
          <a:p>
            <a:pPr indent="0" marL="0">
              <a:buNone/>
            </a:pPr>
            <a:r>
              <a:rPr lang="en-US" sz="740" dirty="0">
                <a:solidFill>
                  <a:srgbClr val="16202E"/>
                </a:solidFill>
                <a:latin typeface="Consolas" pitchFamily="34" charset="0"/>
                <a:ea typeface="Consolas" pitchFamily="34" charset="-122"/>
                <a:cs typeface="Consolas" pitchFamily="34" charset="-120"/>
              </a:rPr>
              <a:t>docker build -t salescoach-ai:$GIT_SHA .</a:t>
            </a:r>
            <a:endParaRPr lang="en-US" sz="740" dirty="0"/>
          </a:p>
        </p:txBody>
      </p:sp>
      <p:sp>
        <p:nvSpPr>
          <p:cNvPr id="49" name="Shape 47"/>
          <p:cNvSpPr/>
          <p:nvPr/>
        </p:nvSpPr>
        <p:spPr>
          <a:xfrm>
            <a:off x="6473952" y="3282696"/>
            <a:ext cx="5166360" cy="228600"/>
          </a:xfrm>
          <a:prstGeom prst="roundRect">
            <a:avLst>
              <a:gd name="adj" fmla="val 8000"/>
            </a:avLst>
          </a:prstGeom>
          <a:solidFill>
            <a:srgbClr val="F2F5F9"/>
          </a:solidFill>
          <a:ln w="9525">
            <a:solidFill>
              <a:srgbClr val="CBD4E1"/>
            </a:solidFill>
            <a:prstDash val="solid"/>
          </a:ln>
        </p:spPr>
      </p:sp>
      <p:sp>
        <p:nvSpPr>
          <p:cNvPr id="50" name="Text 48"/>
          <p:cNvSpPr txBox="1"/>
          <p:nvPr/>
        </p:nvSpPr>
        <p:spPr>
          <a:xfrm>
            <a:off x="6583680" y="3282696"/>
            <a:ext cx="4983480" cy="228600"/>
          </a:xfrm>
          <a:prstGeom prst="rect">
            <a:avLst/>
          </a:prstGeom>
          <a:noFill/>
          <a:ln/>
        </p:spPr>
        <p:txBody>
          <a:bodyPr wrap="square" lIns="0" tIns="0" rIns="0" bIns="0" rtlCol="0" anchor="ctr"/>
          <a:lstStyle/>
          <a:p>
            <a:pPr indent="0" marL="0">
              <a:buNone/>
            </a:pPr>
            <a:r>
              <a:rPr lang="en-US" sz="740" dirty="0">
                <a:solidFill>
                  <a:srgbClr val="16202E"/>
                </a:solidFill>
                <a:latin typeface="Consolas" pitchFamily="34" charset="0"/>
                <a:ea typeface="Consolas" pitchFamily="34" charset="-122"/>
                <a:cs typeface="Consolas" pitchFamily="34" charset="-120"/>
              </a:rPr>
              <a:t>aws ecr get-login-password | docker login --username AWS ...</a:t>
            </a:r>
            <a:endParaRPr lang="en-US" sz="740" dirty="0"/>
          </a:p>
        </p:txBody>
      </p:sp>
      <p:sp>
        <p:nvSpPr>
          <p:cNvPr id="51" name="Shape 49"/>
          <p:cNvSpPr/>
          <p:nvPr/>
        </p:nvSpPr>
        <p:spPr>
          <a:xfrm>
            <a:off x="6473952" y="3547872"/>
            <a:ext cx="5166360" cy="228600"/>
          </a:xfrm>
          <a:prstGeom prst="roundRect">
            <a:avLst>
              <a:gd name="adj" fmla="val 8000"/>
            </a:avLst>
          </a:prstGeom>
          <a:solidFill>
            <a:srgbClr val="F2F5F9"/>
          </a:solidFill>
          <a:ln w="9525">
            <a:solidFill>
              <a:srgbClr val="CBD4E1"/>
            </a:solidFill>
            <a:prstDash val="solid"/>
          </a:ln>
        </p:spPr>
      </p:sp>
      <p:sp>
        <p:nvSpPr>
          <p:cNvPr id="52" name="Text 50"/>
          <p:cNvSpPr txBox="1"/>
          <p:nvPr/>
        </p:nvSpPr>
        <p:spPr>
          <a:xfrm>
            <a:off x="6583680" y="3547872"/>
            <a:ext cx="4983480" cy="228600"/>
          </a:xfrm>
          <a:prstGeom prst="rect">
            <a:avLst/>
          </a:prstGeom>
          <a:noFill/>
          <a:ln/>
        </p:spPr>
        <p:txBody>
          <a:bodyPr wrap="square" lIns="0" tIns="0" rIns="0" bIns="0" rtlCol="0" anchor="ctr"/>
          <a:lstStyle/>
          <a:p>
            <a:pPr indent="0" marL="0">
              <a:buNone/>
            </a:pPr>
            <a:r>
              <a:rPr lang="en-US" sz="740" dirty="0">
                <a:solidFill>
                  <a:srgbClr val="16202E"/>
                </a:solidFill>
                <a:latin typeface="Consolas" pitchFamily="34" charset="0"/>
                <a:ea typeface="Consolas" pitchFamily="34" charset="-122"/>
                <a:cs typeface="Consolas" pitchFamily="34" charset="-120"/>
              </a:rPr>
              <a:t>docker push $ACCOUNT.dkr.ecr.$REGION.amazonaws.com/salescoach-ai</a:t>
            </a:r>
            <a:endParaRPr lang="en-US" sz="740" dirty="0"/>
          </a:p>
        </p:txBody>
      </p:sp>
      <p:sp>
        <p:nvSpPr>
          <p:cNvPr id="53" name="Shape 51"/>
          <p:cNvSpPr/>
          <p:nvPr/>
        </p:nvSpPr>
        <p:spPr>
          <a:xfrm>
            <a:off x="6473952" y="3813048"/>
            <a:ext cx="5166360" cy="228600"/>
          </a:xfrm>
          <a:prstGeom prst="roundRect">
            <a:avLst>
              <a:gd name="adj" fmla="val 8000"/>
            </a:avLst>
          </a:prstGeom>
          <a:solidFill>
            <a:srgbClr val="F2F5F9"/>
          </a:solidFill>
          <a:ln w="9525">
            <a:solidFill>
              <a:srgbClr val="CBD4E1"/>
            </a:solidFill>
            <a:prstDash val="solid"/>
          </a:ln>
        </p:spPr>
      </p:sp>
      <p:sp>
        <p:nvSpPr>
          <p:cNvPr id="54" name="Text 52"/>
          <p:cNvSpPr txBox="1"/>
          <p:nvPr/>
        </p:nvSpPr>
        <p:spPr>
          <a:xfrm>
            <a:off x="6583680" y="3813048"/>
            <a:ext cx="4983480" cy="228600"/>
          </a:xfrm>
          <a:prstGeom prst="rect">
            <a:avLst/>
          </a:prstGeom>
          <a:noFill/>
          <a:ln/>
        </p:spPr>
        <p:txBody>
          <a:bodyPr wrap="square" lIns="0" tIns="0" rIns="0" bIns="0" rtlCol="0" anchor="ctr"/>
          <a:lstStyle/>
          <a:p>
            <a:pPr indent="0" marL="0">
              <a:buNone/>
            </a:pPr>
            <a:r>
              <a:rPr lang="en-US" sz="740" dirty="0">
                <a:solidFill>
                  <a:srgbClr val="16202E"/>
                </a:solidFill>
                <a:latin typeface="Consolas" pitchFamily="34" charset="0"/>
                <a:ea typeface="Consolas" pitchFamily="34" charset="-122"/>
                <a:cs typeface="Consolas" pitchFamily="34" charset="-120"/>
              </a:rPr>
              <a:t>aws ecs update-service --cluster salescoach-cluster \</a:t>
            </a:r>
            <a:endParaRPr lang="en-US" sz="740" dirty="0"/>
          </a:p>
        </p:txBody>
      </p:sp>
      <p:sp>
        <p:nvSpPr>
          <p:cNvPr id="55" name="Shape 53"/>
          <p:cNvSpPr/>
          <p:nvPr/>
        </p:nvSpPr>
        <p:spPr>
          <a:xfrm>
            <a:off x="6473952" y="4078224"/>
            <a:ext cx="5166360" cy="228600"/>
          </a:xfrm>
          <a:prstGeom prst="roundRect">
            <a:avLst>
              <a:gd name="adj" fmla="val 8000"/>
            </a:avLst>
          </a:prstGeom>
          <a:solidFill>
            <a:srgbClr val="F2F5F9"/>
          </a:solidFill>
          <a:ln w="9525">
            <a:solidFill>
              <a:srgbClr val="CBD4E1"/>
            </a:solidFill>
            <a:prstDash val="solid"/>
          </a:ln>
        </p:spPr>
      </p:sp>
      <p:sp>
        <p:nvSpPr>
          <p:cNvPr id="56" name="Text 54"/>
          <p:cNvSpPr txBox="1"/>
          <p:nvPr/>
        </p:nvSpPr>
        <p:spPr>
          <a:xfrm>
            <a:off x="6583680" y="4078224"/>
            <a:ext cx="4983480" cy="228600"/>
          </a:xfrm>
          <a:prstGeom prst="rect">
            <a:avLst/>
          </a:prstGeom>
          <a:noFill/>
          <a:ln/>
        </p:spPr>
        <p:txBody>
          <a:bodyPr wrap="square" lIns="0" tIns="0" rIns="0" bIns="0" rtlCol="0" anchor="ctr"/>
          <a:lstStyle/>
          <a:p>
            <a:pPr indent="0" marL="0">
              <a:buNone/>
            </a:pPr>
            <a:r>
              <a:rPr lang="en-US" sz="740" dirty="0">
                <a:solidFill>
                  <a:srgbClr val="16202E"/>
                </a:solidFill>
                <a:latin typeface="Consolas" pitchFamily="34" charset="0"/>
                <a:ea typeface="Consolas" pitchFamily="34" charset="-122"/>
                <a:cs typeface="Consolas" pitchFamily="34" charset="-120"/>
              </a:rPr>
              <a:t>    --service salescoach-svc --force-new-deployment</a:t>
            </a:r>
            <a:endParaRPr lang="en-US" sz="740" dirty="0"/>
          </a:p>
        </p:txBody>
      </p:sp>
      <p:sp>
        <p:nvSpPr>
          <p:cNvPr id="57" name="Text 55"/>
          <p:cNvSpPr txBox="1"/>
          <p:nvPr/>
        </p:nvSpPr>
        <p:spPr>
          <a:xfrm>
            <a:off x="6473952" y="4407408"/>
            <a:ext cx="5166360" cy="713232"/>
          </a:xfrm>
          <a:prstGeom prst="rect">
            <a:avLst/>
          </a:prstGeom>
          <a:noFill/>
          <a:ln/>
        </p:spPr>
        <p:txBody>
          <a:bodyPr wrap="square" lIns="0" tIns="0" rIns="0" bIns="0" rtlCol="0" anchor="t"/>
          <a:lstStyle/>
          <a:p>
            <a:pPr algn="l" indent="0" marL="0">
              <a:lnSpc>
                <a:spcPct val="115000"/>
              </a:lnSpc>
              <a:buNone/>
            </a:pPr>
            <a:r>
              <a:rPr lang="en-US" sz="840" dirty="0">
                <a:solidFill>
                  <a:srgbClr val="354052"/>
                </a:solidFill>
                <a:latin typeface="Segoe UI" pitchFamily="34" charset="0"/>
                <a:ea typeface="Segoe UI" pitchFamily="34" charset="-122"/>
                <a:cs typeface="Segoe UI" pitchFamily="34" charset="-120"/>
              </a:rPr>
              <a:t>The pytest gate runs in CI before any image is built, so a failing test blocks the push to ECR. Images are tagged by git SHA and never overwritten, which makes any deployment traceable to an exact commit and reversible by redeploying the previous tag.</a:t>
            </a:r>
            <a:endParaRPr lang="en-US" sz="840" dirty="0"/>
          </a:p>
        </p:txBody>
      </p:sp>
      <p:sp>
        <p:nvSpPr>
          <p:cNvPr id="58" name="Shape 56"/>
          <p:cNvSpPr/>
          <p:nvPr/>
        </p:nvSpPr>
        <p:spPr>
          <a:xfrm>
            <a:off x="411480" y="5285232"/>
            <a:ext cx="11384280" cy="868680"/>
          </a:xfrm>
          <a:prstGeom prst="roundRect">
            <a:avLst>
              <a:gd name="adj" fmla="val 4211"/>
            </a:avLst>
          </a:prstGeom>
          <a:solidFill>
            <a:srgbClr val="F4F7FB"/>
          </a:solidFill>
          <a:ln w="12700">
            <a:solidFill>
              <a:srgbClr val="CBD4E1"/>
            </a:solidFill>
            <a:prstDash val="solid"/>
          </a:ln>
        </p:spPr>
      </p:sp>
      <p:sp>
        <p:nvSpPr>
          <p:cNvPr id="59" name="Text 57"/>
          <p:cNvSpPr txBox="1"/>
          <p:nvPr/>
        </p:nvSpPr>
        <p:spPr>
          <a:xfrm>
            <a:off x="640080" y="5376672"/>
            <a:ext cx="3657600" cy="219456"/>
          </a:xfrm>
          <a:prstGeom prst="rect">
            <a:avLst/>
          </a:prstGeom>
          <a:noFill/>
          <a:ln/>
        </p:spPr>
        <p:txBody>
          <a:bodyPr wrap="square" lIns="0" tIns="0" rIns="0" bIns="0" rtlCol="0" anchor="ctr"/>
          <a:lstStyle/>
          <a:p>
            <a:pPr algn="l" indent="0" marL="0">
              <a:buNone/>
            </a:pPr>
            <a:r>
              <a:rPr lang="en-US" sz="950" b="1" dirty="0">
                <a:solidFill>
                  <a:srgbClr val="0B2E5C"/>
                </a:solidFill>
                <a:latin typeface="Segoe UI" pitchFamily="34" charset="0"/>
                <a:ea typeface="Segoe UI" pitchFamily="34" charset="-122"/>
                <a:cs typeface="Segoe UI" pitchFamily="34" charset="-120"/>
              </a:rPr>
              <a:t>HANDOVER CHECKLIST</a:t>
            </a:r>
            <a:endParaRPr lang="en-US" sz="950" dirty="0"/>
          </a:p>
        </p:txBody>
      </p:sp>
      <p:sp>
        <p:nvSpPr>
          <p:cNvPr id="60" name="Text 58"/>
          <p:cNvSpPr txBox="1"/>
          <p:nvPr/>
        </p:nvSpPr>
        <p:spPr>
          <a:xfrm>
            <a:off x="621792" y="5632704"/>
            <a:ext cx="2139696" cy="420624"/>
          </a:xfrm>
          <a:prstGeom prst="rect">
            <a:avLst/>
          </a:prstGeom>
          <a:noFill/>
          <a:ln/>
        </p:spPr>
        <p:txBody>
          <a:bodyPr wrap="square" lIns="0" tIns="0" rIns="0" bIns="0" rtlCol="0" anchor="ctr"/>
          <a:lstStyle/>
          <a:p>
            <a:pPr indent="0" marL="0">
              <a:buNone/>
            </a:pPr>
            <a:r>
              <a:rPr lang="en-US" sz="760" dirty="0">
                <a:solidFill>
                  <a:srgbClr val="5B6577"/>
                </a:solidFill>
                <a:latin typeface="Segoe UI" pitchFamily="34" charset="0"/>
                <a:ea typeface="Segoe UI" pitchFamily="34" charset="-122"/>
                <a:cs typeface="Segoe UI" pitchFamily="34" charset="-120"/>
              </a:rPr>
              <a:t>[ ] Repository transferred to client org</a:t>
            </a:r>
            <a:endParaRPr lang="en-US" sz="760" dirty="0"/>
          </a:p>
        </p:txBody>
      </p:sp>
      <p:sp>
        <p:nvSpPr>
          <p:cNvPr id="61" name="Text 59"/>
          <p:cNvSpPr txBox="1"/>
          <p:nvPr/>
        </p:nvSpPr>
        <p:spPr>
          <a:xfrm>
            <a:off x="2852928" y="5632704"/>
            <a:ext cx="2139696" cy="420624"/>
          </a:xfrm>
          <a:prstGeom prst="rect">
            <a:avLst/>
          </a:prstGeom>
          <a:noFill/>
          <a:ln/>
        </p:spPr>
        <p:txBody>
          <a:bodyPr wrap="square" lIns="0" tIns="0" rIns="0" bIns="0" rtlCol="0" anchor="ctr"/>
          <a:lstStyle/>
          <a:p>
            <a:pPr indent="0" marL="0">
              <a:buNone/>
            </a:pPr>
            <a:r>
              <a:rPr lang="en-US" sz="760" dirty="0">
                <a:solidFill>
                  <a:srgbClr val="5B6577"/>
                </a:solidFill>
                <a:latin typeface="Segoe UI" pitchFamily="34" charset="0"/>
                <a:ea typeface="Segoe UI" pitchFamily="34" charset="-122"/>
                <a:cs typeface="Segoe UI" pitchFamily="34" charset="-120"/>
              </a:rPr>
              <a:t>[ ] Access granted to named reviewers</a:t>
            </a:r>
            <a:endParaRPr lang="en-US" sz="760" dirty="0"/>
          </a:p>
        </p:txBody>
      </p:sp>
      <p:sp>
        <p:nvSpPr>
          <p:cNvPr id="62" name="Text 60"/>
          <p:cNvSpPr txBox="1"/>
          <p:nvPr/>
        </p:nvSpPr>
        <p:spPr>
          <a:xfrm>
            <a:off x="5084064" y="5632704"/>
            <a:ext cx="2139696" cy="420624"/>
          </a:xfrm>
          <a:prstGeom prst="rect">
            <a:avLst/>
          </a:prstGeom>
          <a:noFill/>
          <a:ln/>
        </p:spPr>
        <p:txBody>
          <a:bodyPr wrap="square" lIns="0" tIns="0" rIns="0" bIns="0" rtlCol="0" anchor="ctr"/>
          <a:lstStyle/>
          <a:p>
            <a:pPr indent="0" marL="0">
              <a:buNone/>
            </a:pPr>
            <a:r>
              <a:rPr lang="en-US" sz="760" dirty="0">
                <a:solidFill>
                  <a:srgbClr val="5B6577"/>
                </a:solidFill>
                <a:latin typeface="Segoe UI" pitchFamily="34" charset="0"/>
                <a:ea typeface="Segoe UI" pitchFamily="34" charset="-122"/>
                <a:cs typeface="Segoe UI" pitchFamily="34" charset="-120"/>
              </a:rPr>
              <a:t>[ ] Secrets moved to Secrets Manager</a:t>
            </a:r>
            <a:endParaRPr lang="en-US" sz="760" dirty="0"/>
          </a:p>
        </p:txBody>
      </p:sp>
      <p:sp>
        <p:nvSpPr>
          <p:cNvPr id="63" name="Text 61"/>
          <p:cNvSpPr txBox="1"/>
          <p:nvPr/>
        </p:nvSpPr>
        <p:spPr>
          <a:xfrm>
            <a:off x="7315200" y="5632704"/>
            <a:ext cx="2139696" cy="420624"/>
          </a:xfrm>
          <a:prstGeom prst="rect">
            <a:avLst/>
          </a:prstGeom>
          <a:noFill/>
          <a:ln/>
        </p:spPr>
        <p:txBody>
          <a:bodyPr wrap="square" lIns="0" tIns="0" rIns="0" bIns="0" rtlCol="0" anchor="ctr"/>
          <a:lstStyle/>
          <a:p>
            <a:pPr indent="0" marL="0">
              <a:buNone/>
            </a:pPr>
            <a:r>
              <a:rPr lang="en-US" sz="760" dirty="0">
                <a:solidFill>
                  <a:srgbClr val="5B6577"/>
                </a:solidFill>
                <a:latin typeface="Segoe UI" pitchFamily="34" charset="0"/>
                <a:ea typeface="Segoe UI" pitchFamily="34" charset="-122"/>
                <a:cs typeface="Segoe UI" pitchFamily="34" charset="-120"/>
              </a:rPr>
              <a:t>[ ] CI/CD connected to client AWS account</a:t>
            </a:r>
            <a:endParaRPr lang="en-US" sz="760" dirty="0"/>
          </a:p>
        </p:txBody>
      </p:sp>
      <p:sp>
        <p:nvSpPr>
          <p:cNvPr id="64" name="Text 62"/>
          <p:cNvSpPr txBox="1"/>
          <p:nvPr/>
        </p:nvSpPr>
        <p:spPr>
          <a:xfrm>
            <a:off x="9546336" y="5632704"/>
            <a:ext cx="2139696" cy="420624"/>
          </a:xfrm>
          <a:prstGeom prst="rect">
            <a:avLst/>
          </a:prstGeom>
          <a:noFill/>
          <a:ln/>
        </p:spPr>
        <p:txBody>
          <a:bodyPr wrap="square" lIns="0" tIns="0" rIns="0" bIns="0" rtlCol="0" anchor="ctr"/>
          <a:lstStyle/>
          <a:p>
            <a:pPr indent="0" marL="0">
              <a:buNone/>
            </a:pPr>
            <a:r>
              <a:rPr lang="en-US" sz="760" dirty="0">
                <a:solidFill>
                  <a:srgbClr val="5B6577"/>
                </a:solidFill>
                <a:latin typeface="Segoe UI" pitchFamily="34" charset="0"/>
                <a:ea typeface="Segoe UI" pitchFamily="34" charset="-122"/>
                <a:cs typeface="Segoe UI" pitchFamily="34" charset="-120"/>
              </a:rPr>
              <a:t>[ ] First deployment verified on the endpoint</a:t>
            </a:r>
            <a:endParaRPr lang="en-US" sz="7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B2E5C"/>
          </a:solidFill>
          <a:ln/>
        </p:spPr>
      </p:sp>
      <p:sp>
        <p:nvSpPr>
          <p:cNvPr id="3" name="Text 1"/>
          <p:cNvSpPr txBox="1"/>
          <p:nvPr/>
        </p:nvSpPr>
        <p:spPr>
          <a:xfrm>
            <a:off x="411480" y="128016"/>
            <a:ext cx="640080" cy="530352"/>
          </a:xfrm>
          <a:prstGeom prst="rect">
            <a:avLst/>
          </a:prstGeom>
          <a:noFill/>
          <a:ln/>
        </p:spPr>
        <p:txBody>
          <a:bodyPr wrap="square" lIns="0" tIns="0" rIns="0" bIns="0" rtlCol="0" anchor="ctr"/>
          <a:lstStyle/>
          <a:p>
            <a:pPr algn="l" indent="0" marL="0">
              <a:buNone/>
            </a:pPr>
            <a:r>
              <a:rPr lang="en-US" sz="2600" b="1" dirty="0">
                <a:solidFill>
                  <a:srgbClr val="3D6FA8"/>
                </a:solidFill>
                <a:latin typeface="Segoe UI" pitchFamily="34" charset="0"/>
                <a:ea typeface="Segoe UI" pitchFamily="34" charset="-122"/>
                <a:cs typeface="Segoe UI" pitchFamily="34" charset="-120"/>
              </a:rPr>
              <a:t>06</a:t>
            </a:r>
            <a:endParaRPr lang="en-US" sz="2600" dirty="0"/>
          </a:p>
        </p:txBody>
      </p:sp>
      <p:sp>
        <p:nvSpPr>
          <p:cNvPr id="4" name="Text 2"/>
          <p:cNvSpPr txBox="1"/>
          <p:nvPr/>
        </p:nvSpPr>
        <p:spPr>
          <a:xfrm>
            <a:off x="1051560" y="109728"/>
            <a:ext cx="8412480" cy="329184"/>
          </a:xfrm>
          <a:prstGeom prst="rect">
            <a:avLst/>
          </a:prstGeom>
          <a:noFill/>
          <a:ln/>
        </p:spPr>
        <p:txBody>
          <a:bodyPr wrap="square" lIns="0" tIns="0" rIns="0" bIns="0" rtlCol="0" anchor="ctr"/>
          <a:lstStyle/>
          <a:p>
            <a:pPr indent="0" marL="0">
              <a:buNone/>
            </a:pPr>
            <a:r>
              <a:rPr lang="en-US" sz="2100" b="1" dirty="0">
                <a:solidFill>
                  <a:srgbClr val="FFFFFF"/>
                </a:solidFill>
                <a:latin typeface="Segoe UI" pitchFamily="34" charset="0"/>
                <a:ea typeface="Segoe UI" pitchFamily="34" charset="-122"/>
                <a:cs typeface="Segoe UI" pitchFamily="34" charset="-120"/>
              </a:rPr>
              <a:t>AI Squad Contribution</a:t>
            </a:r>
            <a:endParaRPr lang="en-US" sz="2100" dirty="0"/>
          </a:p>
        </p:txBody>
      </p:sp>
      <p:sp>
        <p:nvSpPr>
          <p:cNvPr id="5" name="Text 3"/>
          <p:cNvSpPr txBox="1"/>
          <p:nvPr/>
        </p:nvSpPr>
        <p:spPr>
          <a:xfrm>
            <a:off x="1051560" y="429768"/>
            <a:ext cx="9601200" cy="256032"/>
          </a:xfrm>
          <a:prstGeom prst="rect">
            <a:avLst/>
          </a:prstGeom>
          <a:noFill/>
          <a:ln/>
        </p:spPr>
        <p:txBody>
          <a:bodyPr wrap="square" lIns="0" tIns="0" rIns="0" bIns="0" rtlCol="0" anchor="ctr"/>
          <a:lstStyle/>
          <a:p>
            <a:pPr indent="0" marL="0">
              <a:buNone/>
            </a:pPr>
            <a:r>
              <a:rPr lang="en-US" sz="1050" dirty="0">
                <a:solidFill>
                  <a:srgbClr val="A9C0DE"/>
                </a:solidFill>
                <a:latin typeface="Segoe UI" pitchFamily="34" charset="0"/>
                <a:ea typeface="Segoe UI" pitchFamily="34" charset="-122"/>
                <a:cs typeface="Segoe UI" pitchFamily="34" charset="-120"/>
              </a:rPr>
              <a:t>Who built what, and how the work was delivered</a:t>
            </a:r>
            <a:endParaRPr lang="en-US" sz="1050" dirty="0"/>
          </a:p>
        </p:txBody>
      </p:sp>
      <p:sp>
        <p:nvSpPr>
          <p:cNvPr id="6" name="Text 4"/>
          <p:cNvSpPr txBox="1"/>
          <p:nvPr/>
        </p:nvSpPr>
        <p:spPr>
          <a:xfrm>
            <a:off x="9357055" y="256032"/>
            <a:ext cx="2423160" cy="274320"/>
          </a:xfrm>
          <a:prstGeom prst="rect">
            <a:avLst/>
          </a:prstGeom>
          <a:noFill/>
          <a:ln/>
        </p:spPr>
        <p:txBody>
          <a:bodyPr wrap="square" lIns="0" tIns="0" rIns="0" bIns="0" rtlCol="0" anchor="ctr"/>
          <a:lstStyle/>
          <a:p>
            <a:pPr algn="r" indent="0" marL="0">
              <a:buNone/>
            </a:pPr>
            <a:r>
              <a:rPr lang="en-US" sz="1000" dirty="0">
                <a:solidFill>
                  <a:srgbClr val="7FA3CC"/>
                </a:solidFill>
                <a:latin typeface="Segoe UI" pitchFamily="34" charset="0"/>
                <a:ea typeface="Segoe UI" pitchFamily="34" charset="-122"/>
                <a:cs typeface="Segoe UI" pitchFamily="34" charset="-120"/>
              </a:rPr>
              <a:t>GCash Sales Coach AI</a:t>
            </a:r>
            <a:endParaRPr lang="en-US" sz="1000" dirty="0"/>
          </a:p>
        </p:txBody>
      </p:sp>
      <p:sp>
        <p:nvSpPr>
          <p:cNvPr id="7" name="Text 5"/>
          <p:cNvSpPr txBox="1"/>
          <p:nvPr/>
        </p:nvSpPr>
        <p:spPr>
          <a:xfrm>
            <a:off x="11140135" y="6473952"/>
            <a:ext cx="640080" cy="237744"/>
          </a:xfrm>
          <a:prstGeom prst="rect">
            <a:avLst/>
          </a:prstGeom>
          <a:noFill/>
          <a:ln/>
        </p:spPr>
        <p:txBody>
          <a:bodyPr wrap="square" lIns="0" tIns="0" rIns="0" bIns="0" rtlCol="0" anchor="ctr"/>
          <a:lstStyle/>
          <a:p>
            <a:pPr algn="r" indent="0" marL="0">
              <a:buNone/>
            </a:pPr>
            <a:r>
              <a:rPr lang="en-US" sz="900" dirty="0">
                <a:solidFill>
                  <a:srgbClr val="8A94A6"/>
                </a:solidFill>
                <a:latin typeface="Segoe UI" pitchFamily="34" charset="0"/>
                <a:ea typeface="Segoe UI" pitchFamily="34" charset="-122"/>
                <a:cs typeface="Segoe UI" pitchFamily="34" charset="-120"/>
              </a:rPr>
              <a:t>6 / 6</a:t>
            </a:r>
            <a:endParaRPr lang="en-US" sz="900" dirty="0"/>
          </a:p>
        </p:txBody>
      </p:sp>
      <p:sp>
        <p:nvSpPr>
          <p:cNvPr id="8" name="Shape 6"/>
          <p:cNvSpPr/>
          <p:nvPr/>
        </p:nvSpPr>
        <p:spPr>
          <a:xfrm>
            <a:off x="411480" y="1024128"/>
            <a:ext cx="11384280" cy="2395728"/>
          </a:xfrm>
          <a:prstGeom prst="roundRect">
            <a:avLst>
              <a:gd name="adj" fmla="val 1527"/>
            </a:avLst>
          </a:prstGeom>
          <a:solidFill>
            <a:srgbClr val="FFFBF3"/>
          </a:solidFill>
          <a:ln w="12700">
            <a:solidFill>
              <a:srgbClr val="B4690E"/>
            </a:solidFill>
            <a:prstDash val="dash"/>
          </a:ln>
        </p:spPr>
      </p:sp>
      <p:sp>
        <p:nvSpPr>
          <p:cNvPr id="9" name="Text 7"/>
          <p:cNvSpPr txBox="1"/>
          <p:nvPr/>
        </p:nvSpPr>
        <p:spPr>
          <a:xfrm>
            <a:off x="640080" y="1133856"/>
            <a:ext cx="7315200" cy="219456"/>
          </a:xfrm>
          <a:prstGeom prst="rect">
            <a:avLst/>
          </a:prstGeom>
          <a:noFill/>
          <a:ln/>
        </p:spPr>
        <p:txBody>
          <a:bodyPr wrap="square" lIns="0" tIns="0" rIns="0" bIns="0" rtlCol="0" anchor="ctr"/>
          <a:lstStyle/>
          <a:p>
            <a:pPr algn="l" indent="0" marL="0">
              <a:buNone/>
            </a:pPr>
            <a:r>
              <a:rPr lang="en-US" sz="1000" b="1" dirty="0">
                <a:solidFill>
                  <a:srgbClr val="B4690E"/>
                </a:solidFill>
                <a:latin typeface="Segoe UI" pitchFamily="34" charset="0"/>
                <a:ea typeface="Segoe UI" pitchFamily="34" charset="-122"/>
                <a:cs typeface="Segoe UI" pitchFamily="34" charset="-120"/>
              </a:rPr>
              <a:t>SQUAD &amp; OWNERSHIP  —  7 people:  4 AI Builders  ·  1 MLOps  ·  1 QA  ·  1 Scrum Master</a:t>
            </a:r>
            <a:endParaRPr lang="en-US" sz="1000" dirty="0"/>
          </a:p>
        </p:txBody>
      </p:sp>
      <p:sp>
        <p:nvSpPr>
          <p:cNvPr id="10" name="Shape 8"/>
          <p:cNvSpPr/>
          <p:nvPr/>
        </p:nvSpPr>
        <p:spPr>
          <a:xfrm>
            <a:off x="640080" y="1417320"/>
            <a:ext cx="1417320" cy="274320"/>
          </a:xfrm>
          <a:prstGeom prst="rect">
            <a:avLst/>
          </a:prstGeom>
          <a:solidFill>
            <a:srgbClr val="0B2E5C"/>
          </a:solidFill>
          <a:ln/>
        </p:spPr>
      </p:sp>
      <p:sp>
        <p:nvSpPr>
          <p:cNvPr id="11" name="Text 9"/>
          <p:cNvSpPr txBox="1"/>
          <p:nvPr/>
        </p:nvSpPr>
        <p:spPr>
          <a:xfrm>
            <a:off x="731520" y="1417320"/>
            <a:ext cx="1234440" cy="274320"/>
          </a:xfrm>
          <a:prstGeom prst="rect">
            <a:avLst/>
          </a:prstGeom>
          <a:noFill/>
          <a:ln/>
        </p:spPr>
        <p:txBody>
          <a:bodyPr wrap="square" lIns="0" tIns="0" rIns="0" bIns="0" rtlCol="0" anchor="ctr"/>
          <a:lstStyle/>
          <a:p>
            <a:pPr indent="0" marL="0">
              <a:buNone/>
            </a:pPr>
            <a:r>
              <a:rPr lang="en-US" sz="820" b="1" dirty="0">
                <a:solidFill>
                  <a:srgbClr val="FFFFFF"/>
                </a:solidFill>
                <a:latin typeface="Segoe UI" pitchFamily="34" charset="0"/>
                <a:ea typeface="Segoe UI" pitchFamily="34" charset="-122"/>
                <a:cs typeface="Segoe UI" pitchFamily="34" charset="-120"/>
              </a:rPr>
              <a:t>ROLE</a:t>
            </a:r>
            <a:endParaRPr lang="en-US" sz="820" dirty="0"/>
          </a:p>
        </p:txBody>
      </p:sp>
      <p:sp>
        <p:nvSpPr>
          <p:cNvPr id="12" name="Shape 10"/>
          <p:cNvSpPr/>
          <p:nvPr/>
        </p:nvSpPr>
        <p:spPr>
          <a:xfrm>
            <a:off x="2112264" y="1417320"/>
            <a:ext cx="2286000" cy="274320"/>
          </a:xfrm>
          <a:prstGeom prst="rect">
            <a:avLst/>
          </a:prstGeom>
          <a:solidFill>
            <a:srgbClr val="0B2E5C"/>
          </a:solidFill>
          <a:ln/>
        </p:spPr>
      </p:sp>
      <p:sp>
        <p:nvSpPr>
          <p:cNvPr id="13" name="Text 11"/>
          <p:cNvSpPr txBox="1"/>
          <p:nvPr/>
        </p:nvSpPr>
        <p:spPr>
          <a:xfrm>
            <a:off x="2203704" y="1417320"/>
            <a:ext cx="2103120" cy="274320"/>
          </a:xfrm>
          <a:prstGeom prst="rect">
            <a:avLst/>
          </a:prstGeom>
          <a:noFill/>
          <a:ln/>
        </p:spPr>
        <p:txBody>
          <a:bodyPr wrap="square" lIns="0" tIns="0" rIns="0" bIns="0" rtlCol="0" anchor="ctr"/>
          <a:lstStyle/>
          <a:p>
            <a:pPr indent="0" marL="0">
              <a:buNone/>
            </a:pPr>
            <a:r>
              <a:rPr lang="en-US" sz="820" b="1" dirty="0">
                <a:solidFill>
                  <a:srgbClr val="FFFFFF"/>
                </a:solidFill>
                <a:latin typeface="Segoe UI" pitchFamily="34" charset="0"/>
                <a:ea typeface="Segoe UI" pitchFamily="34" charset="-122"/>
                <a:cs typeface="Segoe UI" pitchFamily="34" charset="-120"/>
              </a:rPr>
              <a:t>NAME</a:t>
            </a:r>
            <a:endParaRPr lang="en-US" sz="820" dirty="0"/>
          </a:p>
        </p:txBody>
      </p:sp>
      <p:sp>
        <p:nvSpPr>
          <p:cNvPr id="14" name="Shape 12"/>
          <p:cNvSpPr/>
          <p:nvPr/>
        </p:nvSpPr>
        <p:spPr>
          <a:xfrm>
            <a:off x="4453128" y="1417320"/>
            <a:ext cx="5120640" cy="274320"/>
          </a:xfrm>
          <a:prstGeom prst="rect">
            <a:avLst/>
          </a:prstGeom>
          <a:solidFill>
            <a:srgbClr val="0B2E5C"/>
          </a:solidFill>
          <a:ln/>
        </p:spPr>
      </p:sp>
      <p:sp>
        <p:nvSpPr>
          <p:cNvPr id="15" name="Text 13"/>
          <p:cNvSpPr txBox="1"/>
          <p:nvPr/>
        </p:nvSpPr>
        <p:spPr>
          <a:xfrm>
            <a:off x="4544568" y="1417320"/>
            <a:ext cx="4937760" cy="274320"/>
          </a:xfrm>
          <a:prstGeom prst="rect">
            <a:avLst/>
          </a:prstGeom>
          <a:noFill/>
          <a:ln/>
        </p:spPr>
        <p:txBody>
          <a:bodyPr wrap="square" lIns="0" tIns="0" rIns="0" bIns="0" rtlCol="0" anchor="ctr"/>
          <a:lstStyle/>
          <a:p>
            <a:pPr indent="0" marL="0">
              <a:buNone/>
            </a:pPr>
            <a:r>
              <a:rPr lang="en-US" sz="820" b="1" dirty="0">
                <a:solidFill>
                  <a:srgbClr val="FFFFFF"/>
                </a:solidFill>
                <a:latin typeface="Segoe UI" pitchFamily="34" charset="0"/>
                <a:ea typeface="Segoe UI" pitchFamily="34" charset="-122"/>
                <a:cs typeface="Segoe UI" pitchFamily="34" charset="-120"/>
              </a:rPr>
              <a:t>CONTRIBUTION</a:t>
            </a:r>
            <a:endParaRPr lang="en-US" sz="820" dirty="0"/>
          </a:p>
        </p:txBody>
      </p:sp>
      <p:sp>
        <p:nvSpPr>
          <p:cNvPr id="16" name="Shape 14"/>
          <p:cNvSpPr/>
          <p:nvPr/>
        </p:nvSpPr>
        <p:spPr>
          <a:xfrm>
            <a:off x="9628632" y="1417320"/>
            <a:ext cx="1463040" cy="274320"/>
          </a:xfrm>
          <a:prstGeom prst="rect">
            <a:avLst/>
          </a:prstGeom>
          <a:solidFill>
            <a:srgbClr val="0B2E5C"/>
          </a:solidFill>
          <a:ln/>
        </p:spPr>
      </p:sp>
      <p:sp>
        <p:nvSpPr>
          <p:cNvPr id="17" name="Text 15"/>
          <p:cNvSpPr txBox="1"/>
          <p:nvPr/>
        </p:nvSpPr>
        <p:spPr>
          <a:xfrm>
            <a:off x="9720072" y="1417320"/>
            <a:ext cx="1280160" cy="274320"/>
          </a:xfrm>
          <a:prstGeom prst="rect">
            <a:avLst/>
          </a:prstGeom>
          <a:noFill/>
          <a:ln/>
        </p:spPr>
        <p:txBody>
          <a:bodyPr wrap="square" lIns="0" tIns="0" rIns="0" bIns="0" rtlCol="0" anchor="ctr"/>
          <a:lstStyle/>
          <a:p>
            <a:pPr indent="0" marL="0">
              <a:buNone/>
            </a:pPr>
            <a:r>
              <a:rPr lang="en-US" sz="820" b="1" dirty="0">
                <a:solidFill>
                  <a:srgbClr val="FFFFFF"/>
                </a:solidFill>
                <a:latin typeface="Segoe UI" pitchFamily="34" charset="0"/>
                <a:ea typeface="Segoe UI" pitchFamily="34" charset="-122"/>
                <a:cs typeface="Segoe UI" pitchFamily="34" charset="-120"/>
              </a:rPr>
              <a:t>EFFORT</a:t>
            </a:r>
            <a:endParaRPr lang="en-US" sz="820" dirty="0"/>
          </a:p>
        </p:txBody>
      </p:sp>
      <p:sp>
        <p:nvSpPr>
          <p:cNvPr id="18" name="Shape 16"/>
          <p:cNvSpPr/>
          <p:nvPr/>
        </p:nvSpPr>
        <p:spPr>
          <a:xfrm>
            <a:off x="640080" y="1728216"/>
            <a:ext cx="10927080" cy="237744"/>
          </a:xfrm>
          <a:prstGeom prst="rect">
            <a:avLst/>
          </a:prstGeom>
          <a:solidFill>
            <a:srgbClr val="F7FAFD"/>
          </a:solidFill>
          <a:ln/>
        </p:spPr>
      </p:sp>
      <p:sp>
        <p:nvSpPr>
          <p:cNvPr id="19" name="Text 17"/>
          <p:cNvSpPr txBox="1"/>
          <p:nvPr/>
        </p:nvSpPr>
        <p:spPr>
          <a:xfrm>
            <a:off x="731520" y="1728216"/>
            <a:ext cx="1234440" cy="237744"/>
          </a:xfrm>
          <a:prstGeom prst="rect">
            <a:avLst/>
          </a:prstGeom>
          <a:noFill/>
          <a:ln/>
        </p:spPr>
        <p:txBody>
          <a:bodyPr wrap="square" lIns="0" tIns="0" rIns="0" bIns="0" rtlCol="0" anchor="ctr"/>
          <a:lstStyle/>
          <a:p>
            <a:pPr indent="0" marL="0">
              <a:buNone/>
            </a:pPr>
            <a:r>
              <a:rPr lang="en-US" sz="790" b="1" dirty="0">
                <a:solidFill>
                  <a:srgbClr val="0B2E5C"/>
                </a:solidFill>
                <a:latin typeface="Segoe UI" pitchFamily="34" charset="0"/>
                <a:ea typeface="Segoe UI" pitchFamily="34" charset="-122"/>
                <a:cs typeface="Segoe UI" pitchFamily="34" charset="-120"/>
              </a:rPr>
              <a:t>AI Builder</a:t>
            </a:r>
            <a:endParaRPr lang="en-US" sz="790" dirty="0"/>
          </a:p>
        </p:txBody>
      </p:sp>
      <p:sp>
        <p:nvSpPr>
          <p:cNvPr id="20" name="Text 18"/>
          <p:cNvSpPr txBox="1"/>
          <p:nvPr/>
        </p:nvSpPr>
        <p:spPr>
          <a:xfrm>
            <a:off x="2203704" y="1728216"/>
            <a:ext cx="2103120" cy="237744"/>
          </a:xfrm>
          <a:prstGeom prst="rect">
            <a:avLst/>
          </a:prstGeom>
          <a:noFill/>
          <a:ln/>
        </p:spPr>
        <p:txBody>
          <a:bodyPr wrap="square" lIns="0" tIns="0" rIns="0" bIns="0" rtlCol="0" anchor="ctr"/>
          <a:lstStyle/>
          <a:p>
            <a:pPr indent="0" marL="0">
              <a:buNone/>
            </a:pPr>
            <a:r>
              <a:rPr lang="en-US" sz="790" b="1" dirty="0">
                <a:solidFill>
                  <a:srgbClr val="B4690E"/>
                </a:solidFill>
                <a:latin typeface="Segoe UI" pitchFamily="34" charset="0"/>
                <a:ea typeface="Segoe UI" pitchFamily="34" charset="-122"/>
                <a:cs typeface="Segoe UI" pitchFamily="34" charset="-120"/>
              </a:rPr>
              <a:t>[ NAME ]</a:t>
            </a:r>
            <a:endParaRPr lang="en-US" sz="790" dirty="0"/>
          </a:p>
        </p:txBody>
      </p:sp>
      <p:sp>
        <p:nvSpPr>
          <p:cNvPr id="21" name="Text 19"/>
          <p:cNvSpPr txBox="1"/>
          <p:nvPr/>
        </p:nvSpPr>
        <p:spPr>
          <a:xfrm>
            <a:off x="4544568" y="1728216"/>
            <a:ext cx="4937760" cy="237744"/>
          </a:xfrm>
          <a:prstGeom prst="rect">
            <a:avLst/>
          </a:prstGeom>
          <a:noFill/>
          <a:ln/>
        </p:spPr>
        <p:txBody>
          <a:bodyPr wrap="square" lIns="0" tIns="0" rIns="0" bIns="0" rtlCol="0" anchor="ctr"/>
          <a:lstStyle/>
          <a:p>
            <a:pPr indent="0" marL="0">
              <a:buNone/>
            </a:pPr>
            <a:r>
              <a:rPr lang="en-US" sz="790" dirty="0">
                <a:solidFill>
                  <a:srgbClr val="354052"/>
                </a:solidFill>
                <a:latin typeface="Segoe UI" pitchFamily="34" charset="0"/>
                <a:ea typeface="Segoe UI" pitchFamily="34" charset="-122"/>
                <a:cs typeface="Segoe UI" pitchFamily="34" charset="-120"/>
              </a:rPr>
              <a:t>Agent architecture — LangGraph state machine, Master routing, shared state</a:t>
            </a:r>
            <a:endParaRPr lang="en-US" sz="790" dirty="0"/>
          </a:p>
        </p:txBody>
      </p:sp>
      <p:sp>
        <p:nvSpPr>
          <p:cNvPr id="22" name="Text 20"/>
          <p:cNvSpPr txBox="1"/>
          <p:nvPr/>
        </p:nvSpPr>
        <p:spPr>
          <a:xfrm>
            <a:off x="9720072" y="1728216"/>
            <a:ext cx="1280160" cy="237744"/>
          </a:xfrm>
          <a:prstGeom prst="rect">
            <a:avLst/>
          </a:prstGeom>
          <a:noFill/>
          <a:ln/>
        </p:spPr>
        <p:txBody>
          <a:bodyPr wrap="square" lIns="0" tIns="0" rIns="0" bIns="0" rtlCol="0" anchor="ctr"/>
          <a:lstStyle/>
          <a:p>
            <a:pPr indent="0" marL="0">
              <a:buNone/>
            </a:pPr>
            <a:r>
              <a:rPr lang="en-US" sz="790" b="1" dirty="0">
                <a:solidFill>
                  <a:srgbClr val="B4690E"/>
                </a:solidFill>
                <a:latin typeface="Segoe UI" pitchFamily="34" charset="0"/>
                <a:ea typeface="Segoe UI" pitchFamily="34" charset="-122"/>
                <a:cs typeface="Segoe UI" pitchFamily="34" charset="-120"/>
              </a:rPr>
              <a:t>[ __ pd ]</a:t>
            </a:r>
            <a:endParaRPr lang="en-US" sz="790" dirty="0"/>
          </a:p>
        </p:txBody>
      </p:sp>
      <p:sp>
        <p:nvSpPr>
          <p:cNvPr id="23" name="Text 21"/>
          <p:cNvSpPr txBox="1"/>
          <p:nvPr/>
        </p:nvSpPr>
        <p:spPr>
          <a:xfrm>
            <a:off x="731520" y="1965960"/>
            <a:ext cx="1234440" cy="237744"/>
          </a:xfrm>
          <a:prstGeom prst="rect">
            <a:avLst/>
          </a:prstGeom>
          <a:noFill/>
          <a:ln/>
        </p:spPr>
        <p:txBody>
          <a:bodyPr wrap="square" lIns="0" tIns="0" rIns="0" bIns="0" rtlCol="0" anchor="ctr"/>
          <a:lstStyle/>
          <a:p>
            <a:pPr indent="0" marL="0">
              <a:buNone/>
            </a:pPr>
            <a:r>
              <a:rPr lang="en-US" sz="790" b="1" dirty="0">
                <a:solidFill>
                  <a:srgbClr val="0B2E5C"/>
                </a:solidFill>
                <a:latin typeface="Segoe UI" pitchFamily="34" charset="0"/>
                <a:ea typeface="Segoe UI" pitchFamily="34" charset="-122"/>
                <a:cs typeface="Segoe UI" pitchFamily="34" charset="-120"/>
              </a:rPr>
              <a:t>AI Builder</a:t>
            </a:r>
            <a:endParaRPr lang="en-US" sz="790" dirty="0"/>
          </a:p>
        </p:txBody>
      </p:sp>
      <p:sp>
        <p:nvSpPr>
          <p:cNvPr id="24" name="Text 22"/>
          <p:cNvSpPr txBox="1"/>
          <p:nvPr/>
        </p:nvSpPr>
        <p:spPr>
          <a:xfrm>
            <a:off x="2203704" y="1965960"/>
            <a:ext cx="2103120" cy="237744"/>
          </a:xfrm>
          <a:prstGeom prst="rect">
            <a:avLst/>
          </a:prstGeom>
          <a:noFill/>
          <a:ln/>
        </p:spPr>
        <p:txBody>
          <a:bodyPr wrap="square" lIns="0" tIns="0" rIns="0" bIns="0" rtlCol="0" anchor="ctr"/>
          <a:lstStyle/>
          <a:p>
            <a:pPr indent="0" marL="0">
              <a:buNone/>
            </a:pPr>
            <a:r>
              <a:rPr lang="en-US" sz="790" b="1" dirty="0">
                <a:solidFill>
                  <a:srgbClr val="B4690E"/>
                </a:solidFill>
                <a:latin typeface="Segoe UI" pitchFamily="34" charset="0"/>
                <a:ea typeface="Segoe UI" pitchFamily="34" charset="-122"/>
                <a:cs typeface="Segoe UI" pitchFamily="34" charset="-120"/>
              </a:rPr>
              <a:t>[ NAME ]</a:t>
            </a:r>
            <a:endParaRPr lang="en-US" sz="790" dirty="0"/>
          </a:p>
        </p:txBody>
      </p:sp>
      <p:sp>
        <p:nvSpPr>
          <p:cNvPr id="25" name="Text 23"/>
          <p:cNvSpPr txBox="1"/>
          <p:nvPr/>
        </p:nvSpPr>
        <p:spPr>
          <a:xfrm>
            <a:off x="4544568" y="1965960"/>
            <a:ext cx="4937760" cy="237744"/>
          </a:xfrm>
          <a:prstGeom prst="rect">
            <a:avLst/>
          </a:prstGeom>
          <a:noFill/>
          <a:ln/>
        </p:spPr>
        <p:txBody>
          <a:bodyPr wrap="square" lIns="0" tIns="0" rIns="0" bIns="0" rtlCol="0" anchor="ctr"/>
          <a:lstStyle/>
          <a:p>
            <a:pPr indent="0" marL="0">
              <a:buNone/>
            </a:pPr>
            <a:r>
              <a:rPr lang="en-US" sz="790" dirty="0">
                <a:solidFill>
                  <a:srgbClr val="354052"/>
                </a:solidFill>
                <a:latin typeface="Segoe UI" pitchFamily="34" charset="0"/>
                <a:ea typeface="Segoe UI" pitchFamily="34" charset="-122"/>
                <a:cs typeface="Segoe UI" pitchFamily="34" charset="-120"/>
              </a:rPr>
              <a:t>Agent implementations, prompt design, tool layer and guardrails</a:t>
            </a:r>
            <a:endParaRPr lang="en-US" sz="790" dirty="0"/>
          </a:p>
        </p:txBody>
      </p:sp>
      <p:sp>
        <p:nvSpPr>
          <p:cNvPr id="26" name="Text 24"/>
          <p:cNvSpPr txBox="1"/>
          <p:nvPr/>
        </p:nvSpPr>
        <p:spPr>
          <a:xfrm>
            <a:off x="9720072" y="1965960"/>
            <a:ext cx="1280160" cy="237744"/>
          </a:xfrm>
          <a:prstGeom prst="rect">
            <a:avLst/>
          </a:prstGeom>
          <a:noFill/>
          <a:ln/>
        </p:spPr>
        <p:txBody>
          <a:bodyPr wrap="square" lIns="0" tIns="0" rIns="0" bIns="0" rtlCol="0" anchor="ctr"/>
          <a:lstStyle/>
          <a:p>
            <a:pPr indent="0" marL="0">
              <a:buNone/>
            </a:pPr>
            <a:r>
              <a:rPr lang="en-US" sz="790" b="1" dirty="0">
                <a:solidFill>
                  <a:srgbClr val="B4690E"/>
                </a:solidFill>
                <a:latin typeface="Segoe UI" pitchFamily="34" charset="0"/>
                <a:ea typeface="Segoe UI" pitchFamily="34" charset="-122"/>
                <a:cs typeface="Segoe UI" pitchFamily="34" charset="-120"/>
              </a:rPr>
              <a:t>[ __ pd ]</a:t>
            </a:r>
            <a:endParaRPr lang="en-US" sz="790" dirty="0"/>
          </a:p>
        </p:txBody>
      </p:sp>
      <p:sp>
        <p:nvSpPr>
          <p:cNvPr id="27" name="Shape 25"/>
          <p:cNvSpPr/>
          <p:nvPr/>
        </p:nvSpPr>
        <p:spPr>
          <a:xfrm>
            <a:off x="640080" y="2203704"/>
            <a:ext cx="10927080" cy="237744"/>
          </a:xfrm>
          <a:prstGeom prst="rect">
            <a:avLst/>
          </a:prstGeom>
          <a:solidFill>
            <a:srgbClr val="F7FAFD"/>
          </a:solidFill>
          <a:ln/>
        </p:spPr>
      </p:sp>
      <p:sp>
        <p:nvSpPr>
          <p:cNvPr id="28" name="Text 26"/>
          <p:cNvSpPr txBox="1"/>
          <p:nvPr/>
        </p:nvSpPr>
        <p:spPr>
          <a:xfrm>
            <a:off x="731520" y="2203704"/>
            <a:ext cx="1234440" cy="237744"/>
          </a:xfrm>
          <a:prstGeom prst="rect">
            <a:avLst/>
          </a:prstGeom>
          <a:noFill/>
          <a:ln/>
        </p:spPr>
        <p:txBody>
          <a:bodyPr wrap="square" lIns="0" tIns="0" rIns="0" bIns="0" rtlCol="0" anchor="ctr"/>
          <a:lstStyle/>
          <a:p>
            <a:pPr indent="0" marL="0">
              <a:buNone/>
            </a:pPr>
            <a:r>
              <a:rPr lang="en-US" sz="790" b="1" dirty="0">
                <a:solidFill>
                  <a:srgbClr val="0B2E5C"/>
                </a:solidFill>
                <a:latin typeface="Segoe UI" pitchFamily="34" charset="0"/>
                <a:ea typeface="Segoe UI" pitchFamily="34" charset="-122"/>
                <a:cs typeface="Segoe UI" pitchFamily="34" charset="-120"/>
              </a:rPr>
              <a:t>AI Builder</a:t>
            </a:r>
            <a:endParaRPr lang="en-US" sz="790" dirty="0"/>
          </a:p>
        </p:txBody>
      </p:sp>
      <p:sp>
        <p:nvSpPr>
          <p:cNvPr id="29" name="Text 27"/>
          <p:cNvSpPr txBox="1"/>
          <p:nvPr/>
        </p:nvSpPr>
        <p:spPr>
          <a:xfrm>
            <a:off x="2203704" y="2203704"/>
            <a:ext cx="2103120" cy="237744"/>
          </a:xfrm>
          <a:prstGeom prst="rect">
            <a:avLst/>
          </a:prstGeom>
          <a:noFill/>
          <a:ln/>
        </p:spPr>
        <p:txBody>
          <a:bodyPr wrap="square" lIns="0" tIns="0" rIns="0" bIns="0" rtlCol="0" anchor="ctr"/>
          <a:lstStyle/>
          <a:p>
            <a:pPr indent="0" marL="0">
              <a:buNone/>
            </a:pPr>
            <a:r>
              <a:rPr lang="en-US" sz="790" b="1" dirty="0">
                <a:solidFill>
                  <a:srgbClr val="B4690E"/>
                </a:solidFill>
                <a:latin typeface="Segoe UI" pitchFamily="34" charset="0"/>
                <a:ea typeface="Segoe UI" pitchFamily="34" charset="-122"/>
                <a:cs typeface="Segoe UI" pitchFamily="34" charset="-120"/>
              </a:rPr>
              <a:t>[ NAME ]</a:t>
            </a:r>
            <a:endParaRPr lang="en-US" sz="790" dirty="0"/>
          </a:p>
        </p:txBody>
      </p:sp>
      <p:sp>
        <p:nvSpPr>
          <p:cNvPr id="30" name="Text 28"/>
          <p:cNvSpPr txBox="1"/>
          <p:nvPr/>
        </p:nvSpPr>
        <p:spPr>
          <a:xfrm>
            <a:off x="4544568" y="2203704"/>
            <a:ext cx="4937760" cy="237744"/>
          </a:xfrm>
          <a:prstGeom prst="rect">
            <a:avLst/>
          </a:prstGeom>
          <a:noFill/>
          <a:ln/>
        </p:spPr>
        <p:txBody>
          <a:bodyPr wrap="square" lIns="0" tIns="0" rIns="0" bIns="0" rtlCol="0" anchor="ctr"/>
          <a:lstStyle/>
          <a:p>
            <a:pPr indent="0" marL="0">
              <a:buNone/>
            </a:pPr>
            <a:r>
              <a:rPr lang="en-US" sz="790" dirty="0">
                <a:solidFill>
                  <a:srgbClr val="354052"/>
                </a:solidFill>
                <a:latin typeface="Segoe UI" pitchFamily="34" charset="0"/>
                <a:ea typeface="Segoe UI" pitchFamily="34" charset="-122"/>
                <a:cs typeface="Segoe UI" pitchFamily="34" charset="-120"/>
              </a:rPr>
              <a:t>FastAPI services, domain model, middleware and AWS client integrations</a:t>
            </a:r>
            <a:endParaRPr lang="en-US" sz="790" dirty="0"/>
          </a:p>
        </p:txBody>
      </p:sp>
      <p:sp>
        <p:nvSpPr>
          <p:cNvPr id="31" name="Text 29"/>
          <p:cNvSpPr txBox="1"/>
          <p:nvPr/>
        </p:nvSpPr>
        <p:spPr>
          <a:xfrm>
            <a:off x="9720072" y="2203704"/>
            <a:ext cx="1280160" cy="237744"/>
          </a:xfrm>
          <a:prstGeom prst="rect">
            <a:avLst/>
          </a:prstGeom>
          <a:noFill/>
          <a:ln/>
        </p:spPr>
        <p:txBody>
          <a:bodyPr wrap="square" lIns="0" tIns="0" rIns="0" bIns="0" rtlCol="0" anchor="ctr"/>
          <a:lstStyle/>
          <a:p>
            <a:pPr indent="0" marL="0">
              <a:buNone/>
            </a:pPr>
            <a:r>
              <a:rPr lang="en-US" sz="790" b="1" dirty="0">
                <a:solidFill>
                  <a:srgbClr val="B4690E"/>
                </a:solidFill>
                <a:latin typeface="Segoe UI" pitchFamily="34" charset="0"/>
                <a:ea typeface="Segoe UI" pitchFamily="34" charset="-122"/>
                <a:cs typeface="Segoe UI" pitchFamily="34" charset="-120"/>
              </a:rPr>
              <a:t>[ __ pd ]</a:t>
            </a:r>
            <a:endParaRPr lang="en-US" sz="790" dirty="0"/>
          </a:p>
        </p:txBody>
      </p:sp>
      <p:sp>
        <p:nvSpPr>
          <p:cNvPr id="32" name="Text 30"/>
          <p:cNvSpPr txBox="1"/>
          <p:nvPr/>
        </p:nvSpPr>
        <p:spPr>
          <a:xfrm>
            <a:off x="731520" y="2441448"/>
            <a:ext cx="1234440" cy="237744"/>
          </a:xfrm>
          <a:prstGeom prst="rect">
            <a:avLst/>
          </a:prstGeom>
          <a:noFill/>
          <a:ln/>
        </p:spPr>
        <p:txBody>
          <a:bodyPr wrap="square" lIns="0" tIns="0" rIns="0" bIns="0" rtlCol="0" anchor="ctr"/>
          <a:lstStyle/>
          <a:p>
            <a:pPr indent="0" marL="0">
              <a:buNone/>
            </a:pPr>
            <a:r>
              <a:rPr lang="en-US" sz="790" b="1" dirty="0">
                <a:solidFill>
                  <a:srgbClr val="0B2E5C"/>
                </a:solidFill>
                <a:latin typeface="Segoe UI" pitchFamily="34" charset="0"/>
                <a:ea typeface="Segoe UI" pitchFamily="34" charset="-122"/>
                <a:cs typeface="Segoe UI" pitchFamily="34" charset="-120"/>
              </a:rPr>
              <a:t>AI Builder</a:t>
            </a:r>
            <a:endParaRPr lang="en-US" sz="790" dirty="0"/>
          </a:p>
        </p:txBody>
      </p:sp>
      <p:sp>
        <p:nvSpPr>
          <p:cNvPr id="33" name="Text 31"/>
          <p:cNvSpPr txBox="1"/>
          <p:nvPr/>
        </p:nvSpPr>
        <p:spPr>
          <a:xfrm>
            <a:off x="2203704" y="2441448"/>
            <a:ext cx="2103120" cy="237744"/>
          </a:xfrm>
          <a:prstGeom prst="rect">
            <a:avLst/>
          </a:prstGeom>
          <a:noFill/>
          <a:ln/>
        </p:spPr>
        <p:txBody>
          <a:bodyPr wrap="square" lIns="0" tIns="0" rIns="0" bIns="0" rtlCol="0" anchor="ctr"/>
          <a:lstStyle/>
          <a:p>
            <a:pPr indent="0" marL="0">
              <a:buNone/>
            </a:pPr>
            <a:r>
              <a:rPr lang="en-US" sz="790" b="1" dirty="0">
                <a:solidFill>
                  <a:srgbClr val="B4690E"/>
                </a:solidFill>
                <a:latin typeface="Segoe UI" pitchFamily="34" charset="0"/>
                <a:ea typeface="Segoe UI" pitchFamily="34" charset="-122"/>
                <a:cs typeface="Segoe UI" pitchFamily="34" charset="-120"/>
              </a:rPr>
              <a:t>[ NAME ]</a:t>
            </a:r>
            <a:endParaRPr lang="en-US" sz="790" dirty="0"/>
          </a:p>
        </p:txBody>
      </p:sp>
      <p:sp>
        <p:nvSpPr>
          <p:cNvPr id="34" name="Text 32"/>
          <p:cNvSpPr txBox="1"/>
          <p:nvPr/>
        </p:nvSpPr>
        <p:spPr>
          <a:xfrm>
            <a:off x="4544568" y="2441448"/>
            <a:ext cx="4937760" cy="237744"/>
          </a:xfrm>
          <a:prstGeom prst="rect">
            <a:avLst/>
          </a:prstGeom>
          <a:noFill/>
          <a:ln/>
        </p:spPr>
        <p:txBody>
          <a:bodyPr wrap="square" lIns="0" tIns="0" rIns="0" bIns="0" rtlCol="0" anchor="ctr"/>
          <a:lstStyle/>
          <a:p>
            <a:pPr indent="0" marL="0">
              <a:buNone/>
            </a:pPr>
            <a:r>
              <a:rPr lang="en-US" sz="790" dirty="0">
                <a:solidFill>
                  <a:srgbClr val="354052"/>
                </a:solidFill>
                <a:latin typeface="Segoe UI" pitchFamily="34" charset="0"/>
                <a:ea typeface="Segoe UI" pitchFamily="34" charset="-122"/>
                <a:cs typeface="Segoe UI" pitchFamily="34" charset="-120"/>
              </a:rPr>
              <a:t>Data model, knowledge graph, seeded datasets and the web UI screens</a:t>
            </a:r>
            <a:endParaRPr lang="en-US" sz="790" dirty="0"/>
          </a:p>
        </p:txBody>
      </p:sp>
      <p:sp>
        <p:nvSpPr>
          <p:cNvPr id="35" name="Text 33"/>
          <p:cNvSpPr txBox="1"/>
          <p:nvPr/>
        </p:nvSpPr>
        <p:spPr>
          <a:xfrm>
            <a:off x="9720072" y="2441448"/>
            <a:ext cx="1280160" cy="237744"/>
          </a:xfrm>
          <a:prstGeom prst="rect">
            <a:avLst/>
          </a:prstGeom>
          <a:noFill/>
          <a:ln/>
        </p:spPr>
        <p:txBody>
          <a:bodyPr wrap="square" lIns="0" tIns="0" rIns="0" bIns="0" rtlCol="0" anchor="ctr"/>
          <a:lstStyle/>
          <a:p>
            <a:pPr indent="0" marL="0">
              <a:buNone/>
            </a:pPr>
            <a:r>
              <a:rPr lang="en-US" sz="790" b="1" dirty="0">
                <a:solidFill>
                  <a:srgbClr val="B4690E"/>
                </a:solidFill>
                <a:latin typeface="Segoe UI" pitchFamily="34" charset="0"/>
                <a:ea typeface="Segoe UI" pitchFamily="34" charset="-122"/>
                <a:cs typeface="Segoe UI" pitchFamily="34" charset="-120"/>
              </a:rPr>
              <a:t>[ __ pd ]</a:t>
            </a:r>
            <a:endParaRPr lang="en-US" sz="790" dirty="0"/>
          </a:p>
        </p:txBody>
      </p:sp>
      <p:sp>
        <p:nvSpPr>
          <p:cNvPr id="36" name="Shape 34"/>
          <p:cNvSpPr/>
          <p:nvPr/>
        </p:nvSpPr>
        <p:spPr>
          <a:xfrm>
            <a:off x="640080" y="2679192"/>
            <a:ext cx="10927080" cy="237744"/>
          </a:xfrm>
          <a:prstGeom prst="rect">
            <a:avLst/>
          </a:prstGeom>
          <a:solidFill>
            <a:srgbClr val="F7FAFD"/>
          </a:solidFill>
          <a:ln/>
        </p:spPr>
      </p:sp>
      <p:sp>
        <p:nvSpPr>
          <p:cNvPr id="37" name="Text 35"/>
          <p:cNvSpPr txBox="1"/>
          <p:nvPr/>
        </p:nvSpPr>
        <p:spPr>
          <a:xfrm>
            <a:off x="731520" y="2679192"/>
            <a:ext cx="1234440" cy="237744"/>
          </a:xfrm>
          <a:prstGeom prst="rect">
            <a:avLst/>
          </a:prstGeom>
          <a:noFill/>
          <a:ln/>
        </p:spPr>
        <p:txBody>
          <a:bodyPr wrap="square" lIns="0" tIns="0" rIns="0" bIns="0" rtlCol="0" anchor="ctr"/>
          <a:lstStyle/>
          <a:p>
            <a:pPr indent="0" marL="0">
              <a:buNone/>
            </a:pPr>
            <a:r>
              <a:rPr lang="en-US" sz="790" b="1" dirty="0">
                <a:solidFill>
                  <a:srgbClr val="0B2E5C"/>
                </a:solidFill>
                <a:latin typeface="Segoe UI" pitchFamily="34" charset="0"/>
                <a:ea typeface="Segoe UI" pitchFamily="34" charset="-122"/>
                <a:cs typeface="Segoe UI" pitchFamily="34" charset="-120"/>
              </a:rPr>
              <a:t>MLOps Engineer</a:t>
            </a:r>
            <a:endParaRPr lang="en-US" sz="790" dirty="0"/>
          </a:p>
        </p:txBody>
      </p:sp>
      <p:sp>
        <p:nvSpPr>
          <p:cNvPr id="38" name="Text 36"/>
          <p:cNvSpPr txBox="1"/>
          <p:nvPr/>
        </p:nvSpPr>
        <p:spPr>
          <a:xfrm>
            <a:off x="2203704" y="2679192"/>
            <a:ext cx="2103120" cy="237744"/>
          </a:xfrm>
          <a:prstGeom prst="rect">
            <a:avLst/>
          </a:prstGeom>
          <a:noFill/>
          <a:ln/>
        </p:spPr>
        <p:txBody>
          <a:bodyPr wrap="square" lIns="0" tIns="0" rIns="0" bIns="0" rtlCol="0" anchor="ctr"/>
          <a:lstStyle/>
          <a:p>
            <a:pPr indent="0" marL="0">
              <a:buNone/>
            </a:pPr>
            <a:r>
              <a:rPr lang="en-US" sz="790" b="1" dirty="0">
                <a:solidFill>
                  <a:srgbClr val="B4690E"/>
                </a:solidFill>
                <a:latin typeface="Segoe UI" pitchFamily="34" charset="0"/>
                <a:ea typeface="Segoe UI" pitchFamily="34" charset="-122"/>
                <a:cs typeface="Segoe UI" pitchFamily="34" charset="-120"/>
              </a:rPr>
              <a:t>[ NAME ]</a:t>
            </a:r>
            <a:endParaRPr lang="en-US" sz="790" dirty="0"/>
          </a:p>
        </p:txBody>
      </p:sp>
      <p:sp>
        <p:nvSpPr>
          <p:cNvPr id="39" name="Text 37"/>
          <p:cNvSpPr txBox="1"/>
          <p:nvPr/>
        </p:nvSpPr>
        <p:spPr>
          <a:xfrm>
            <a:off x="4544568" y="2679192"/>
            <a:ext cx="4937760" cy="237744"/>
          </a:xfrm>
          <a:prstGeom prst="rect">
            <a:avLst/>
          </a:prstGeom>
          <a:noFill/>
          <a:ln/>
        </p:spPr>
        <p:txBody>
          <a:bodyPr wrap="square" lIns="0" tIns="0" rIns="0" bIns="0" rtlCol="0" anchor="ctr"/>
          <a:lstStyle/>
          <a:p>
            <a:pPr indent="0" marL="0">
              <a:buNone/>
            </a:pPr>
            <a:r>
              <a:rPr lang="en-US" sz="790" dirty="0">
                <a:solidFill>
                  <a:srgbClr val="354052"/>
                </a:solidFill>
                <a:latin typeface="Segoe UI" pitchFamily="34" charset="0"/>
                <a:ea typeface="Segoe UI" pitchFamily="34" charset="-122"/>
                <a:cs typeface="Segoe UI" pitchFamily="34" charset="-120"/>
              </a:rPr>
              <a:t>Container build, ECR and ECS deployment, CI pipeline, monitoring and alerting</a:t>
            </a:r>
            <a:endParaRPr lang="en-US" sz="790" dirty="0"/>
          </a:p>
        </p:txBody>
      </p:sp>
      <p:sp>
        <p:nvSpPr>
          <p:cNvPr id="40" name="Text 38"/>
          <p:cNvSpPr txBox="1"/>
          <p:nvPr/>
        </p:nvSpPr>
        <p:spPr>
          <a:xfrm>
            <a:off x="9720072" y="2679192"/>
            <a:ext cx="1280160" cy="237744"/>
          </a:xfrm>
          <a:prstGeom prst="rect">
            <a:avLst/>
          </a:prstGeom>
          <a:noFill/>
          <a:ln/>
        </p:spPr>
        <p:txBody>
          <a:bodyPr wrap="square" lIns="0" tIns="0" rIns="0" bIns="0" rtlCol="0" anchor="ctr"/>
          <a:lstStyle/>
          <a:p>
            <a:pPr indent="0" marL="0">
              <a:buNone/>
            </a:pPr>
            <a:r>
              <a:rPr lang="en-US" sz="790" b="1" dirty="0">
                <a:solidFill>
                  <a:srgbClr val="B4690E"/>
                </a:solidFill>
                <a:latin typeface="Segoe UI" pitchFamily="34" charset="0"/>
                <a:ea typeface="Segoe UI" pitchFamily="34" charset="-122"/>
                <a:cs typeface="Segoe UI" pitchFamily="34" charset="-120"/>
              </a:rPr>
              <a:t>[ __ pd ]</a:t>
            </a:r>
            <a:endParaRPr lang="en-US" sz="790" dirty="0"/>
          </a:p>
        </p:txBody>
      </p:sp>
      <p:sp>
        <p:nvSpPr>
          <p:cNvPr id="41" name="Text 39"/>
          <p:cNvSpPr txBox="1"/>
          <p:nvPr/>
        </p:nvSpPr>
        <p:spPr>
          <a:xfrm>
            <a:off x="731520" y="2916936"/>
            <a:ext cx="1234440" cy="237744"/>
          </a:xfrm>
          <a:prstGeom prst="rect">
            <a:avLst/>
          </a:prstGeom>
          <a:noFill/>
          <a:ln/>
        </p:spPr>
        <p:txBody>
          <a:bodyPr wrap="square" lIns="0" tIns="0" rIns="0" bIns="0" rtlCol="0" anchor="ctr"/>
          <a:lstStyle/>
          <a:p>
            <a:pPr indent="0" marL="0">
              <a:buNone/>
            </a:pPr>
            <a:r>
              <a:rPr lang="en-US" sz="790" b="1" dirty="0">
                <a:solidFill>
                  <a:srgbClr val="0B2E5C"/>
                </a:solidFill>
                <a:latin typeface="Segoe UI" pitchFamily="34" charset="0"/>
                <a:ea typeface="Segoe UI" pitchFamily="34" charset="-122"/>
                <a:cs typeface="Segoe UI" pitchFamily="34" charset="-120"/>
              </a:rPr>
              <a:t>QA Engineer</a:t>
            </a:r>
            <a:endParaRPr lang="en-US" sz="790" dirty="0"/>
          </a:p>
        </p:txBody>
      </p:sp>
      <p:sp>
        <p:nvSpPr>
          <p:cNvPr id="42" name="Text 40"/>
          <p:cNvSpPr txBox="1"/>
          <p:nvPr/>
        </p:nvSpPr>
        <p:spPr>
          <a:xfrm>
            <a:off x="2203704" y="2916936"/>
            <a:ext cx="2103120" cy="237744"/>
          </a:xfrm>
          <a:prstGeom prst="rect">
            <a:avLst/>
          </a:prstGeom>
          <a:noFill/>
          <a:ln/>
        </p:spPr>
        <p:txBody>
          <a:bodyPr wrap="square" lIns="0" tIns="0" rIns="0" bIns="0" rtlCol="0" anchor="ctr"/>
          <a:lstStyle/>
          <a:p>
            <a:pPr indent="0" marL="0">
              <a:buNone/>
            </a:pPr>
            <a:r>
              <a:rPr lang="en-US" sz="790" b="1" dirty="0">
                <a:solidFill>
                  <a:srgbClr val="B4690E"/>
                </a:solidFill>
                <a:latin typeface="Segoe UI" pitchFamily="34" charset="0"/>
                <a:ea typeface="Segoe UI" pitchFamily="34" charset="-122"/>
                <a:cs typeface="Segoe UI" pitchFamily="34" charset="-120"/>
              </a:rPr>
              <a:t>[ NAME ]</a:t>
            </a:r>
            <a:endParaRPr lang="en-US" sz="790" dirty="0"/>
          </a:p>
        </p:txBody>
      </p:sp>
      <p:sp>
        <p:nvSpPr>
          <p:cNvPr id="43" name="Text 41"/>
          <p:cNvSpPr txBox="1"/>
          <p:nvPr/>
        </p:nvSpPr>
        <p:spPr>
          <a:xfrm>
            <a:off x="4544568" y="2916936"/>
            <a:ext cx="4937760" cy="237744"/>
          </a:xfrm>
          <a:prstGeom prst="rect">
            <a:avLst/>
          </a:prstGeom>
          <a:noFill/>
          <a:ln/>
        </p:spPr>
        <p:txBody>
          <a:bodyPr wrap="square" lIns="0" tIns="0" rIns="0" bIns="0" rtlCol="0" anchor="ctr"/>
          <a:lstStyle/>
          <a:p>
            <a:pPr indent="0" marL="0">
              <a:buNone/>
            </a:pPr>
            <a:r>
              <a:rPr lang="en-US" sz="790" dirty="0">
                <a:solidFill>
                  <a:srgbClr val="354052"/>
                </a:solidFill>
                <a:latin typeface="Segoe UI" pitchFamily="34" charset="0"/>
                <a:ea typeface="Segoe UI" pitchFamily="34" charset="-122"/>
                <a:cs typeface="Segoe UI" pitchFamily="34" charset="-120"/>
              </a:rPr>
              <a:t>Test strategy, functional and guardrail testing, regression suite, UAT support</a:t>
            </a:r>
            <a:endParaRPr lang="en-US" sz="790" dirty="0"/>
          </a:p>
        </p:txBody>
      </p:sp>
      <p:sp>
        <p:nvSpPr>
          <p:cNvPr id="44" name="Text 42"/>
          <p:cNvSpPr txBox="1"/>
          <p:nvPr/>
        </p:nvSpPr>
        <p:spPr>
          <a:xfrm>
            <a:off x="9720072" y="2916936"/>
            <a:ext cx="1280160" cy="237744"/>
          </a:xfrm>
          <a:prstGeom prst="rect">
            <a:avLst/>
          </a:prstGeom>
          <a:noFill/>
          <a:ln/>
        </p:spPr>
        <p:txBody>
          <a:bodyPr wrap="square" lIns="0" tIns="0" rIns="0" bIns="0" rtlCol="0" anchor="ctr"/>
          <a:lstStyle/>
          <a:p>
            <a:pPr indent="0" marL="0">
              <a:buNone/>
            </a:pPr>
            <a:r>
              <a:rPr lang="en-US" sz="790" b="1" dirty="0">
                <a:solidFill>
                  <a:srgbClr val="B4690E"/>
                </a:solidFill>
                <a:latin typeface="Segoe UI" pitchFamily="34" charset="0"/>
                <a:ea typeface="Segoe UI" pitchFamily="34" charset="-122"/>
                <a:cs typeface="Segoe UI" pitchFamily="34" charset="-120"/>
              </a:rPr>
              <a:t>[ __ pd ]</a:t>
            </a:r>
            <a:endParaRPr lang="en-US" sz="790" dirty="0"/>
          </a:p>
        </p:txBody>
      </p:sp>
      <p:sp>
        <p:nvSpPr>
          <p:cNvPr id="45" name="Shape 43"/>
          <p:cNvSpPr/>
          <p:nvPr/>
        </p:nvSpPr>
        <p:spPr>
          <a:xfrm>
            <a:off x="640080" y="3154680"/>
            <a:ext cx="10927080" cy="237744"/>
          </a:xfrm>
          <a:prstGeom prst="rect">
            <a:avLst/>
          </a:prstGeom>
          <a:solidFill>
            <a:srgbClr val="F7FAFD"/>
          </a:solidFill>
          <a:ln/>
        </p:spPr>
      </p:sp>
      <p:sp>
        <p:nvSpPr>
          <p:cNvPr id="46" name="Text 44"/>
          <p:cNvSpPr txBox="1"/>
          <p:nvPr/>
        </p:nvSpPr>
        <p:spPr>
          <a:xfrm>
            <a:off x="731520" y="3154680"/>
            <a:ext cx="1234440" cy="237744"/>
          </a:xfrm>
          <a:prstGeom prst="rect">
            <a:avLst/>
          </a:prstGeom>
          <a:noFill/>
          <a:ln/>
        </p:spPr>
        <p:txBody>
          <a:bodyPr wrap="square" lIns="0" tIns="0" rIns="0" bIns="0" rtlCol="0" anchor="ctr"/>
          <a:lstStyle/>
          <a:p>
            <a:pPr indent="0" marL="0">
              <a:buNone/>
            </a:pPr>
            <a:r>
              <a:rPr lang="en-US" sz="790" b="1" dirty="0">
                <a:solidFill>
                  <a:srgbClr val="0B2E5C"/>
                </a:solidFill>
                <a:latin typeface="Segoe UI" pitchFamily="34" charset="0"/>
                <a:ea typeface="Segoe UI" pitchFamily="34" charset="-122"/>
                <a:cs typeface="Segoe UI" pitchFamily="34" charset="-120"/>
              </a:rPr>
              <a:t>Scrum Master</a:t>
            </a:r>
            <a:endParaRPr lang="en-US" sz="790" dirty="0"/>
          </a:p>
        </p:txBody>
      </p:sp>
      <p:sp>
        <p:nvSpPr>
          <p:cNvPr id="47" name="Text 45"/>
          <p:cNvSpPr txBox="1"/>
          <p:nvPr/>
        </p:nvSpPr>
        <p:spPr>
          <a:xfrm>
            <a:off x="2203704" y="3154680"/>
            <a:ext cx="2103120" cy="237744"/>
          </a:xfrm>
          <a:prstGeom prst="rect">
            <a:avLst/>
          </a:prstGeom>
          <a:noFill/>
          <a:ln/>
        </p:spPr>
        <p:txBody>
          <a:bodyPr wrap="square" lIns="0" tIns="0" rIns="0" bIns="0" rtlCol="0" anchor="ctr"/>
          <a:lstStyle/>
          <a:p>
            <a:pPr indent="0" marL="0">
              <a:buNone/>
            </a:pPr>
            <a:r>
              <a:rPr lang="en-US" sz="790" b="1" dirty="0">
                <a:solidFill>
                  <a:srgbClr val="B4690E"/>
                </a:solidFill>
                <a:latin typeface="Segoe UI" pitchFamily="34" charset="0"/>
                <a:ea typeface="Segoe UI" pitchFamily="34" charset="-122"/>
                <a:cs typeface="Segoe UI" pitchFamily="34" charset="-120"/>
              </a:rPr>
              <a:t>[ NAME ]</a:t>
            </a:r>
            <a:endParaRPr lang="en-US" sz="790" dirty="0"/>
          </a:p>
        </p:txBody>
      </p:sp>
      <p:sp>
        <p:nvSpPr>
          <p:cNvPr id="48" name="Text 46"/>
          <p:cNvSpPr txBox="1"/>
          <p:nvPr/>
        </p:nvSpPr>
        <p:spPr>
          <a:xfrm>
            <a:off x="4544568" y="3154680"/>
            <a:ext cx="4937760" cy="237744"/>
          </a:xfrm>
          <a:prstGeom prst="rect">
            <a:avLst/>
          </a:prstGeom>
          <a:noFill/>
          <a:ln/>
        </p:spPr>
        <p:txBody>
          <a:bodyPr wrap="square" lIns="0" tIns="0" rIns="0" bIns="0" rtlCol="0" anchor="ctr"/>
          <a:lstStyle/>
          <a:p>
            <a:pPr indent="0" marL="0">
              <a:buNone/>
            </a:pPr>
            <a:r>
              <a:rPr lang="en-US" sz="790" dirty="0">
                <a:solidFill>
                  <a:srgbClr val="354052"/>
                </a:solidFill>
                <a:latin typeface="Segoe UI" pitchFamily="34" charset="0"/>
                <a:ea typeface="Segoe UI" pitchFamily="34" charset="-122"/>
                <a:cs typeface="Segoe UI" pitchFamily="34" charset="-120"/>
              </a:rPr>
              <a:t>Sprint cadence, backlog and dependency management, stakeholder reporting</a:t>
            </a:r>
            <a:endParaRPr lang="en-US" sz="790" dirty="0"/>
          </a:p>
        </p:txBody>
      </p:sp>
      <p:sp>
        <p:nvSpPr>
          <p:cNvPr id="49" name="Text 47"/>
          <p:cNvSpPr txBox="1"/>
          <p:nvPr/>
        </p:nvSpPr>
        <p:spPr>
          <a:xfrm>
            <a:off x="9720072" y="3154680"/>
            <a:ext cx="1280160" cy="237744"/>
          </a:xfrm>
          <a:prstGeom prst="rect">
            <a:avLst/>
          </a:prstGeom>
          <a:noFill/>
          <a:ln/>
        </p:spPr>
        <p:txBody>
          <a:bodyPr wrap="square" lIns="0" tIns="0" rIns="0" bIns="0" rtlCol="0" anchor="ctr"/>
          <a:lstStyle/>
          <a:p>
            <a:pPr indent="0" marL="0">
              <a:buNone/>
            </a:pPr>
            <a:r>
              <a:rPr lang="en-US" sz="790" b="1" dirty="0">
                <a:solidFill>
                  <a:srgbClr val="B4690E"/>
                </a:solidFill>
                <a:latin typeface="Segoe UI" pitchFamily="34" charset="0"/>
                <a:ea typeface="Segoe UI" pitchFamily="34" charset="-122"/>
                <a:cs typeface="Segoe UI" pitchFamily="34" charset="-120"/>
              </a:rPr>
              <a:t>[ __ pd ]</a:t>
            </a:r>
            <a:endParaRPr lang="en-US" sz="790" dirty="0"/>
          </a:p>
        </p:txBody>
      </p:sp>
      <p:sp>
        <p:nvSpPr>
          <p:cNvPr id="50" name="Shape 48"/>
          <p:cNvSpPr/>
          <p:nvPr/>
        </p:nvSpPr>
        <p:spPr>
          <a:xfrm>
            <a:off x="411480" y="3584448"/>
            <a:ext cx="3703320" cy="1764792"/>
          </a:xfrm>
          <a:prstGeom prst="roundRect">
            <a:avLst>
              <a:gd name="adj" fmla="val 2073"/>
            </a:avLst>
          </a:prstGeom>
          <a:solidFill>
            <a:srgbClr val="FFFFFF"/>
          </a:solidFill>
          <a:ln w="12700">
            <a:solidFill>
              <a:srgbClr val="CBD4E1"/>
            </a:solidFill>
            <a:prstDash val="solid"/>
          </a:ln>
        </p:spPr>
      </p:sp>
      <p:sp>
        <p:nvSpPr>
          <p:cNvPr id="51" name="Shape 49"/>
          <p:cNvSpPr/>
          <p:nvPr/>
        </p:nvSpPr>
        <p:spPr>
          <a:xfrm>
            <a:off x="411480" y="3584448"/>
            <a:ext cx="3703320" cy="310896"/>
          </a:xfrm>
          <a:prstGeom prst="rect">
            <a:avLst/>
          </a:prstGeom>
          <a:solidFill>
            <a:srgbClr val="5B3FBF"/>
          </a:solidFill>
          <a:ln/>
        </p:spPr>
      </p:sp>
      <p:sp>
        <p:nvSpPr>
          <p:cNvPr id="52" name="Text 50"/>
          <p:cNvSpPr txBox="1"/>
          <p:nvPr/>
        </p:nvSpPr>
        <p:spPr>
          <a:xfrm>
            <a:off x="594360" y="3630168"/>
            <a:ext cx="3383280" cy="219456"/>
          </a:xfrm>
          <a:prstGeom prst="rect">
            <a:avLst/>
          </a:prstGeom>
          <a:noFill/>
          <a:ln/>
        </p:spPr>
        <p:txBody>
          <a:bodyPr wrap="square" lIns="0" tIns="0" rIns="0" bIns="0" rtlCol="0" anchor="ctr"/>
          <a:lstStyle/>
          <a:p>
            <a:pPr algn="l" indent="0" marL="0">
              <a:buNone/>
            </a:pPr>
            <a:r>
              <a:rPr lang="en-US" sz="950" b="1" dirty="0">
                <a:solidFill>
                  <a:srgbClr val="FFFFFF"/>
                </a:solidFill>
                <a:latin typeface="Segoe UI" pitchFamily="34" charset="0"/>
                <a:ea typeface="Segoe UI" pitchFamily="34" charset="-122"/>
                <a:cs typeface="Segoe UI" pitchFamily="34" charset="-120"/>
              </a:rPr>
              <a:t>HOW WE WORKED</a:t>
            </a:r>
            <a:endParaRPr lang="en-US" sz="950" dirty="0"/>
          </a:p>
        </p:txBody>
      </p:sp>
      <p:sp>
        <p:nvSpPr>
          <p:cNvPr id="53" name="Text 51"/>
          <p:cNvSpPr txBox="1"/>
          <p:nvPr/>
        </p:nvSpPr>
        <p:spPr>
          <a:xfrm>
            <a:off x="621792" y="4023360"/>
            <a:ext cx="3310128" cy="1280160"/>
          </a:xfrm>
          <a:prstGeom prst="rect">
            <a:avLst/>
          </a:prstGeom>
          <a:noFill/>
          <a:ln/>
        </p:spPr>
        <p:txBody>
          <a:bodyPr wrap="square" lIns="0" tIns="0" rIns="0" bIns="0" rtlCol="0" anchor="t"/>
          <a:lstStyle/>
          <a:p>
            <a:pPr marL="342900" indent="-342900">
              <a:spcAft>
                <a:spcPts val="400"/>
              </a:spcAft>
              <a:buSzPct val="100000"/>
              <a:buChar char="•"/>
            </a:pPr>
            <a:r>
              <a:rPr lang="en-US" sz="860" dirty="0">
                <a:solidFill>
                  <a:srgbClr val="354052"/>
                </a:solidFill>
                <a:latin typeface="Segoe UI" pitchFamily="34" charset="0"/>
                <a:ea typeface="Segoe UI" pitchFamily="34" charset="-122"/>
                <a:cs typeface="Segoe UI" pitchFamily="34" charset="-120"/>
              </a:rPr>
              <a:t>AI-assisted development throughout the build</a:t>
            </a:r>
            <a:endParaRPr lang="en-US" sz="860" dirty="0"/>
          </a:p>
          <a:p>
            <a:pPr marL="342900" indent="-342900">
              <a:spcAft>
                <a:spcPts val="400"/>
              </a:spcAft>
              <a:buSzPct val="100000"/>
              <a:buChar char="•"/>
            </a:pPr>
            <a:r>
              <a:rPr lang="en-US" sz="860" dirty="0">
                <a:solidFill>
                  <a:srgbClr val="354052"/>
                </a:solidFill>
                <a:latin typeface="Segoe UI" pitchFamily="34" charset="0"/>
                <a:ea typeface="Segoe UI" pitchFamily="34" charset="-122"/>
                <a:cs typeface="Segoe UI" pitchFamily="34" charset="-120"/>
              </a:rPr>
              <a:t>Architecture agreed before code was written</a:t>
            </a:r>
            <a:endParaRPr lang="en-US" sz="860" dirty="0"/>
          </a:p>
          <a:p>
            <a:pPr marL="342900" indent="-342900">
              <a:spcAft>
                <a:spcPts val="400"/>
              </a:spcAft>
              <a:buSzPct val="100000"/>
              <a:buChar char="•"/>
            </a:pPr>
            <a:r>
              <a:rPr lang="en-US" sz="860" dirty="0">
                <a:solidFill>
                  <a:srgbClr val="354052"/>
                </a:solidFill>
                <a:latin typeface="Segoe UI" pitchFamily="34" charset="0"/>
                <a:ea typeface="Segoe UI" pitchFamily="34" charset="-122"/>
                <a:cs typeface="Segoe UI" pitchFamily="34" charset="-120"/>
              </a:rPr>
              <a:t>One immutable image promoted across environments</a:t>
            </a:r>
            <a:endParaRPr lang="en-US" sz="860" dirty="0"/>
          </a:p>
          <a:p>
            <a:pPr marL="342900" indent="-342900">
              <a:spcAft>
                <a:spcPts val="400"/>
              </a:spcAft>
              <a:buSzPct val="100000"/>
              <a:buChar char="•"/>
            </a:pPr>
            <a:r>
              <a:rPr lang="en-US" sz="860" dirty="0">
                <a:solidFill>
                  <a:srgbClr val="354052"/>
                </a:solidFill>
                <a:latin typeface="Segoe UI" pitchFamily="34" charset="0"/>
                <a:ea typeface="Segoe UI" pitchFamily="34" charset="-122"/>
                <a:cs typeface="Segoe UI" pitchFamily="34" charset="-120"/>
              </a:rPr>
              <a:t>QA gate in CI ahead of any image push to ECR</a:t>
            </a:r>
            <a:endParaRPr lang="en-US" sz="860" dirty="0"/>
          </a:p>
          <a:p>
            <a:pPr marL="342900" indent="-342900">
              <a:spcAft>
                <a:spcPts val="400"/>
              </a:spcAft>
              <a:buSzPct val="100000"/>
              <a:buChar char="•"/>
            </a:pPr>
            <a:r>
              <a:rPr lang="en-US" sz="860" dirty="0">
                <a:solidFill>
                  <a:srgbClr val="354052"/>
                </a:solidFill>
                <a:latin typeface="Segoe UI" pitchFamily="34" charset="0"/>
                <a:ea typeface="Segoe UI" pitchFamily="34" charset="-122"/>
                <a:cs typeface="Segoe UI" pitchFamily="34" charset="-120"/>
              </a:rPr>
              <a:t>Documentation written alongside the code</a:t>
            </a:r>
            <a:endParaRPr lang="en-US" sz="860" dirty="0"/>
          </a:p>
        </p:txBody>
      </p:sp>
      <p:sp>
        <p:nvSpPr>
          <p:cNvPr id="54" name="Shape 52"/>
          <p:cNvSpPr/>
          <p:nvPr/>
        </p:nvSpPr>
        <p:spPr>
          <a:xfrm>
            <a:off x="4251960" y="3584448"/>
            <a:ext cx="3703320" cy="1764792"/>
          </a:xfrm>
          <a:prstGeom prst="roundRect">
            <a:avLst>
              <a:gd name="adj" fmla="val 2073"/>
            </a:avLst>
          </a:prstGeom>
          <a:solidFill>
            <a:srgbClr val="FFFFFF"/>
          </a:solidFill>
          <a:ln w="12700">
            <a:solidFill>
              <a:srgbClr val="CBD4E1"/>
            </a:solidFill>
            <a:prstDash val="solid"/>
          </a:ln>
        </p:spPr>
      </p:sp>
      <p:sp>
        <p:nvSpPr>
          <p:cNvPr id="55" name="Shape 53"/>
          <p:cNvSpPr/>
          <p:nvPr/>
        </p:nvSpPr>
        <p:spPr>
          <a:xfrm>
            <a:off x="4251960" y="3584448"/>
            <a:ext cx="3703320" cy="310896"/>
          </a:xfrm>
          <a:prstGeom prst="rect">
            <a:avLst/>
          </a:prstGeom>
          <a:solidFill>
            <a:srgbClr val="0A5CB8"/>
          </a:solidFill>
          <a:ln/>
        </p:spPr>
      </p:sp>
      <p:sp>
        <p:nvSpPr>
          <p:cNvPr id="56" name="Text 54"/>
          <p:cNvSpPr txBox="1"/>
          <p:nvPr/>
        </p:nvSpPr>
        <p:spPr>
          <a:xfrm>
            <a:off x="4434840" y="3630168"/>
            <a:ext cx="3383280" cy="219456"/>
          </a:xfrm>
          <a:prstGeom prst="rect">
            <a:avLst/>
          </a:prstGeom>
          <a:noFill/>
          <a:ln/>
        </p:spPr>
        <p:txBody>
          <a:bodyPr wrap="square" lIns="0" tIns="0" rIns="0" bIns="0" rtlCol="0" anchor="ctr"/>
          <a:lstStyle/>
          <a:p>
            <a:pPr algn="l" indent="0" marL="0">
              <a:buNone/>
            </a:pPr>
            <a:r>
              <a:rPr lang="en-US" sz="950" b="1" dirty="0">
                <a:solidFill>
                  <a:srgbClr val="FFFFFF"/>
                </a:solidFill>
                <a:latin typeface="Segoe UI" pitchFamily="34" charset="0"/>
                <a:ea typeface="Segoe UI" pitchFamily="34" charset="-122"/>
                <a:cs typeface="Segoe UI" pitchFamily="34" charset="-120"/>
              </a:rPr>
              <a:t>WHAT THE SQUAD DELIVERED</a:t>
            </a:r>
            <a:endParaRPr lang="en-US" sz="950" dirty="0"/>
          </a:p>
        </p:txBody>
      </p:sp>
      <p:sp>
        <p:nvSpPr>
          <p:cNvPr id="57" name="Text 55"/>
          <p:cNvSpPr txBox="1"/>
          <p:nvPr/>
        </p:nvSpPr>
        <p:spPr>
          <a:xfrm>
            <a:off x="4462272" y="4023360"/>
            <a:ext cx="3310128" cy="1280160"/>
          </a:xfrm>
          <a:prstGeom prst="rect">
            <a:avLst/>
          </a:prstGeom>
          <a:noFill/>
          <a:ln/>
        </p:spPr>
        <p:txBody>
          <a:bodyPr wrap="square" lIns="0" tIns="0" rIns="0" bIns="0" rtlCol="0" anchor="t"/>
          <a:lstStyle/>
          <a:p>
            <a:pPr marL="342900" indent="-342900">
              <a:spcAft>
                <a:spcPts val="400"/>
              </a:spcAft>
              <a:buSzPct val="100000"/>
              <a:buChar char="•"/>
            </a:pPr>
            <a:r>
              <a:rPr lang="en-US" sz="860" dirty="0">
                <a:solidFill>
                  <a:srgbClr val="354052"/>
                </a:solidFill>
                <a:latin typeface="Segoe UI" pitchFamily="34" charset="0"/>
                <a:ea typeface="Segoe UI" pitchFamily="34" charset="-122"/>
                <a:cs typeface="Segoe UI" pitchFamily="34" charset="-120"/>
              </a:rPr>
              <a:t>Working agentic platform, end to end</a:t>
            </a:r>
            <a:endParaRPr lang="en-US" sz="860" dirty="0"/>
          </a:p>
          <a:p>
            <a:pPr marL="342900" indent="-342900">
              <a:spcAft>
                <a:spcPts val="400"/>
              </a:spcAft>
              <a:buSzPct val="100000"/>
              <a:buChar char="•"/>
            </a:pPr>
            <a:r>
              <a:rPr lang="en-US" sz="860" dirty="0">
                <a:solidFill>
                  <a:srgbClr val="354052"/>
                </a:solidFill>
                <a:latin typeface="Segoe UI" pitchFamily="34" charset="0"/>
                <a:ea typeface="Segoe UI" pitchFamily="34" charset="-122"/>
                <a:cs typeface="Segoe UI" pitchFamily="34" charset="-120"/>
              </a:rPr>
              <a:t>Full AWS integration layer across 11 services</a:t>
            </a:r>
            <a:endParaRPr lang="en-US" sz="860" dirty="0"/>
          </a:p>
          <a:p>
            <a:pPr marL="342900" indent="-342900">
              <a:spcAft>
                <a:spcPts val="400"/>
              </a:spcAft>
              <a:buSzPct val="100000"/>
              <a:buChar char="•"/>
            </a:pPr>
            <a:r>
              <a:rPr lang="en-US" sz="860" dirty="0">
                <a:solidFill>
                  <a:srgbClr val="354052"/>
                </a:solidFill>
                <a:latin typeface="Segoe UI" pitchFamily="34" charset="0"/>
                <a:ea typeface="Segoe UI" pitchFamily="34" charset="-122"/>
                <a:cs typeface="Segoe UI" pitchFamily="34" charset="-120"/>
              </a:rPr>
              <a:t>Seeded dataset for credible demonstration</a:t>
            </a:r>
            <a:endParaRPr lang="en-US" sz="860" dirty="0"/>
          </a:p>
          <a:p>
            <a:pPr marL="342900" indent="-342900">
              <a:spcAft>
                <a:spcPts val="400"/>
              </a:spcAft>
              <a:buSzPct val="100000"/>
              <a:buChar char="•"/>
            </a:pPr>
            <a:r>
              <a:rPr lang="en-US" sz="860" dirty="0">
                <a:solidFill>
                  <a:srgbClr val="354052"/>
                </a:solidFill>
                <a:latin typeface="Segoe UI" pitchFamily="34" charset="0"/>
                <a:ea typeface="Segoe UI" pitchFamily="34" charset="-122"/>
                <a:cs typeface="Segoe UI" pitchFamily="34" charset="-120"/>
              </a:rPr>
              <a:t>Container and CI build pipeline</a:t>
            </a:r>
            <a:endParaRPr lang="en-US" sz="860" dirty="0"/>
          </a:p>
          <a:p>
            <a:pPr marL="342900" indent="-342900">
              <a:spcAft>
                <a:spcPts val="400"/>
              </a:spcAft>
              <a:buSzPct val="100000"/>
              <a:buChar char="•"/>
            </a:pPr>
            <a:r>
              <a:rPr lang="en-US" sz="860" dirty="0">
                <a:solidFill>
                  <a:srgbClr val="354052"/>
                </a:solidFill>
                <a:latin typeface="Segoe UI" pitchFamily="34" charset="0"/>
                <a:ea typeface="Segoe UI" pitchFamily="34" charset="-122"/>
                <a:cs typeface="Segoe UI" pitchFamily="34" charset="-120"/>
              </a:rPr>
              <a:t>Architecture and onboarding documentation</a:t>
            </a:r>
            <a:endParaRPr lang="en-US" sz="860" dirty="0"/>
          </a:p>
        </p:txBody>
      </p:sp>
      <p:sp>
        <p:nvSpPr>
          <p:cNvPr id="58" name="Shape 56"/>
          <p:cNvSpPr/>
          <p:nvPr/>
        </p:nvSpPr>
        <p:spPr>
          <a:xfrm>
            <a:off x="8092440" y="3584448"/>
            <a:ext cx="3703320" cy="1764792"/>
          </a:xfrm>
          <a:prstGeom prst="roundRect">
            <a:avLst>
              <a:gd name="adj" fmla="val 2073"/>
            </a:avLst>
          </a:prstGeom>
          <a:solidFill>
            <a:srgbClr val="FFFBF3"/>
          </a:solidFill>
          <a:ln w="12700">
            <a:solidFill>
              <a:srgbClr val="B4690E"/>
            </a:solidFill>
            <a:prstDash val="dash"/>
          </a:ln>
        </p:spPr>
      </p:sp>
      <p:sp>
        <p:nvSpPr>
          <p:cNvPr id="59" name="Text 57"/>
          <p:cNvSpPr txBox="1"/>
          <p:nvPr/>
        </p:nvSpPr>
        <p:spPr>
          <a:xfrm>
            <a:off x="8302752" y="3675888"/>
            <a:ext cx="3291840" cy="219456"/>
          </a:xfrm>
          <a:prstGeom prst="rect">
            <a:avLst/>
          </a:prstGeom>
          <a:noFill/>
          <a:ln/>
        </p:spPr>
        <p:txBody>
          <a:bodyPr wrap="square" lIns="0" tIns="0" rIns="0" bIns="0" rtlCol="0" anchor="ctr"/>
          <a:lstStyle/>
          <a:p>
            <a:pPr algn="l" indent="0" marL="0">
              <a:buNone/>
            </a:pPr>
            <a:r>
              <a:rPr lang="en-US" sz="950" b="1" dirty="0">
                <a:solidFill>
                  <a:srgbClr val="B4690E"/>
                </a:solidFill>
                <a:latin typeface="Segoe UI" pitchFamily="34" charset="0"/>
                <a:ea typeface="Segoe UI" pitchFamily="34" charset="-122"/>
                <a:cs typeface="Segoe UI" pitchFamily="34" charset="-120"/>
              </a:rPr>
              <a:t>TIMELINE &amp; EFFORT</a:t>
            </a:r>
            <a:endParaRPr lang="en-US" sz="950" dirty="0"/>
          </a:p>
        </p:txBody>
      </p:sp>
      <p:sp>
        <p:nvSpPr>
          <p:cNvPr id="60" name="Text 58"/>
          <p:cNvSpPr txBox="1"/>
          <p:nvPr/>
        </p:nvSpPr>
        <p:spPr>
          <a:xfrm>
            <a:off x="8302752" y="3986784"/>
            <a:ext cx="1783080" cy="274320"/>
          </a:xfrm>
          <a:prstGeom prst="rect">
            <a:avLst/>
          </a:prstGeom>
          <a:noFill/>
          <a:ln/>
        </p:spPr>
        <p:txBody>
          <a:bodyPr wrap="square" lIns="0" tIns="0" rIns="0" bIns="0" rtlCol="0" anchor="ctr"/>
          <a:lstStyle/>
          <a:p>
            <a:pPr indent="0" marL="0">
              <a:buNone/>
            </a:pPr>
            <a:r>
              <a:rPr lang="en-US" sz="820" b="1" dirty="0">
                <a:solidFill>
                  <a:srgbClr val="0B2E5C"/>
                </a:solidFill>
                <a:latin typeface="Segoe UI" pitchFamily="34" charset="0"/>
                <a:ea typeface="Segoe UI" pitchFamily="34" charset="-122"/>
                <a:cs typeface="Segoe UI" pitchFamily="34" charset="-120"/>
              </a:rPr>
              <a:t>Engagement window</a:t>
            </a:r>
            <a:endParaRPr lang="en-US" sz="820" dirty="0"/>
          </a:p>
        </p:txBody>
      </p:sp>
      <p:sp>
        <p:nvSpPr>
          <p:cNvPr id="61" name="Shape 59"/>
          <p:cNvSpPr/>
          <p:nvPr/>
        </p:nvSpPr>
        <p:spPr>
          <a:xfrm>
            <a:off x="10104120" y="3986784"/>
            <a:ext cx="1554480" cy="274320"/>
          </a:xfrm>
          <a:prstGeom prst="roundRect">
            <a:avLst>
              <a:gd name="adj" fmla="val 10000"/>
            </a:avLst>
          </a:prstGeom>
          <a:solidFill>
            <a:srgbClr val="FFF4E0"/>
          </a:solidFill>
          <a:ln w="9525">
            <a:solidFill>
              <a:srgbClr val="B4690E"/>
            </a:solidFill>
            <a:prstDash val="dash"/>
          </a:ln>
        </p:spPr>
      </p:sp>
      <p:sp>
        <p:nvSpPr>
          <p:cNvPr id="62" name="Text 60"/>
          <p:cNvSpPr txBox="1"/>
          <p:nvPr/>
        </p:nvSpPr>
        <p:spPr>
          <a:xfrm>
            <a:off x="10168128" y="3986784"/>
            <a:ext cx="1426464" cy="274320"/>
          </a:xfrm>
          <a:prstGeom prst="rect">
            <a:avLst/>
          </a:prstGeom>
          <a:noFill/>
          <a:ln/>
        </p:spPr>
        <p:txBody>
          <a:bodyPr wrap="square" lIns="0" tIns="0" rIns="0" bIns="0" rtlCol="0" anchor="ctr"/>
          <a:lstStyle/>
          <a:p>
            <a:pPr indent="0" marL="0">
              <a:buNone/>
            </a:pPr>
            <a:r>
              <a:rPr lang="en-US" sz="760" b="1" dirty="0">
                <a:solidFill>
                  <a:srgbClr val="B4690E"/>
                </a:solidFill>
                <a:latin typeface="Segoe UI" pitchFamily="34" charset="0"/>
                <a:ea typeface="Segoe UI" pitchFamily="34" charset="-122"/>
                <a:cs typeface="Segoe UI" pitchFamily="34" charset="-120"/>
              </a:rPr>
              <a:t>[ __ / __ — __ / __ ]</a:t>
            </a:r>
            <a:endParaRPr lang="en-US" sz="760" dirty="0"/>
          </a:p>
        </p:txBody>
      </p:sp>
      <p:sp>
        <p:nvSpPr>
          <p:cNvPr id="63" name="Text 61"/>
          <p:cNvSpPr txBox="1"/>
          <p:nvPr/>
        </p:nvSpPr>
        <p:spPr>
          <a:xfrm>
            <a:off x="8302752" y="4297680"/>
            <a:ext cx="1783080" cy="274320"/>
          </a:xfrm>
          <a:prstGeom prst="rect">
            <a:avLst/>
          </a:prstGeom>
          <a:noFill/>
          <a:ln/>
        </p:spPr>
        <p:txBody>
          <a:bodyPr wrap="square" lIns="0" tIns="0" rIns="0" bIns="0" rtlCol="0" anchor="ctr"/>
          <a:lstStyle/>
          <a:p>
            <a:pPr indent="0" marL="0">
              <a:buNone/>
            </a:pPr>
            <a:r>
              <a:rPr lang="en-US" sz="820" b="1" dirty="0">
                <a:solidFill>
                  <a:srgbClr val="0B2E5C"/>
                </a:solidFill>
                <a:latin typeface="Segoe UI" pitchFamily="34" charset="0"/>
                <a:ea typeface="Segoe UI" pitchFamily="34" charset="-122"/>
                <a:cs typeface="Segoe UI" pitchFamily="34" charset="-120"/>
              </a:rPr>
              <a:t>Total effort</a:t>
            </a:r>
            <a:endParaRPr lang="en-US" sz="820" dirty="0"/>
          </a:p>
        </p:txBody>
      </p:sp>
      <p:sp>
        <p:nvSpPr>
          <p:cNvPr id="64" name="Shape 62"/>
          <p:cNvSpPr/>
          <p:nvPr/>
        </p:nvSpPr>
        <p:spPr>
          <a:xfrm>
            <a:off x="10104120" y="4297680"/>
            <a:ext cx="1554480" cy="274320"/>
          </a:xfrm>
          <a:prstGeom prst="roundRect">
            <a:avLst>
              <a:gd name="adj" fmla="val 10000"/>
            </a:avLst>
          </a:prstGeom>
          <a:solidFill>
            <a:srgbClr val="FFF4E0"/>
          </a:solidFill>
          <a:ln w="9525">
            <a:solidFill>
              <a:srgbClr val="B4690E"/>
            </a:solidFill>
            <a:prstDash val="dash"/>
          </a:ln>
        </p:spPr>
      </p:sp>
      <p:sp>
        <p:nvSpPr>
          <p:cNvPr id="65" name="Text 63"/>
          <p:cNvSpPr txBox="1"/>
          <p:nvPr/>
        </p:nvSpPr>
        <p:spPr>
          <a:xfrm>
            <a:off x="10168128" y="4297680"/>
            <a:ext cx="1426464" cy="274320"/>
          </a:xfrm>
          <a:prstGeom prst="rect">
            <a:avLst/>
          </a:prstGeom>
          <a:noFill/>
          <a:ln/>
        </p:spPr>
        <p:txBody>
          <a:bodyPr wrap="square" lIns="0" tIns="0" rIns="0" bIns="0" rtlCol="0" anchor="ctr"/>
          <a:lstStyle/>
          <a:p>
            <a:pPr indent="0" marL="0">
              <a:buNone/>
            </a:pPr>
            <a:r>
              <a:rPr lang="en-US" sz="760" b="1" dirty="0">
                <a:solidFill>
                  <a:srgbClr val="B4690E"/>
                </a:solidFill>
                <a:latin typeface="Segoe UI" pitchFamily="34" charset="0"/>
                <a:ea typeface="Segoe UI" pitchFamily="34" charset="-122"/>
                <a:cs typeface="Segoe UI" pitchFamily="34" charset="-120"/>
              </a:rPr>
              <a:t>[ __ person-days ]</a:t>
            </a:r>
            <a:endParaRPr lang="en-US" sz="760" dirty="0"/>
          </a:p>
        </p:txBody>
      </p:sp>
      <p:sp>
        <p:nvSpPr>
          <p:cNvPr id="66" name="Text 64"/>
          <p:cNvSpPr txBox="1"/>
          <p:nvPr/>
        </p:nvSpPr>
        <p:spPr>
          <a:xfrm>
            <a:off x="8302752" y="4608576"/>
            <a:ext cx="1783080" cy="274320"/>
          </a:xfrm>
          <a:prstGeom prst="rect">
            <a:avLst/>
          </a:prstGeom>
          <a:noFill/>
          <a:ln/>
        </p:spPr>
        <p:txBody>
          <a:bodyPr wrap="square" lIns="0" tIns="0" rIns="0" bIns="0" rtlCol="0" anchor="ctr"/>
          <a:lstStyle/>
          <a:p>
            <a:pPr indent="0" marL="0">
              <a:buNone/>
            </a:pPr>
            <a:r>
              <a:rPr lang="en-US" sz="820" b="1" dirty="0">
                <a:solidFill>
                  <a:srgbClr val="0B2E5C"/>
                </a:solidFill>
                <a:latin typeface="Segoe UI" pitchFamily="34" charset="0"/>
                <a:ea typeface="Segoe UI" pitchFamily="34" charset="-122"/>
                <a:cs typeface="Segoe UI" pitchFamily="34" charset="-120"/>
              </a:rPr>
              <a:t>Squad size</a:t>
            </a:r>
            <a:endParaRPr lang="en-US" sz="820" dirty="0"/>
          </a:p>
        </p:txBody>
      </p:sp>
      <p:sp>
        <p:nvSpPr>
          <p:cNvPr id="67" name="Shape 65"/>
          <p:cNvSpPr/>
          <p:nvPr/>
        </p:nvSpPr>
        <p:spPr>
          <a:xfrm>
            <a:off x="10104120" y="4608576"/>
            <a:ext cx="1554480" cy="274320"/>
          </a:xfrm>
          <a:prstGeom prst="roundRect">
            <a:avLst>
              <a:gd name="adj" fmla="val 10000"/>
            </a:avLst>
          </a:prstGeom>
          <a:solidFill>
            <a:srgbClr val="FFF4E0"/>
          </a:solidFill>
          <a:ln w="9525">
            <a:solidFill>
              <a:srgbClr val="B4690E"/>
            </a:solidFill>
            <a:prstDash val="dash"/>
          </a:ln>
        </p:spPr>
      </p:sp>
      <p:sp>
        <p:nvSpPr>
          <p:cNvPr id="68" name="Text 66"/>
          <p:cNvSpPr txBox="1"/>
          <p:nvPr/>
        </p:nvSpPr>
        <p:spPr>
          <a:xfrm>
            <a:off x="10168128" y="4608576"/>
            <a:ext cx="1426464" cy="274320"/>
          </a:xfrm>
          <a:prstGeom prst="rect">
            <a:avLst/>
          </a:prstGeom>
          <a:noFill/>
          <a:ln/>
        </p:spPr>
        <p:txBody>
          <a:bodyPr wrap="square" lIns="0" tIns="0" rIns="0" bIns="0" rtlCol="0" anchor="ctr"/>
          <a:lstStyle/>
          <a:p>
            <a:pPr indent="0" marL="0">
              <a:buNone/>
            </a:pPr>
            <a:r>
              <a:rPr lang="en-US" sz="760" b="1" dirty="0">
                <a:solidFill>
                  <a:srgbClr val="B4690E"/>
                </a:solidFill>
                <a:latin typeface="Segoe UI" pitchFamily="34" charset="0"/>
                <a:ea typeface="Segoe UI" pitchFamily="34" charset="-122"/>
                <a:cs typeface="Segoe UI" pitchFamily="34" charset="-120"/>
              </a:rPr>
              <a:t>7 people</a:t>
            </a:r>
            <a:endParaRPr lang="en-US" sz="760" dirty="0"/>
          </a:p>
        </p:txBody>
      </p:sp>
      <p:sp>
        <p:nvSpPr>
          <p:cNvPr id="69" name="Text 67"/>
          <p:cNvSpPr txBox="1"/>
          <p:nvPr/>
        </p:nvSpPr>
        <p:spPr>
          <a:xfrm>
            <a:off x="8302752" y="4919472"/>
            <a:ext cx="1783080" cy="274320"/>
          </a:xfrm>
          <a:prstGeom prst="rect">
            <a:avLst/>
          </a:prstGeom>
          <a:noFill/>
          <a:ln/>
        </p:spPr>
        <p:txBody>
          <a:bodyPr wrap="square" lIns="0" tIns="0" rIns="0" bIns="0" rtlCol="0" anchor="ctr"/>
          <a:lstStyle/>
          <a:p>
            <a:pPr indent="0" marL="0">
              <a:buNone/>
            </a:pPr>
            <a:r>
              <a:rPr lang="en-US" sz="820" b="1" dirty="0">
                <a:solidFill>
                  <a:srgbClr val="0B2E5C"/>
                </a:solidFill>
                <a:latin typeface="Segoe UI" pitchFamily="34" charset="0"/>
                <a:ea typeface="Segoe UI" pitchFamily="34" charset="-122"/>
                <a:cs typeface="Segoe UI" pitchFamily="34" charset="-120"/>
              </a:rPr>
              <a:t>Sprints / iterations</a:t>
            </a:r>
            <a:endParaRPr lang="en-US" sz="820" dirty="0"/>
          </a:p>
        </p:txBody>
      </p:sp>
      <p:sp>
        <p:nvSpPr>
          <p:cNvPr id="70" name="Shape 68"/>
          <p:cNvSpPr/>
          <p:nvPr/>
        </p:nvSpPr>
        <p:spPr>
          <a:xfrm>
            <a:off x="10104120" y="4919472"/>
            <a:ext cx="1554480" cy="274320"/>
          </a:xfrm>
          <a:prstGeom prst="roundRect">
            <a:avLst>
              <a:gd name="adj" fmla="val 10000"/>
            </a:avLst>
          </a:prstGeom>
          <a:solidFill>
            <a:srgbClr val="FFF4E0"/>
          </a:solidFill>
          <a:ln w="9525">
            <a:solidFill>
              <a:srgbClr val="B4690E"/>
            </a:solidFill>
            <a:prstDash val="dash"/>
          </a:ln>
        </p:spPr>
      </p:sp>
      <p:sp>
        <p:nvSpPr>
          <p:cNvPr id="71" name="Text 69"/>
          <p:cNvSpPr txBox="1"/>
          <p:nvPr/>
        </p:nvSpPr>
        <p:spPr>
          <a:xfrm>
            <a:off x="10168128" y="4919472"/>
            <a:ext cx="1426464" cy="274320"/>
          </a:xfrm>
          <a:prstGeom prst="rect">
            <a:avLst/>
          </a:prstGeom>
          <a:noFill/>
          <a:ln/>
        </p:spPr>
        <p:txBody>
          <a:bodyPr wrap="square" lIns="0" tIns="0" rIns="0" bIns="0" rtlCol="0" anchor="ctr"/>
          <a:lstStyle/>
          <a:p>
            <a:pPr indent="0" marL="0">
              <a:buNone/>
            </a:pPr>
            <a:r>
              <a:rPr lang="en-US" sz="760" b="1" dirty="0">
                <a:solidFill>
                  <a:srgbClr val="B4690E"/>
                </a:solidFill>
                <a:latin typeface="Segoe UI" pitchFamily="34" charset="0"/>
                <a:ea typeface="Segoe UI" pitchFamily="34" charset="-122"/>
                <a:cs typeface="Segoe UI" pitchFamily="34" charset="-120"/>
              </a:rPr>
              <a:t>[ __ ]</a:t>
            </a:r>
            <a:endParaRPr lang="en-US" sz="760" dirty="0"/>
          </a:p>
        </p:txBody>
      </p:sp>
      <p:sp>
        <p:nvSpPr>
          <p:cNvPr id="72" name="Shape 70"/>
          <p:cNvSpPr/>
          <p:nvPr/>
        </p:nvSpPr>
        <p:spPr>
          <a:xfrm>
            <a:off x="411480" y="5504688"/>
            <a:ext cx="11384280" cy="713232"/>
          </a:xfrm>
          <a:prstGeom prst="roundRect">
            <a:avLst>
              <a:gd name="adj" fmla="val 5128"/>
            </a:avLst>
          </a:prstGeom>
          <a:solidFill>
            <a:srgbClr val="EDF3FB"/>
          </a:solidFill>
          <a:ln w="12700">
            <a:solidFill>
              <a:srgbClr val="C3D6EE"/>
            </a:solidFill>
            <a:prstDash val="solid"/>
          </a:ln>
        </p:spPr>
      </p:sp>
      <p:sp>
        <p:nvSpPr>
          <p:cNvPr id="73" name="Text 71"/>
          <p:cNvSpPr txBox="1"/>
          <p:nvPr/>
        </p:nvSpPr>
        <p:spPr>
          <a:xfrm>
            <a:off x="640080" y="5596128"/>
            <a:ext cx="3657600" cy="219456"/>
          </a:xfrm>
          <a:prstGeom prst="rect">
            <a:avLst/>
          </a:prstGeom>
          <a:noFill/>
          <a:ln/>
        </p:spPr>
        <p:txBody>
          <a:bodyPr wrap="square" lIns="0" tIns="0" rIns="0" bIns="0" rtlCol="0" anchor="ctr"/>
          <a:lstStyle/>
          <a:p>
            <a:pPr algn="l" indent="0" marL="0">
              <a:buNone/>
            </a:pPr>
            <a:r>
              <a:rPr lang="en-US" sz="950" b="1" dirty="0">
                <a:solidFill>
                  <a:srgbClr val="0A5CB8"/>
                </a:solidFill>
                <a:latin typeface="Segoe UI" pitchFamily="34" charset="0"/>
                <a:ea typeface="Segoe UI" pitchFamily="34" charset="-122"/>
                <a:cs typeface="Segoe UI" pitchFamily="34" charset="-120"/>
              </a:rPr>
              <a:t>NEXT STEPS</a:t>
            </a:r>
            <a:endParaRPr lang="en-US" sz="950" dirty="0"/>
          </a:p>
        </p:txBody>
      </p:sp>
      <p:sp>
        <p:nvSpPr>
          <p:cNvPr id="74" name="Text 72"/>
          <p:cNvSpPr txBox="1"/>
          <p:nvPr/>
        </p:nvSpPr>
        <p:spPr>
          <a:xfrm>
            <a:off x="640080" y="5833872"/>
            <a:ext cx="10927080" cy="310896"/>
          </a:xfrm>
          <a:prstGeom prst="rect">
            <a:avLst/>
          </a:prstGeom>
          <a:noFill/>
          <a:ln/>
        </p:spPr>
        <p:txBody>
          <a:bodyPr wrap="square" lIns="0" tIns="0" rIns="0" bIns="0" rtlCol="0" anchor="t"/>
          <a:lstStyle/>
          <a:p>
            <a:pPr algn="l" indent="0" marL="0">
              <a:lnSpc>
                <a:spcPct val="115000"/>
              </a:lnSpc>
              <a:buNone/>
            </a:pPr>
            <a:r>
              <a:rPr lang="en-US" sz="820" dirty="0">
                <a:solidFill>
                  <a:srgbClr val="354052"/>
                </a:solidFill>
                <a:latin typeface="Segoe UI" pitchFamily="34" charset="0"/>
                <a:ea typeface="Segoe UI" pitchFamily="34" charset="-122"/>
                <a:cs typeface="Segoe UI" pitchFamily="34" charset="-120"/>
              </a:rPr>
              <a:t>1.  Confirm AWS account, region and compute target        2.  Transfer repository and grant reviewer access        3.  Agree phase-2 scope and production data plan        4.  Schedule a working demonstration</a:t>
            </a:r>
            <a:endParaRPr lang="en-US" sz="8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GCash Sales Coach AI — Solution Review</dc:title>
  <dc:subject>PptxGenJS Presentation</dc:subject>
  <dc:creator>AI Squad</dc:creator>
  <cp:lastModifiedBy>AI Squad</cp:lastModifiedBy>
  <cp:revision>1</cp:revision>
  <dcterms:created xsi:type="dcterms:W3CDTF">2026-09-02T10:58:35Z</dcterms:created>
  <dcterms:modified xsi:type="dcterms:W3CDTF">2026-09-02T10:58:35Z</dcterms:modified>
</cp:coreProperties>
</file>